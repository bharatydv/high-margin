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FA8D746-9EF3-E90A-6A49-F1A4F7DD37B7}">
          <p14:sldIdLst>
            <p14:sldId id="256"/>
            <p14:sldId id="257"/>
            <p14:sldId id="258"/>
          </p14:sldIdLst>
        </p14:section>
        <p14:section name="Part 1 · Reading the screen" id="{292221C3-D044-ECBD-1040-8CF04A5759D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 · Every case" id="{524CC196-F023-2F81-5868-B3B75E2E91FB}">
          <p14:sldIdLst>
            <p14:sldId id="266"/>
            <p14:sldId id="267"/>
            <p14:sldId id="268"/>
            <p14:sldId id="269"/>
            <p14:sldId id="270"/>
            <p14:sldId id="275"/>
            <p14:sldId id="276"/>
          </p14:sldIdLst>
        </p14:section>
        <p14:section name="Part 3 · Quick reference" id="{DF990857-1548-1800-59DD-73C69F4168D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48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Interface guide for the High Margin app. Every screenshot comes from the real app, loaded with sample (DEMO) accounts so no client data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enter a login, the app gathers data from the FPFX API and the leverage sheet, then shows margin per trade with risky rows in yellow.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formula with the DEMO-02 gold trade: 7,200 margin on a 10,000 account is 72%, so the row turns yellow.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walks through the page top to bottom using DEMO-01.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six parts in order. Everything below the Login ID box belongs to the account that was 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empty page. Nothing loads until a login is 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login and plan first. The plan decides which leverage tab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summary is the table to read first. Columns to the right hold the combined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Trades table repeats every trade with all fields. Scroll sideways to reach Margin, Combined Margin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shows every situation the screen can be in, each with a test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ABC123 goes to the live API, which rejects it with HTTP 400.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 6202 alone uses 72% of the 10,000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trade is over 70% alone, but 7301 and 7302 are over it combined, and 7303 overlaps 7301.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test: B opens before A closes and B closes after A opens. Then the three highlight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issue: build_rows in transform.py fails on an empty trade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rows turn orange. Download selected saves only those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High Margin · Interface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00200"/>
            <a:ext cx="45720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6974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00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High Margin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4480560" cy="225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RISK TOOLS  ·  INTERFACE GUIDE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4480560" cy="72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C9D6E3"/>
                </a:solidFill>
              </a:rPr>
              <a:t>How to read every screen of the app — with a test account for every case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4480560" cy="4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9FB2C6"/>
                </a:solidFill>
              </a:rPr>
              <a:t>Screens captured from the real app, loaded with sample accounts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FB2C6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6" name="Frame demo03_page"/>
          <p:cNvSpPr/>
          <p:nvPr/>
        </p:nvSpPr>
        <p:spPr>
          <a:xfrm>
            <a:off x="5440680" y="754380"/>
            <a:ext cx="6163189" cy="5349240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Screenshot demo03_page" descr="Screenshot of the High Margin app: demo03_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754380"/>
            <a:ext cx="616318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login ID in — every trade's margin out</a:t>
            </a:r>
            <a:endParaRPr lang="en-US" sz="2600" dirty="0"/>
          </a:p>
        </p:txBody>
      </p:sp>
      <p:sp>
        <p:nvSpPr>
          <p:cNvPr id="4" name="Card 1"/>
          <p:cNvSpPr/>
          <p:nvPr/>
        </p:nvSpPr>
        <p:spPr>
          <a:xfrm>
            <a:off x="548640" y="1417320"/>
            <a:ext cx="3545738" cy="1907540"/>
          </a:xfrm>
          <a:prstGeom prst="roundRect">
            <a:avLst>
              <a:gd name="adj" fmla="val 4794"/>
            </a:avLst>
          </a:prstGeom>
          <a:solidFill>
            <a:schemeClr val="bg2"/>
          </a:solidFill>
          <a:ln/>
        </p:spPr>
      </p:sp>
      <p:sp>
        <p:nvSpPr>
          <p:cNvPr id="5" name="Callout 1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Callout 1 number"/>
          <p:cNvSpPr txBox="1"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Card 1 title"/>
          <p:cNvSpPr txBox="1"/>
          <p:nvPr/>
        </p:nvSpPr>
        <p:spPr>
          <a:xfrm>
            <a:off x="1207008" y="1634490"/>
            <a:ext cx="272277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Enter a Login ID</a:t>
            </a:r>
            <a:endParaRPr lang="en-US" sz="1800" dirty="0"/>
          </a:p>
        </p:txBody>
      </p:sp>
      <p:sp>
        <p:nvSpPr>
          <p:cNvPr id="8" name="Card 1 body"/>
          <p:cNvSpPr txBox="1"/>
          <p:nvPr/>
        </p:nvSpPr>
        <p:spPr>
          <a:xfrm>
            <a:off x="713232" y="2039112"/>
            <a:ext cx="3216554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Open the app link, type the trading account's login number and press Enter.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4322978" y="1417320"/>
            <a:ext cx="3545738" cy="1907540"/>
          </a:xfrm>
          <a:prstGeom prst="roundRect">
            <a:avLst>
              <a:gd name="adj" fmla="val 4794"/>
            </a:avLst>
          </a:prstGeom>
          <a:solidFill>
            <a:schemeClr val="bg2"/>
          </a:solidFill>
          <a:ln/>
        </p:spPr>
      </p:sp>
      <p:sp>
        <p:nvSpPr>
          <p:cNvPr id="10" name="Callout 2"/>
          <p:cNvSpPr/>
          <p:nvPr/>
        </p:nvSpPr>
        <p:spPr>
          <a:xfrm>
            <a:off x="4487570" y="158191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2 number"/>
          <p:cNvSpPr txBox="1"/>
          <p:nvPr/>
        </p:nvSpPr>
        <p:spPr>
          <a:xfrm>
            <a:off x="448757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Card 2 title"/>
          <p:cNvSpPr txBox="1"/>
          <p:nvPr/>
        </p:nvSpPr>
        <p:spPr>
          <a:xfrm>
            <a:off x="4981346" y="1634490"/>
            <a:ext cx="272277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The app gathers the data</a:t>
            </a:r>
            <a:endParaRPr lang="en-US" sz="1800" dirty="0"/>
          </a:p>
        </p:txBody>
      </p:sp>
      <p:sp>
        <p:nvSpPr>
          <p:cNvPr id="13" name="Card 2 body"/>
          <p:cNvSpPr txBox="1"/>
          <p:nvPr/>
        </p:nvSpPr>
        <p:spPr>
          <a:xfrm>
            <a:off x="4487570" y="2039112"/>
            <a:ext cx="3216554" cy="11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Account overview, every trade and the payout history from the FPFX API — plus instrument leverage from the Google Sheet tab for the account's plan (Prime, Pro or Direct).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8097317" y="1417320"/>
            <a:ext cx="3545738" cy="1907540"/>
          </a:xfrm>
          <a:prstGeom prst="roundRect">
            <a:avLst>
              <a:gd name="adj" fmla="val 4794"/>
            </a:avLst>
          </a:prstGeom>
          <a:solidFill>
            <a:schemeClr val="bg2"/>
          </a:solidFill>
          <a:ln/>
        </p:spPr>
      </p:sp>
      <p:sp>
        <p:nvSpPr>
          <p:cNvPr id="15" name="Callout 3"/>
          <p:cNvSpPr/>
          <p:nvPr/>
        </p:nvSpPr>
        <p:spPr>
          <a:xfrm>
            <a:off x="8261909" y="158191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Callout 3 number"/>
          <p:cNvSpPr txBox="1"/>
          <p:nvPr/>
        </p:nvSpPr>
        <p:spPr>
          <a:xfrm>
            <a:off x="8261909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Card 3 title"/>
          <p:cNvSpPr txBox="1"/>
          <p:nvPr/>
        </p:nvSpPr>
        <p:spPr>
          <a:xfrm>
            <a:off x="8755685" y="1634490"/>
            <a:ext cx="272277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the result</a:t>
            </a:r>
            <a:endParaRPr lang="en-US" sz="1800" dirty="0"/>
          </a:p>
        </p:txBody>
      </p:sp>
      <p:sp>
        <p:nvSpPr>
          <p:cNvPr id="18" name="Card 3 body"/>
          <p:cNvSpPr txBox="1"/>
          <p:nvPr/>
        </p:nvSpPr>
        <p:spPr>
          <a:xfrm>
            <a:off x="8261909" y="2039112"/>
            <a:ext cx="3216554" cy="11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Each trade gets a Margin and a Margin %. Trades using more than 70% of the account size — alone or together with trades open at the same time — are shaded yellow.</a:t>
            </a:r>
            <a:endParaRPr lang="en-US" sz="1400" dirty="0"/>
          </a:p>
        </p:txBody>
      </p:sp>
      <p:sp>
        <p:nvSpPr>
          <p:cNvPr id="19" name="70 percent chip"/>
          <p:cNvSpPr/>
          <p:nvPr/>
        </p:nvSpPr>
        <p:spPr>
          <a:xfrm>
            <a:off x="548640" y="397764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/>
        </p:spPr>
      </p:sp>
      <p:sp>
        <p:nvSpPr>
          <p:cNvPr id="20" name="70%"/>
          <p:cNvSpPr txBox="1"/>
          <p:nvPr/>
        </p:nvSpPr>
        <p:spPr>
          <a:xfrm>
            <a:off x="548640" y="39776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70%</a:t>
            </a:r>
            <a:endParaRPr lang="en-US" sz="6600" dirty="0"/>
          </a:p>
        </p:txBody>
      </p:sp>
      <p:sp>
        <p:nvSpPr>
          <p:cNvPr id="21" name="70 percent text"/>
          <p:cNvSpPr txBox="1"/>
          <p:nvPr/>
        </p:nvSpPr>
        <p:spPr>
          <a:xfrm>
            <a:off x="3337560" y="3977640"/>
            <a:ext cx="8305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of the account size is the line.</a:t>
            </a:r>
            <a:endParaRPr lang="en-US" sz="2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trade — or a group of trades open at the same moment — above it is shaded yellow. The line is fixed in the app.</a:t>
            </a:r>
            <a:endParaRPr lang="en-US" sz="24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Account size</a:t>
            </a:r>
            <a:r>
              <a:rPr lang="en-US" sz="1600" dirty="0">
                <a:solidFill>
                  <a:schemeClr val="tx1"/>
                </a:solidFill>
              </a:rPr>
              <a:t> = the plan's starting balance, not today's balance.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HOW MARGIN IS WORKED OUT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Margin = position size ÷ leverage, in account currency</a:t>
            </a:r>
            <a:endParaRPr lang="en-US" sz="2600" dirty="0"/>
          </a:p>
        </p:txBody>
      </p:sp>
      <p:sp>
        <p:nvSpPr>
          <p:cNvPr id="4" name="Formula"/>
          <p:cNvSpPr txBox="1"/>
          <p:nvPr/>
        </p:nvSpPr>
        <p:spPr>
          <a:xfrm>
            <a:off x="548640" y="1417320"/>
            <a:ext cx="6400800" cy="1763293"/>
          </a:xfrm>
          <a:prstGeom prst="roundRect">
            <a:avLst>
              <a:gd name="adj" fmla="val 5186"/>
            </a:avLst>
          </a:prstGeom>
          <a:solidFill>
            <a:schemeClr val="bg2"/>
          </a:solidFill>
          <a:ln/>
        </p:spPr>
        <p:txBody>
          <a:bodyPr wrap="square" lIns="203200" tIns="177800" rIns="2032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Margin =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(Open price × Lots × Contract size ÷ Leverage)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× ( |Profit| ÷ |(Open − Close) × Lots × Contract size| )</a:t>
            </a:r>
            <a:endParaRPr lang="en-US" sz="1600" dirty="0"/>
          </a:p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Margin % =</a:t>
            </a:r>
            <a:r>
              <a:rPr lang="en-US" sz="1800" dirty="0">
                <a:solidFill>
                  <a:schemeClr val="tx1"/>
                </a:solidFill>
              </a:rPr>
              <a:t>  Margin ÷ Account size × 100</a:t>
            </a:r>
            <a:endParaRPr lang="en-US" sz="1600" dirty="0"/>
          </a:p>
        </p:txBody>
      </p:sp>
      <p:sp>
        <p:nvSpPr>
          <p:cNvPr id="5" name="Callout text 1"/>
          <p:cNvSpPr txBox="1"/>
          <p:nvPr/>
        </p:nvSpPr>
        <p:spPr>
          <a:xfrm>
            <a:off x="960120" y="3500653"/>
            <a:ext cx="5989320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Position ÷ leverage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money the trade ties up, in the instrument's quote currency.</a:t>
            </a:r>
            <a:endParaRPr lang="en-US" sz="1500" dirty="0"/>
          </a:p>
        </p:txBody>
      </p:sp>
      <p:sp>
        <p:nvSpPr>
          <p:cNvPr id="6" name="Callout 1"/>
          <p:cNvSpPr/>
          <p:nvPr/>
        </p:nvSpPr>
        <p:spPr>
          <a:xfrm>
            <a:off x="548640" y="350522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548640" y="35052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text 2"/>
          <p:cNvSpPr txBox="1"/>
          <p:nvPr/>
        </p:nvSpPr>
        <p:spPr>
          <a:xfrm>
            <a:off x="960120" y="4209077"/>
            <a:ext cx="5989320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Profit ÷ price move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 currency rate taken from the trade's own result, so pairs like EURGBP convert to the account currency.</a:t>
            </a:r>
            <a:endParaRPr lang="en-US" sz="1500" dirty="0"/>
          </a:p>
        </p:txBody>
      </p:sp>
      <p:sp>
        <p:nvSpPr>
          <p:cNvPr id="9" name="Callout 2"/>
          <p:cNvSpPr/>
          <p:nvPr/>
        </p:nvSpPr>
        <p:spPr>
          <a:xfrm>
            <a:off x="548640" y="421364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Callout 2 number"/>
          <p:cNvSpPr txBox="1"/>
          <p:nvPr/>
        </p:nvSpPr>
        <p:spPr>
          <a:xfrm>
            <a:off x="548640" y="4213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Callout text 3"/>
          <p:cNvSpPr txBox="1"/>
          <p:nvPr/>
        </p:nvSpPr>
        <p:spPr>
          <a:xfrm>
            <a:off x="960120" y="5140924"/>
            <a:ext cx="5989320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Leverage depends on the plan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Read from the plan's tab: EURUSD is 1:50 on Prime and Direct but 1:100 on Pro. The app never borrows another plan's number.</a:t>
            </a:r>
            <a:endParaRPr lang="en-US" sz="1500" dirty="0"/>
          </a:p>
        </p:txBody>
      </p:sp>
      <p:sp>
        <p:nvSpPr>
          <p:cNvPr id="12" name="Callout 3"/>
          <p:cNvSpPr/>
          <p:nvPr/>
        </p:nvSpPr>
        <p:spPr>
          <a:xfrm>
            <a:off x="548640" y="514549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3 number"/>
          <p:cNvSpPr txBox="1"/>
          <p:nvPr/>
        </p:nvSpPr>
        <p:spPr>
          <a:xfrm>
            <a:off x="548640" y="514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Example card"/>
          <p:cNvSpPr/>
          <p:nvPr/>
        </p:nvSpPr>
        <p:spPr>
          <a:xfrm>
            <a:off x="7269480" y="1417320"/>
            <a:ext cx="4373575" cy="4846320"/>
          </a:xfrm>
          <a:prstGeom prst="roundRect">
            <a:avLst>
              <a:gd name="adj" fmla="val 2091"/>
            </a:avLst>
          </a:prstGeom>
          <a:solidFill>
            <a:schemeClr val="tx2"/>
          </a:solidFill>
          <a:ln/>
        </p:spPr>
      </p:sp>
      <p:sp>
        <p:nvSpPr>
          <p:cNvPr id="15" name="Example text"/>
          <p:cNvSpPr txBox="1"/>
          <p:nvPr/>
        </p:nvSpPr>
        <p:spPr>
          <a:xfrm>
            <a:off x="7543800" y="1645920"/>
            <a:ext cx="3824935" cy="253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WORKED EXAMPLE  ·  DEMO-02, TRADE 6202</a:t>
            </a:r>
            <a:endParaRPr lang="en-US" sz="1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XAUUSD · Buy 0.30 lots · Prime plan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C9D6E3"/>
                </a:solidFill>
              </a:rPr>
              <a:t>Open 2,400.00 → close 2,408.50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C9D6E3"/>
                </a:solidFill>
              </a:rPr>
              <a:t>Profit 255.00 · Contract size 100</a:t>
            </a:r>
            <a:endParaRPr lang="en-US" sz="1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C9D6E3"/>
                </a:solidFill>
              </a:rPr>
              <a:t>Leverage 10 (from the Prime tab)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2,400 × 0.30 × 100 ÷ 10 </a:t>
            </a:r>
            <a:r>
              <a:rPr lang="en-US" sz="1600" b="1" dirty="0">
                <a:solidFill>
                  <a:schemeClr val="bg1"/>
                </a:solidFill>
              </a:rPr>
              <a:t>= 7,200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255 ÷ |−8.50 × 0.30 × 100| </a:t>
            </a:r>
            <a:r>
              <a:rPr lang="en-US" sz="1600" b="1" dirty="0">
                <a:solidFill>
                  <a:schemeClr val="bg1"/>
                </a:solidFill>
              </a:rPr>
              <a:t>= 1.00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Margin = 7,200 × 1.00 </a:t>
            </a:r>
            <a:r>
              <a:rPr lang="en-US" sz="1600" b="1" dirty="0">
                <a:solidFill>
                  <a:schemeClr val="bg1"/>
                </a:solidFill>
              </a:rPr>
              <a:t>= 7,200</a:t>
            </a:r>
            <a:endParaRPr lang="en-US" sz="1200" dirty="0"/>
          </a:p>
        </p:txBody>
      </p:sp>
      <p:sp>
        <p:nvSpPr>
          <p:cNvPr id="16" name="72 percent chip"/>
          <p:cNvSpPr/>
          <p:nvPr/>
        </p:nvSpPr>
        <p:spPr>
          <a:xfrm>
            <a:off x="7543800" y="5029200"/>
            <a:ext cx="1600200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</p:sp>
      <p:sp>
        <p:nvSpPr>
          <p:cNvPr id="17" name="72%"/>
          <p:cNvSpPr txBox="1"/>
          <p:nvPr/>
        </p:nvSpPr>
        <p:spPr>
          <a:xfrm>
            <a:off x="7543800" y="502920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72%</a:t>
            </a:r>
            <a:endParaRPr lang="en-US" sz="4000" dirty="0"/>
          </a:p>
        </p:txBody>
      </p:sp>
      <p:sp>
        <p:nvSpPr>
          <p:cNvPr id="18" name="72 percent text"/>
          <p:cNvSpPr txBox="1"/>
          <p:nvPr/>
        </p:nvSpPr>
        <p:spPr>
          <a:xfrm>
            <a:off x="9326880" y="5029200"/>
            <a:ext cx="2041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of a 10,000 account — above 70%, so the row is yellow.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697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Reading the screen</a:t>
            </a:r>
            <a:endParaRPr lang="en-US" sz="4800" dirty="0"/>
          </a:p>
        </p:txBody>
      </p:sp>
      <p:sp>
        <p:nvSpPr>
          <p:cNvPr id="4" name="Part number"/>
          <p:cNvSpPr txBox="1"/>
          <p:nvPr/>
        </p:nvSpPr>
        <p:spPr>
          <a:xfrm>
            <a:off x="7315200" y="10972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21466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3000" dirty="0"/>
          </a:p>
        </p:txBody>
      </p:sp>
      <p:sp>
        <p:nvSpPr>
          <p:cNvPr id="5" name="Part subtitle"/>
          <p:cNvSpPr txBox="1"/>
          <p:nvPr/>
        </p:nvSpPr>
        <p:spPr>
          <a:xfrm>
            <a:off x="822960" y="3840480"/>
            <a:ext cx="7772400" cy="33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6E3"/>
                </a:solidFill>
              </a:rPr>
              <a:t>A walk-through with DEMO-01 — an account where everything is fine</a:t>
            </a:r>
            <a:endParaRPr lang="en-US" sz="2000" dirty="0"/>
          </a:p>
        </p:txBody>
      </p:sp>
      <p:sp>
        <p:nvSpPr>
          <p:cNvPr id="6" name="Part contents"/>
          <p:cNvSpPr txBox="1"/>
          <p:nvPr/>
        </p:nvSpPr>
        <p:spPr>
          <a:xfrm>
            <a:off x="822960" y="5257800"/>
            <a:ext cx="10515600" cy="24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Inside:  </a:t>
            </a:r>
            <a:r>
              <a:rPr lang="en-US" sz="1400" dirty="0">
                <a:solidFill>
                  <a:srgbClr val="9FB2C6"/>
                </a:solidFill>
              </a:rPr>
              <a:t>The page ·   Login ID ·   Header ·   Margin summary ·   Trades table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1  ·  THE PAGE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page reads top to bottom in six parts</a:t>
            </a:r>
            <a:endParaRPr lang="en-US" sz="2600" dirty="0"/>
          </a:p>
        </p:txBody>
      </p:sp>
      <p:sp>
        <p:nvSpPr>
          <p:cNvPr id="4" name="Frame demo01_page"/>
          <p:cNvSpPr/>
          <p:nvPr/>
        </p:nvSpPr>
        <p:spPr>
          <a:xfrm>
            <a:off x="548640" y="1371600"/>
            <a:ext cx="5319802" cy="4892040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1_page" descr="Screenshot of the High Margin app: demo01_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319802" cy="4892040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5414997" y="189811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5414997" y="18981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1189229" y="217033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1189229" y="21703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3652100" y="245809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3652100" y="24580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allout 4"/>
          <p:cNvSpPr/>
          <p:nvPr/>
        </p:nvSpPr>
        <p:spPr>
          <a:xfrm>
            <a:off x="5414997" y="278993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4 number"/>
          <p:cNvSpPr txBox="1"/>
          <p:nvPr/>
        </p:nvSpPr>
        <p:spPr>
          <a:xfrm>
            <a:off x="5414997" y="27899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Callout 5"/>
          <p:cNvSpPr/>
          <p:nvPr/>
        </p:nvSpPr>
        <p:spPr>
          <a:xfrm>
            <a:off x="5414997" y="4309140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Callout 5 number"/>
          <p:cNvSpPr txBox="1"/>
          <p:nvPr/>
        </p:nvSpPr>
        <p:spPr>
          <a:xfrm>
            <a:off x="5414997" y="4309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Callout 6"/>
          <p:cNvSpPr/>
          <p:nvPr/>
        </p:nvSpPr>
        <p:spPr>
          <a:xfrm>
            <a:off x="5414997" y="578686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6 number"/>
          <p:cNvSpPr txBox="1"/>
          <p:nvPr/>
        </p:nvSpPr>
        <p:spPr>
          <a:xfrm>
            <a:off x="5414997" y="57868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Callout text 1"/>
          <p:cNvSpPr txBox="1"/>
          <p:nvPr/>
        </p:nvSpPr>
        <p:spPr>
          <a:xfrm>
            <a:off x="6737122" y="1417320"/>
            <a:ext cx="4905933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Login ID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Type the account's login number and press Enter.</a:t>
            </a:r>
            <a:endParaRPr lang="en-US" sz="1500" dirty="0"/>
          </a:p>
        </p:txBody>
      </p:sp>
      <p:sp>
        <p:nvSpPr>
          <p:cNvPr id="19" name="Callout 1"/>
          <p:cNvSpPr/>
          <p:nvPr/>
        </p:nvSpPr>
        <p:spPr>
          <a:xfrm>
            <a:off x="6325642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Callout 1 number"/>
          <p:cNvSpPr txBox="1"/>
          <p:nvPr/>
        </p:nvSpPr>
        <p:spPr>
          <a:xfrm>
            <a:off x="6325642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Callout text 2"/>
          <p:cNvSpPr txBox="1"/>
          <p:nvPr/>
        </p:nvSpPr>
        <p:spPr>
          <a:xfrm>
            <a:off x="6737122" y="2107456"/>
            <a:ext cx="4905933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Refresh leverage data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Re-reads the Google Sheet. Use it right after someone edits leverage; otherwise it refreshes itself every minute.</a:t>
            </a:r>
            <a:endParaRPr lang="en-US" sz="1500" dirty="0"/>
          </a:p>
        </p:txBody>
      </p:sp>
      <p:sp>
        <p:nvSpPr>
          <p:cNvPr id="22" name="Callout 2"/>
          <p:cNvSpPr/>
          <p:nvPr/>
        </p:nvSpPr>
        <p:spPr>
          <a:xfrm>
            <a:off x="6325642" y="211202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Callout 2 number"/>
          <p:cNvSpPr txBox="1"/>
          <p:nvPr/>
        </p:nvSpPr>
        <p:spPr>
          <a:xfrm>
            <a:off x="6325642" y="2112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Callout text 3"/>
          <p:cNvSpPr txBox="1"/>
          <p:nvPr/>
        </p:nvSpPr>
        <p:spPr>
          <a:xfrm>
            <a:off x="6737122" y="3021015"/>
            <a:ext cx="4905933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Account header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Login, plan, number of trades and the latest approved payout.</a:t>
            </a:r>
            <a:endParaRPr lang="en-US" sz="1500" dirty="0"/>
          </a:p>
        </p:txBody>
      </p:sp>
      <p:sp>
        <p:nvSpPr>
          <p:cNvPr id="25" name="Callout 3"/>
          <p:cNvSpPr/>
          <p:nvPr/>
        </p:nvSpPr>
        <p:spPr>
          <a:xfrm>
            <a:off x="6325642" y="3025587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Callout 3 number"/>
          <p:cNvSpPr txBox="1"/>
          <p:nvPr/>
        </p:nvSpPr>
        <p:spPr>
          <a:xfrm>
            <a:off x="6325642" y="30255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Callout text 4"/>
          <p:cNvSpPr txBox="1"/>
          <p:nvPr/>
        </p:nvSpPr>
        <p:spPr>
          <a:xfrm>
            <a:off x="6737122" y="3711151"/>
            <a:ext cx="4905933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Margin summary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trade with only the inputs and results of the margin check.</a:t>
            </a:r>
            <a:endParaRPr lang="en-US" sz="1500" dirty="0"/>
          </a:p>
        </p:txBody>
      </p:sp>
      <p:sp>
        <p:nvSpPr>
          <p:cNvPr id="28" name="Callout 4"/>
          <p:cNvSpPr/>
          <p:nvPr/>
        </p:nvSpPr>
        <p:spPr>
          <a:xfrm>
            <a:off x="6325642" y="371572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Callout 4 number"/>
          <p:cNvSpPr txBox="1"/>
          <p:nvPr/>
        </p:nvSpPr>
        <p:spPr>
          <a:xfrm>
            <a:off x="6325642" y="37157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Callout text 5"/>
          <p:cNvSpPr txBox="1"/>
          <p:nvPr/>
        </p:nvSpPr>
        <p:spPr>
          <a:xfrm>
            <a:off x="6737122" y="4624710"/>
            <a:ext cx="4905933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Trades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full record of every trade, including profit, commission and Notes.</a:t>
            </a:r>
            <a:endParaRPr lang="en-US" sz="1500" dirty="0"/>
          </a:p>
        </p:txBody>
      </p:sp>
      <p:sp>
        <p:nvSpPr>
          <p:cNvPr id="31" name="Callout 5"/>
          <p:cNvSpPr/>
          <p:nvPr/>
        </p:nvSpPr>
        <p:spPr>
          <a:xfrm>
            <a:off x="6325642" y="462928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Callout 5 number"/>
          <p:cNvSpPr txBox="1"/>
          <p:nvPr/>
        </p:nvSpPr>
        <p:spPr>
          <a:xfrm>
            <a:off x="6325642" y="46292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Callout text 6"/>
          <p:cNvSpPr txBox="1"/>
          <p:nvPr/>
        </p:nvSpPr>
        <p:spPr>
          <a:xfrm>
            <a:off x="6737122" y="5538269"/>
            <a:ext cx="4905933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Diagnostics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Two closed sections for checking the raw data when something looks wrong.</a:t>
            </a:r>
            <a:endParaRPr lang="en-US" sz="1500" dirty="0"/>
          </a:p>
        </p:txBody>
      </p:sp>
      <p:sp>
        <p:nvSpPr>
          <p:cNvPr id="34" name="Callout 6"/>
          <p:cNvSpPr/>
          <p:nvPr/>
        </p:nvSpPr>
        <p:spPr>
          <a:xfrm>
            <a:off x="6325642" y="554284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Callout 6 number"/>
          <p:cNvSpPr txBox="1"/>
          <p:nvPr/>
        </p:nvSpPr>
        <p:spPr>
          <a:xfrm>
            <a:off x="6325642" y="55428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1  ·  STEP 1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Start by typing a Login ID</a:t>
            </a:r>
            <a:endParaRPr lang="en-US" sz="2600" dirty="0"/>
          </a:p>
        </p:txBody>
      </p:sp>
      <p:sp>
        <p:nvSpPr>
          <p:cNvPr id="4" name="Frame landing"/>
          <p:cNvSpPr/>
          <p:nvPr/>
        </p:nvSpPr>
        <p:spPr>
          <a:xfrm>
            <a:off x="548640" y="1371600"/>
            <a:ext cx="11094415" cy="2460019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landing" descr="Screenshot of the High Margin app: lan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94415" cy="2460019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10846286" y="268341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10846286" y="2683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10846286" y="331599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10846286" y="33159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rd 1"/>
          <p:cNvSpPr/>
          <p:nvPr/>
        </p:nvSpPr>
        <p:spPr>
          <a:xfrm>
            <a:off x="548640" y="4197379"/>
            <a:ext cx="3545738" cy="1538986"/>
          </a:xfrm>
          <a:prstGeom prst="roundRect">
            <a:avLst>
              <a:gd name="adj" fmla="val 5942"/>
            </a:avLst>
          </a:prstGeom>
          <a:solidFill>
            <a:schemeClr val="bg2"/>
          </a:solidFill>
          <a:ln/>
        </p:spPr>
      </p:sp>
      <p:sp>
        <p:nvSpPr>
          <p:cNvPr id="11" name="Callout 1"/>
          <p:cNvSpPr/>
          <p:nvPr/>
        </p:nvSpPr>
        <p:spPr>
          <a:xfrm>
            <a:off x="713232" y="436197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Callout 1 number"/>
          <p:cNvSpPr txBox="1"/>
          <p:nvPr/>
        </p:nvSpPr>
        <p:spPr>
          <a:xfrm>
            <a:off x="713232" y="43619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Card 1 title"/>
          <p:cNvSpPr txBox="1"/>
          <p:nvPr/>
        </p:nvSpPr>
        <p:spPr>
          <a:xfrm>
            <a:off x="1097280" y="4382926"/>
            <a:ext cx="2832506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Login ID box</a:t>
            </a:r>
            <a:endParaRPr lang="en-US" sz="1500" dirty="0"/>
          </a:p>
        </p:txBody>
      </p:sp>
      <p:sp>
        <p:nvSpPr>
          <p:cNvPr id="14" name="Card 1 body"/>
          <p:cNvSpPr txBox="1"/>
          <p:nvPr/>
        </p:nvSpPr>
        <p:spPr>
          <a:xfrm>
            <a:off x="713232" y="4709443"/>
            <a:ext cx="3216554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Type the account's login number and press Enter. The grey “e.g. 500123” is only a hint.</a:t>
            </a:r>
            <a:endParaRPr lang="en-US" sz="1400" dirty="0"/>
          </a:p>
        </p:txBody>
      </p:sp>
      <p:sp>
        <p:nvSpPr>
          <p:cNvPr id="15" name="Card 2"/>
          <p:cNvSpPr/>
          <p:nvPr/>
        </p:nvSpPr>
        <p:spPr>
          <a:xfrm>
            <a:off x="4322978" y="4197379"/>
            <a:ext cx="3545738" cy="1538986"/>
          </a:xfrm>
          <a:prstGeom prst="roundRect">
            <a:avLst>
              <a:gd name="adj" fmla="val 5942"/>
            </a:avLst>
          </a:prstGeom>
          <a:solidFill>
            <a:schemeClr val="bg2"/>
          </a:solidFill>
          <a:ln/>
        </p:spPr>
      </p:sp>
      <p:sp>
        <p:nvSpPr>
          <p:cNvPr id="16" name="Callout 2"/>
          <p:cNvSpPr/>
          <p:nvPr/>
        </p:nvSpPr>
        <p:spPr>
          <a:xfrm>
            <a:off x="4487570" y="436197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2 number"/>
          <p:cNvSpPr txBox="1"/>
          <p:nvPr/>
        </p:nvSpPr>
        <p:spPr>
          <a:xfrm>
            <a:off x="4487570" y="43619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Card 2 title"/>
          <p:cNvSpPr txBox="1"/>
          <p:nvPr/>
        </p:nvSpPr>
        <p:spPr>
          <a:xfrm>
            <a:off x="4871618" y="4382926"/>
            <a:ext cx="2832506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Blue message</a:t>
            </a:r>
            <a:endParaRPr lang="en-US" sz="1500" dirty="0"/>
          </a:p>
        </p:txBody>
      </p:sp>
      <p:sp>
        <p:nvSpPr>
          <p:cNvPr id="19" name="Card 2 body"/>
          <p:cNvSpPr txBox="1"/>
          <p:nvPr/>
        </p:nvSpPr>
        <p:spPr>
          <a:xfrm>
            <a:off x="4487570" y="4709443"/>
            <a:ext cx="3216554" cy="68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“Enter a login id above to load the account.” Nothing is loaded until an ID is entered.</a:t>
            </a:r>
            <a:endParaRPr lang="en-US" sz="1400" dirty="0"/>
          </a:p>
        </p:txBody>
      </p:sp>
      <p:sp>
        <p:nvSpPr>
          <p:cNvPr id="20" name="Card 3"/>
          <p:cNvSpPr/>
          <p:nvPr/>
        </p:nvSpPr>
        <p:spPr>
          <a:xfrm>
            <a:off x="8097317" y="4197379"/>
            <a:ext cx="3545738" cy="1538986"/>
          </a:xfrm>
          <a:prstGeom prst="roundRect">
            <a:avLst>
              <a:gd name="adj" fmla="val 5942"/>
            </a:avLst>
          </a:prstGeom>
          <a:solidFill>
            <a:schemeClr val="bg2"/>
          </a:solidFill>
          <a:ln/>
        </p:spPr>
      </p:sp>
      <p:sp>
        <p:nvSpPr>
          <p:cNvPr id="21" name="Card 3 title"/>
          <p:cNvSpPr txBox="1"/>
          <p:nvPr/>
        </p:nvSpPr>
        <p:spPr>
          <a:xfrm>
            <a:off x="8261909" y="4361971"/>
            <a:ext cx="3216554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Good to know</a:t>
            </a:r>
            <a:endParaRPr lang="en-US" sz="1500" dirty="0"/>
          </a:p>
        </p:txBody>
      </p:sp>
      <p:sp>
        <p:nvSpPr>
          <p:cNvPr id="22" name="Card 3 body"/>
          <p:cNvSpPr txBox="1"/>
          <p:nvPr/>
        </p:nvSpPr>
        <p:spPr>
          <a:xfrm>
            <a:off x="8261909" y="4667533"/>
            <a:ext cx="3216554" cy="9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Results are kept for 5 minutes. Entering the same login again within 5 minutes shows the same data without asking the API again.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1  ·  ACCOUNT HEADER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header confirms whose account you are looking at</a:t>
            </a:r>
            <a:endParaRPr lang="en-US" sz="2600" dirty="0"/>
          </a:p>
        </p:txBody>
      </p:sp>
      <p:sp>
        <p:nvSpPr>
          <p:cNvPr id="4" name="Frame demo01_top"/>
          <p:cNvSpPr/>
          <p:nvPr/>
        </p:nvSpPr>
        <p:spPr>
          <a:xfrm>
            <a:off x="548640" y="1371600"/>
            <a:ext cx="11094415" cy="2043708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1_top" descr="Screenshot of the High Margin app: demo01_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94415" cy="2043708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1979404" y="222385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1979404" y="22238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1006210" y="259691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1006210" y="2596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3712231" y="259691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3712231" y="2596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allout 4"/>
          <p:cNvSpPr/>
          <p:nvPr/>
        </p:nvSpPr>
        <p:spPr>
          <a:xfrm>
            <a:off x="6558824" y="259691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4 number"/>
          <p:cNvSpPr txBox="1"/>
          <p:nvPr/>
        </p:nvSpPr>
        <p:spPr>
          <a:xfrm>
            <a:off x="6558824" y="2596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Callout 5"/>
          <p:cNvSpPr/>
          <p:nvPr/>
        </p:nvSpPr>
        <p:spPr>
          <a:xfrm>
            <a:off x="10356985" y="259691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Callout 5 number"/>
          <p:cNvSpPr txBox="1"/>
          <p:nvPr/>
        </p:nvSpPr>
        <p:spPr>
          <a:xfrm>
            <a:off x="10356985" y="2596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Card 1"/>
          <p:cNvSpPr/>
          <p:nvPr/>
        </p:nvSpPr>
        <p:spPr>
          <a:xfrm>
            <a:off x="548640" y="3781068"/>
            <a:ext cx="2072579" cy="1716532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17" name="Callout 1"/>
          <p:cNvSpPr/>
          <p:nvPr/>
        </p:nvSpPr>
        <p:spPr>
          <a:xfrm>
            <a:off x="685800" y="401347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Callout 1 number"/>
          <p:cNvSpPr txBox="1"/>
          <p:nvPr/>
        </p:nvSpPr>
        <p:spPr>
          <a:xfrm>
            <a:off x="685800" y="40134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Card 1 title"/>
          <p:cNvSpPr txBox="1"/>
          <p:nvPr/>
        </p:nvSpPr>
        <p:spPr>
          <a:xfrm>
            <a:off x="1069848" y="3918228"/>
            <a:ext cx="1414211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Refresh leverage data</a:t>
            </a:r>
            <a:endParaRPr lang="en-US" sz="1500" dirty="0"/>
          </a:p>
        </p:txBody>
      </p:sp>
      <p:sp>
        <p:nvSpPr>
          <p:cNvPr id="20" name="Card 1 body"/>
          <p:cNvSpPr txBox="1"/>
          <p:nvPr/>
        </p:nvSpPr>
        <p:spPr>
          <a:xfrm>
            <a:off x="685800" y="4456200"/>
            <a:ext cx="1798259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Re-reads leverage from the Google Sheet now.</a:t>
            </a:r>
            <a:endParaRPr lang="en-US" sz="1400" dirty="0"/>
          </a:p>
        </p:txBody>
      </p:sp>
      <p:sp>
        <p:nvSpPr>
          <p:cNvPr id="21" name="Card 2"/>
          <p:cNvSpPr/>
          <p:nvPr/>
        </p:nvSpPr>
        <p:spPr>
          <a:xfrm>
            <a:off x="2804099" y="3781068"/>
            <a:ext cx="2072579" cy="1716532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22" name="Callout 2"/>
          <p:cNvSpPr/>
          <p:nvPr/>
        </p:nvSpPr>
        <p:spPr>
          <a:xfrm>
            <a:off x="2941259" y="391822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Callout 2 number"/>
          <p:cNvSpPr txBox="1"/>
          <p:nvPr/>
        </p:nvSpPr>
        <p:spPr>
          <a:xfrm>
            <a:off x="2941259" y="39182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Card 2 title"/>
          <p:cNvSpPr txBox="1"/>
          <p:nvPr/>
        </p:nvSpPr>
        <p:spPr>
          <a:xfrm>
            <a:off x="3325307" y="3939183"/>
            <a:ext cx="1414211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Login</a:t>
            </a:r>
            <a:endParaRPr lang="en-US" sz="1500" dirty="0"/>
          </a:p>
        </p:txBody>
      </p:sp>
      <p:sp>
        <p:nvSpPr>
          <p:cNvPr id="25" name="Card 2 body"/>
          <p:cNvSpPr txBox="1"/>
          <p:nvPr/>
        </p:nvSpPr>
        <p:spPr>
          <a:xfrm>
            <a:off x="2941259" y="4265700"/>
            <a:ext cx="1798259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account this data belongs to.</a:t>
            </a:r>
            <a:endParaRPr lang="en-US" sz="1400" dirty="0"/>
          </a:p>
        </p:txBody>
      </p:sp>
      <p:sp>
        <p:nvSpPr>
          <p:cNvPr id="26" name="Card 3"/>
          <p:cNvSpPr/>
          <p:nvPr/>
        </p:nvSpPr>
        <p:spPr>
          <a:xfrm>
            <a:off x="5059558" y="3781068"/>
            <a:ext cx="2072579" cy="1716532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27" name="Callout 3"/>
          <p:cNvSpPr/>
          <p:nvPr/>
        </p:nvSpPr>
        <p:spPr>
          <a:xfrm>
            <a:off x="5196718" y="391822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Callout 3 number"/>
          <p:cNvSpPr txBox="1"/>
          <p:nvPr/>
        </p:nvSpPr>
        <p:spPr>
          <a:xfrm>
            <a:off x="5196718" y="39182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Card 3 title"/>
          <p:cNvSpPr txBox="1"/>
          <p:nvPr/>
        </p:nvSpPr>
        <p:spPr>
          <a:xfrm>
            <a:off x="5580766" y="3939183"/>
            <a:ext cx="1414211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Plan</a:t>
            </a:r>
            <a:endParaRPr lang="en-US" sz="1500" dirty="0"/>
          </a:p>
        </p:txBody>
      </p:sp>
      <p:sp>
        <p:nvSpPr>
          <p:cNvPr id="30" name="Card 3 body"/>
          <p:cNvSpPr txBox="1"/>
          <p:nvPr/>
        </p:nvSpPr>
        <p:spPr>
          <a:xfrm>
            <a:off x="5196718" y="4265700"/>
            <a:ext cx="1798259" cy="9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Chooses the leverage tab: a name containing Prime, Pro or Direct uses that tab.</a:t>
            </a:r>
            <a:endParaRPr lang="en-US" sz="1400" dirty="0"/>
          </a:p>
        </p:txBody>
      </p:sp>
      <p:sp>
        <p:nvSpPr>
          <p:cNvPr id="31" name="Card 4"/>
          <p:cNvSpPr/>
          <p:nvPr/>
        </p:nvSpPr>
        <p:spPr>
          <a:xfrm>
            <a:off x="7315017" y="3781068"/>
            <a:ext cx="2072579" cy="1716532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32" name="Callout 4"/>
          <p:cNvSpPr/>
          <p:nvPr/>
        </p:nvSpPr>
        <p:spPr>
          <a:xfrm>
            <a:off x="7452177" y="391822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Callout 4 number"/>
          <p:cNvSpPr txBox="1"/>
          <p:nvPr/>
        </p:nvSpPr>
        <p:spPr>
          <a:xfrm>
            <a:off x="7452177" y="39182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Card 4 title"/>
          <p:cNvSpPr txBox="1"/>
          <p:nvPr/>
        </p:nvSpPr>
        <p:spPr>
          <a:xfrm>
            <a:off x="7836225" y="3939183"/>
            <a:ext cx="1414211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Trades</a:t>
            </a:r>
            <a:endParaRPr lang="en-US" sz="1500" dirty="0"/>
          </a:p>
        </p:txBody>
      </p:sp>
      <p:sp>
        <p:nvSpPr>
          <p:cNvPr id="35" name="Card 4 body"/>
          <p:cNvSpPr txBox="1"/>
          <p:nvPr/>
        </p:nvSpPr>
        <p:spPr>
          <a:xfrm>
            <a:off x="7452177" y="4265700"/>
            <a:ext cx="1798259" cy="68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How many trades the API returned for this login.</a:t>
            </a:r>
            <a:endParaRPr lang="en-US" sz="1400" dirty="0"/>
          </a:p>
        </p:txBody>
      </p:sp>
      <p:sp>
        <p:nvSpPr>
          <p:cNvPr id="36" name="Card 5"/>
          <p:cNvSpPr/>
          <p:nvPr/>
        </p:nvSpPr>
        <p:spPr>
          <a:xfrm>
            <a:off x="9570476" y="3781068"/>
            <a:ext cx="2072579" cy="1716532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37" name="Callout 5"/>
          <p:cNvSpPr/>
          <p:nvPr/>
        </p:nvSpPr>
        <p:spPr>
          <a:xfrm>
            <a:off x="9707636" y="401347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Callout 5 number"/>
          <p:cNvSpPr txBox="1"/>
          <p:nvPr/>
        </p:nvSpPr>
        <p:spPr>
          <a:xfrm>
            <a:off x="9707636" y="40134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Card 5 title"/>
          <p:cNvSpPr txBox="1"/>
          <p:nvPr/>
        </p:nvSpPr>
        <p:spPr>
          <a:xfrm>
            <a:off x="10091684" y="3918228"/>
            <a:ext cx="1414211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Latest Payout Approved Date</a:t>
            </a:r>
            <a:endParaRPr lang="en-US" sz="1500" dirty="0"/>
          </a:p>
        </p:txBody>
      </p:sp>
      <p:sp>
        <p:nvSpPr>
          <p:cNvPr id="40" name="Card 5 body"/>
          <p:cNvSpPr txBox="1"/>
          <p:nvPr/>
        </p:nvSpPr>
        <p:spPr>
          <a:xfrm>
            <a:off x="9707636" y="4456200"/>
            <a:ext cx="1798259" cy="9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Newest payout with status Approved. “—” means none approved yet.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1  ·  MARGIN SUMMARY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Margin summary: one row per trade, only what drives margin</a:t>
            </a:r>
            <a:endParaRPr lang="en-US" sz="2600" dirty="0"/>
          </a:p>
        </p:txBody>
      </p:sp>
      <p:sp>
        <p:nvSpPr>
          <p:cNvPr id="4" name="Frame demo01_summary"/>
          <p:cNvSpPr/>
          <p:nvPr/>
        </p:nvSpPr>
        <p:spPr>
          <a:xfrm>
            <a:off x="548640" y="1371600"/>
            <a:ext cx="7086600" cy="2127361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1_summary" descr="Screenshot of the High Margin app: demo01_summ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86600" cy="2127361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7145822" y="146237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7145822" y="1462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4728366" y="175246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4728366" y="17524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566888" y="284283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566888" y="2842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allout 4"/>
          <p:cNvSpPr/>
          <p:nvPr/>
        </p:nvSpPr>
        <p:spPr>
          <a:xfrm>
            <a:off x="7145822" y="316495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4 number"/>
          <p:cNvSpPr txBox="1"/>
          <p:nvPr/>
        </p:nvSpPr>
        <p:spPr>
          <a:xfrm>
            <a:off x="7145822" y="3164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graphicFrame>
        <p:nvGraphicFramePr>
          <p:cNvPr id="14" name="Key colum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73281"/>
          <a:ext cx="7086600" cy="2107493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means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Margin (%)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This trade's margin ÷ account size × 100.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Instrument Leverage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From the plan's tab in the leverage sheet.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Overlaps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How many other trades were open at the same moment.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Overlapping Trades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Their Trade IDs.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4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Combined Margin %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This trade plus every overlapping trade, ÷ account size. “None” when nothing overlaps. Scroll right to see it.</a:t>
                      </a:r>
                      <a:endParaRPr lang="en-US" sz="1200" dirty="0"/>
                    </a:p>
                  </a:txBody>
                  <a:tcPr marL="73152" marR="73152">
                    <a:lnL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Callout text 1"/>
          <p:cNvSpPr txBox="1"/>
          <p:nvPr/>
        </p:nvSpPr>
        <p:spPr>
          <a:xfrm>
            <a:off x="8321040" y="1417320"/>
            <a:ext cx="3322015" cy="95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Heading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Rows, trades over 70% on their own, and trades over 70% combined with others open at the same time.</a:t>
            </a:r>
            <a:endParaRPr lang="en-US" sz="1500" dirty="0"/>
          </a:p>
        </p:txBody>
      </p:sp>
      <p:sp>
        <p:nvSpPr>
          <p:cNvPr id="16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Callout text 2"/>
          <p:cNvSpPr txBox="1"/>
          <p:nvPr/>
        </p:nvSpPr>
        <p:spPr>
          <a:xfrm>
            <a:off x="8321040" y="2554303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Highlight rule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When a row turns yellow, and how many rows are yellow now.</a:t>
            </a:r>
            <a:endParaRPr lang="en-US" sz="1500" dirty="0"/>
          </a:p>
        </p:txBody>
      </p:sp>
      <p:sp>
        <p:nvSpPr>
          <p:cNvPr id="19" name="Callout 2"/>
          <p:cNvSpPr/>
          <p:nvPr/>
        </p:nvSpPr>
        <p:spPr>
          <a:xfrm>
            <a:off x="7909560" y="255887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Callout 2 number"/>
          <p:cNvSpPr txBox="1"/>
          <p:nvPr/>
        </p:nvSpPr>
        <p:spPr>
          <a:xfrm>
            <a:off x="7909560" y="25588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Callout text 3"/>
          <p:cNvSpPr txBox="1"/>
          <p:nvPr/>
        </p:nvSpPr>
        <p:spPr>
          <a:xfrm>
            <a:off x="8321040" y="3467862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Tick boxes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Select rows to download only those (slide 21).</a:t>
            </a:r>
            <a:endParaRPr lang="en-US" sz="1500" dirty="0"/>
          </a:p>
        </p:txBody>
      </p:sp>
      <p:sp>
        <p:nvSpPr>
          <p:cNvPr id="22" name="Callout 3"/>
          <p:cNvSpPr/>
          <p:nvPr/>
        </p:nvSpPr>
        <p:spPr>
          <a:xfrm>
            <a:off x="7909560" y="347243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Callout 3 number"/>
          <p:cNvSpPr txBox="1"/>
          <p:nvPr/>
        </p:nvSpPr>
        <p:spPr>
          <a:xfrm>
            <a:off x="7909560" y="3472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Callout text 4"/>
          <p:cNvSpPr txBox="1"/>
          <p:nvPr/>
        </p:nvSpPr>
        <p:spPr>
          <a:xfrm>
            <a:off x="8321040" y="4381421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“Download selected” or “Download all” saves a CSV file.</a:t>
            </a:r>
            <a:endParaRPr lang="en-US" sz="1500" dirty="0"/>
          </a:p>
        </p:txBody>
      </p:sp>
      <p:sp>
        <p:nvSpPr>
          <p:cNvPr id="25" name="Callout 4"/>
          <p:cNvSpPr/>
          <p:nvPr/>
        </p:nvSpPr>
        <p:spPr>
          <a:xfrm>
            <a:off x="7909560" y="438599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Callout 4 number"/>
          <p:cNvSpPr txBox="1"/>
          <p:nvPr/>
        </p:nvSpPr>
        <p:spPr>
          <a:xfrm>
            <a:off x="7909560" y="43859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1  ·  TRADES TABLE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Trades table: the full record — scroll right for Notes</a:t>
            </a:r>
            <a:endParaRPr lang="en-US" sz="2600" dirty="0"/>
          </a:p>
        </p:txBody>
      </p:sp>
      <p:sp>
        <p:nvSpPr>
          <p:cNvPr id="4" name="Frame trades_left"/>
          <p:cNvSpPr/>
          <p:nvPr/>
        </p:nvSpPr>
        <p:spPr>
          <a:xfrm>
            <a:off x="548640" y="1783080"/>
            <a:ext cx="7086600" cy="1181100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trades_left" descr="Screenshot of the High Margin app: trades_le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7086600" cy="1181100"/>
          </a:xfrm>
          <a:prstGeom prst="rect">
            <a:avLst/>
          </a:prstGeom>
        </p:spPr>
      </p:pic>
      <p:sp>
        <p:nvSpPr>
          <p:cNvPr id="6" name="Frame trades_right"/>
          <p:cNvSpPr/>
          <p:nvPr/>
        </p:nvSpPr>
        <p:spPr>
          <a:xfrm>
            <a:off x="548640" y="3639312"/>
            <a:ext cx="7086600" cy="1181100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Screenshot trades_right" descr="Screenshot of the High Margin app: trades_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7086600" cy="1181100"/>
          </a:xfrm>
          <a:prstGeom prst="rect">
            <a:avLst/>
          </a:prstGeom>
        </p:spPr>
      </p:pic>
      <p:sp>
        <p:nvSpPr>
          <p:cNvPr id="8" name="Callout 1"/>
          <p:cNvSpPr/>
          <p:nvPr/>
        </p:nvSpPr>
        <p:spPr>
          <a:xfrm>
            <a:off x="1675464" y="142646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1 number"/>
          <p:cNvSpPr txBox="1"/>
          <p:nvPr/>
        </p:nvSpPr>
        <p:spPr>
          <a:xfrm>
            <a:off x="1675464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812624" y="1700784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Callout 2"/>
          <p:cNvSpPr/>
          <p:nvPr/>
        </p:nvSpPr>
        <p:spPr>
          <a:xfrm>
            <a:off x="5360358" y="142646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Callout 2 number"/>
          <p:cNvSpPr txBox="1"/>
          <p:nvPr/>
        </p:nvSpPr>
        <p:spPr>
          <a:xfrm>
            <a:off x="5360358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97518" y="1700784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4" name="Callout 3"/>
          <p:cNvSpPr/>
          <p:nvPr/>
        </p:nvSpPr>
        <p:spPr>
          <a:xfrm>
            <a:off x="6185747" y="142646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Callout 3 number"/>
          <p:cNvSpPr txBox="1"/>
          <p:nvPr/>
        </p:nvSpPr>
        <p:spPr>
          <a:xfrm>
            <a:off x="6185747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22907" y="1700784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7" name="Callout 4"/>
          <p:cNvSpPr/>
          <p:nvPr/>
        </p:nvSpPr>
        <p:spPr>
          <a:xfrm>
            <a:off x="3612883" y="328269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Callout 4 number"/>
          <p:cNvSpPr txBox="1"/>
          <p:nvPr/>
        </p:nvSpPr>
        <p:spPr>
          <a:xfrm>
            <a:off x="3612883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750043" y="3557016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0" name="Callout 5"/>
          <p:cNvSpPr/>
          <p:nvPr/>
        </p:nvSpPr>
        <p:spPr>
          <a:xfrm>
            <a:off x="4828518" y="328269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Callout 5 number"/>
          <p:cNvSpPr txBox="1"/>
          <p:nvPr/>
        </p:nvSpPr>
        <p:spPr>
          <a:xfrm>
            <a:off x="4828518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965678" y="3557016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Callout 5"/>
          <p:cNvSpPr/>
          <p:nvPr/>
        </p:nvSpPr>
        <p:spPr>
          <a:xfrm>
            <a:off x="6797018" y="328269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Callout 5 number"/>
          <p:cNvSpPr txBox="1"/>
          <p:nvPr/>
        </p:nvSpPr>
        <p:spPr>
          <a:xfrm>
            <a:off x="6797018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934178" y="3557016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6" name="Callout 6"/>
          <p:cNvSpPr/>
          <p:nvPr/>
        </p:nvSpPr>
        <p:spPr>
          <a:xfrm>
            <a:off x="5636639" y="328269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Callout 6 number"/>
          <p:cNvSpPr txBox="1"/>
          <p:nvPr/>
        </p:nvSpPr>
        <p:spPr>
          <a:xfrm>
            <a:off x="5636639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773799" y="3557016"/>
            <a:ext cx="0" cy="10058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4957572"/>
            <a:ext cx="7086600" cy="40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Top: left part of the table. Bottom: the same table scrolled right. Hover over a table and scroll sideways to see every column.</a:t>
            </a:r>
            <a:endParaRPr lang="en-US" sz="1200" dirty="0"/>
          </a:p>
        </p:txBody>
      </p:sp>
      <p:sp>
        <p:nvSpPr>
          <p:cNvPr id="30" name="Callout text 1"/>
          <p:cNvSpPr txBox="1"/>
          <p:nvPr/>
        </p:nvSpPr>
        <p:spPr>
          <a:xfrm>
            <a:off x="8321040" y="1417320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Asset Class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From the leverage sheet: FX, Metals, Indices…</a:t>
            </a:r>
            <a:endParaRPr lang="en-US" sz="1500" dirty="0"/>
          </a:p>
        </p:txBody>
      </p:sp>
      <p:sp>
        <p:nvSpPr>
          <p:cNvPr id="31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Callout text 2"/>
          <p:cNvSpPr txBox="1"/>
          <p:nvPr/>
        </p:nvSpPr>
        <p:spPr>
          <a:xfrm>
            <a:off x="8321040" y="2294303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Profit · Commission · Swap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As reported by the API.</a:t>
            </a:r>
            <a:endParaRPr lang="en-US" sz="1500" dirty="0"/>
          </a:p>
        </p:txBody>
      </p:sp>
      <p:sp>
        <p:nvSpPr>
          <p:cNvPr id="34" name="Callout 2"/>
          <p:cNvSpPr/>
          <p:nvPr/>
        </p:nvSpPr>
        <p:spPr>
          <a:xfrm>
            <a:off x="7909560" y="229887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Callout 2 number"/>
          <p:cNvSpPr txBox="1"/>
          <p:nvPr/>
        </p:nvSpPr>
        <p:spPr>
          <a:xfrm>
            <a:off x="7909560" y="22988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Callout text 3"/>
          <p:cNvSpPr txBox="1"/>
          <p:nvPr/>
        </p:nvSpPr>
        <p:spPr>
          <a:xfrm>
            <a:off x="8321040" y="2947863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Plan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plan used to pick the leverage tab.</a:t>
            </a:r>
            <a:endParaRPr lang="en-US" sz="1500" dirty="0"/>
          </a:p>
        </p:txBody>
      </p:sp>
      <p:sp>
        <p:nvSpPr>
          <p:cNvPr id="37" name="Callout 3"/>
          <p:cNvSpPr/>
          <p:nvPr/>
        </p:nvSpPr>
        <p:spPr>
          <a:xfrm>
            <a:off x="7909560" y="295243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Callout 3 number"/>
          <p:cNvSpPr txBox="1"/>
          <p:nvPr/>
        </p:nvSpPr>
        <p:spPr>
          <a:xfrm>
            <a:off x="7909560" y="29524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Callout text 4"/>
          <p:cNvSpPr txBox="1"/>
          <p:nvPr/>
        </p:nvSpPr>
        <p:spPr>
          <a:xfrm>
            <a:off x="8321040" y="3601423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Margin and Margin %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Margin in account currency, and as % of account size.</a:t>
            </a:r>
            <a:endParaRPr lang="en-US" sz="1500" dirty="0"/>
          </a:p>
        </p:txBody>
      </p:sp>
      <p:sp>
        <p:nvSpPr>
          <p:cNvPr id="40" name="Callout 4"/>
          <p:cNvSpPr/>
          <p:nvPr/>
        </p:nvSpPr>
        <p:spPr>
          <a:xfrm>
            <a:off x="7909560" y="3605995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Callout 4 number"/>
          <p:cNvSpPr txBox="1"/>
          <p:nvPr/>
        </p:nvSpPr>
        <p:spPr>
          <a:xfrm>
            <a:off x="7909560" y="36059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Callout text 5"/>
          <p:cNvSpPr txBox="1"/>
          <p:nvPr/>
        </p:nvSpPr>
        <p:spPr>
          <a:xfrm>
            <a:off x="8321040" y="4478406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Combined columns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“None” when the trade overlapped nothing.</a:t>
            </a:r>
            <a:endParaRPr lang="en-US" sz="1500" dirty="0"/>
          </a:p>
        </p:txBody>
      </p:sp>
      <p:sp>
        <p:nvSpPr>
          <p:cNvPr id="43" name="Callout 5"/>
          <p:cNvSpPr/>
          <p:nvPr/>
        </p:nvSpPr>
        <p:spPr>
          <a:xfrm>
            <a:off x="7909560" y="448297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Callout 5 number"/>
          <p:cNvSpPr txBox="1"/>
          <p:nvPr/>
        </p:nvSpPr>
        <p:spPr>
          <a:xfrm>
            <a:off x="7909560" y="44829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45" name="Callout text 6"/>
          <p:cNvSpPr txBox="1"/>
          <p:nvPr/>
        </p:nvSpPr>
        <p:spPr>
          <a:xfrm>
            <a:off x="8321040" y="5131966"/>
            <a:ext cx="3322015" cy="95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Notes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Why a value is missing, and which trades overlap — e.g. “Overlaps with #5102 (partial_open)”.</a:t>
            </a:r>
            <a:endParaRPr lang="en-US" sz="1500" dirty="0"/>
          </a:p>
        </p:txBody>
      </p:sp>
      <p:sp>
        <p:nvSpPr>
          <p:cNvPr id="46" name="Callout 6"/>
          <p:cNvSpPr/>
          <p:nvPr/>
        </p:nvSpPr>
        <p:spPr>
          <a:xfrm>
            <a:off x="7909560" y="5136538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Callout 6 number"/>
          <p:cNvSpPr txBox="1"/>
          <p:nvPr/>
        </p:nvSpPr>
        <p:spPr>
          <a:xfrm>
            <a:off x="7909560" y="51365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697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Every case, one by one</a:t>
            </a:r>
            <a:endParaRPr lang="en-US" sz="4800" dirty="0"/>
          </a:p>
        </p:txBody>
      </p:sp>
      <p:sp>
        <p:nvSpPr>
          <p:cNvPr id="4" name="Part number"/>
          <p:cNvSpPr txBox="1"/>
          <p:nvPr/>
        </p:nvSpPr>
        <p:spPr>
          <a:xfrm>
            <a:off x="7315200" y="10972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21466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3000" dirty="0"/>
          </a:p>
        </p:txBody>
      </p:sp>
      <p:sp>
        <p:nvSpPr>
          <p:cNvPr id="5" name="Part subtitle"/>
          <p:cNvSpPr txBox="1"/>
          <p:nvPr/>
        </p:nvSpPr>
        <p:spPr>
          <a:xfrm>
            <a:off x="822960" y="3840480"/>
            <a:ext cx="7772400" cy="33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6E3"/>
                </a:solidFill>
              </a:rPr>
              <a:t>Eight situations — each with a test login you can try</a:t>
            </a:r>
            <a:endParaRPr lang="en-US" sz="2000" dirty="0"/>
          </a:p>
        </p:txBody>
      </p:sp>
      <p:sp>
        <p:nvSpPr>
          <p:cNvPr id="6" name="Part contents"/>
          <p:cNvSpPr txBox="1"/>
          <p:nvPr/>
        </p:nvSpPr>
        <p:spPr>
          <a:xfrm>
            <a:off x="822960" y="5257800"/>
            <a:ext cx="10515600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Inside:  </a:t>
            </a:r>
            <a:r>
              <a:rPr lang="en-US" sz="1400" dirty="0">
                <a:solidFill>
                  <a:srgbClr val="9FB2C6"/>
                </a:solidFill>
              </a:rPr>
              <a:t>Wrong login ·   One trade over 70% ·   Trades open together ·   No margin ·   Plan not on sheet ·   Missing data ·   Sheet unavailable ·   No trades ·   Downloads ·   Diagnostics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CASE 1  ·  LOGIN ABC123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Wrong login ID: a red error, and nothing else loads</a:t>
            </a:r>
            <a:endParaRPr lang="en-US" sz="2600" dirty="0"/>
          </a:p>
        </p:txBody>
      </p:sp>
      <p:sp>
        <p:nvSpPr>
          <p:cNvPr id="4" name="Frame invalid_crop"/>
          <p:cNvSpPr/>
          <p:nvPr/>
        </p:nvSpPr>
        <p:spPr>
          <a:xfrm>
            <a:off x="548640" y="1371600"/>
            <a:ext cx="11094415" cy="2027488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invalid_crop" descr="Screenshot of the High Margin app: invalid_cr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94415" cy="2027488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10846286" y="160209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10846286" y="1602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11008485" y="279155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11008485" y="27915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rd 1"/>
          <p:cNvSpPr/>
          <p:nvPr/>
        </p:nvSpPr>
        <p:spPr>
          <a:xfrm>
            <a:off x="548640" y="3719128"/>
            <a:ext cx="3545738" cy="1797812"/>
          </a:xfrm>
          <a:prstGeom prst="roundRect">
            <a:avLst>
              <a:gd name="adj" fmla="val 5086"/>
            </a:avLst>
          </a:prstGeom>
          <a:solidFill>
            <a:schemeClr val="bg2"/>
          </a:solidFill>
          <a:ln/>
        </p:spPr>
      </p:sp>
      <p:sp>
        <p:nvSpPr>
          <p:cNvPr id="11" name="Callout 1"/>
          <p:cNvSpPr/>
          <p:nvPr/>
        </p:nvSpPr>
        <p:spPr>
          <a:xfrm>
            <a:off x="713232" y="3883720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Callout 1 number"/>
          <p:cNvSpPr txBox="1"/>
          <p:nvPr/>
        </p:nvSpPr>
        <p:spPr>
          <a:xfrm>
            <a:off x="713232" y="3883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Card 1 title"/>
          <p:cNvSpPr txBox="1"/>
          <p:nvPr/>
        </p:nvSpPr>
        <p:spPr>
          <a:xfrm>
            <a:off x="1097280" y="3904675"/>
            <a:ext cx="2832506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The ID typed</a:t>
            </a:r>
            <a:endParaRPr lang="en-US" sz="1500" dirty="0"/>
          </a:p>
        </p:txBody>
      </p:sp>
      <p:sp>
        <p:nvSpPr>
          <p:cNvPr id="14" name="Card 1 body"/>
          <p:cNvSpPr txBox="1"/>
          <p:nvPr/>
        </p:nvSpPr>
        <p:spPr>
          <a:xfrm>
            <a:off x="713232" y="4231192"/>
            <a:ext cx="3216554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Exactly what was sent to the API. Check for typos and extra characters.</a:t>
            </a:r>
            <a:endParaRPr lang="en-US" sz="1400" dirty="0"/>
          </a:p>
        </p:txBody>
      </p:sp>
      <p:sp>
        <p:nvSpPr>
          <p:cNvPr id="15" name="Card 2"/>
          <p:cNvSpPr/>
          <p:nvPr/>
        </p:nvSpPr>
        <p:spPr>
          <a:xfrm>
            <a:off x="4322978" y="3719128"/>
            <a:ext cx="3545738" cy="1797812"/>
          </a:xfrm>
          <a:prstGeom prst="roundRect">
            <a:avLst>
              <a:gd name="adj" fmla="val 5086"/>
            </a:avLst>
          </a:prstGeom>
          <a:solidFill>
            <a:schemeClr val="bg2"/>
          </a:solidFill>
          <a:ln/>
        </p:spPr>
      </p:sp>
      <p:sp>
        <p:nvSpPr>
          <p:cNvPr id="16" name="Callout 2"/>
          <p:cNvSpPr/>
          <p:nvPr/>
        </p:nvSpPr>
        <p:spPr>
          <a:xfrm>
            <a:off x="4487570" y="3883720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2 number"/>
          <p:cNvSpPr txBox="1"/>
          <p:nvPr/>
        </p:nvSpPr>
        <p:spPr>
          <a:xfrm>
            <a:off x="4487570" y="3883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Card 2 title"/>
          <p:cNvSpPr txBox="1"/>
          <p:nvPr/>
        </p:nvSpPr>
        <p:spPr>
          <a:xfrm>
            <a:off x="4871618" y="3904675"/>
            <a:ext cx="2832506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Red error box</a:t>
            </a:r>
            <a:endParaRPr lang="en-US" sz="1500" dirty="0"/>
          </a:p>
        </p:txBody>
      </p:sp>
      <p:sp>
        <p:nvSpPr>
          <p:cNvPr id="19" name="Card 2 body"/>
          <p:cNvSpPr txBox="1"/>
          <p:nvPr/>
        </p:nvSpPr>
        <p:spPr>
          <a:xfrm>
            <a:off x="4487570" y="4231192"/>
            <a:ext cx="3216554" cy="11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API refused the request. HTTP 400 with “is not valid” means it is not a valid login. Other codes (404, 500) mean the login was not found or the API had a problem.</a:t>
            </a:r>
            <a:endParaRPr lang="en-US" sz="1400" dirty="0"/>
          </a:p>
        </p:txBody>
      </p:sp>
      <p:sp>
        <p:nvSpPr>
          <p:cNvPr id="20" name="Card 3"/>
          <p:cNvSpPr/>
          <p:nvPr/>
        </p:nvSpPr>
        <p:spPr>
          <a:xfrm>
            <a:off x="8097317" y="3719128"/>
            <a:ext cx="3545738" cy="1797812"/>
          </a:xfrm>
          <a:prstGeom prst="roundRect">
            <a:avLst>
              <a:gd name="adj" fmla="val 5086"/>
            </a:avLst>
          </a:prstGeom>
          <a:solidFill>
            <a:schemeClr val="bg2"/>
          </a:solidFill>
          <a:ln/>
        </p:spPr>
      </p:sp>
      <p:sp>
        <p:nvSpPr>
          <p:cNvPr id="21" name="Card 3 title"/>
          <p:cNvSpPr txBox="1"/>
          <p:nvPr/>
        </p:nvSpPr>
        <p:spPr>
          <a:xfrm>
            <a:off x="8261909" y="3883720"/>
            <a:ext cx="3216554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to do</a:t>
            </a:r>
            <a:endParaRPr lang="en-US" sz="1500" dirty="0"/>
          </a:p>
        </p:txBody>
      </p:sp>
      <p:sp>
        <p:nvSpPr>
          <p:cNvPr id="22" name="Card 3 body"/>
          <p:cNvSpPr txBox="1"/>
          <p:nvPr/>
        </p:nvSpPr>
        <p:spPr>
          <a:xfrm>
            <a:off x="8261909" y="4189282"/>
            <a:ext cx="3216554" cy="68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Fix the login and press Enter again. If a correct login keeps failing, try again later or contact the Data team.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CASE 2  ·  LOGIN DEMO-02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trade above 70% on its own: that row turns yellow</a:t>
            </a:r>
            <a:endParaRPr lang="en-US" sz="2600" dirty="0"/>
          </a:p>
        </p:txBody>
      </p:sp>
      <p:sp>
        <p:nvSpPr>
          <p:cNvPr id="4" name="Frame demo02_summary"/>
          <p:cNvSpPr/>
          <p:nvPr/>
        </p:nvSpPr>
        <p:spPr>
          <a:xfrm>
            <a:off x="548640" y="1371600"/>
            <a:ext cx="7086600" cy="1474648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2_summary" descr="Screenshot of the High Margin app: demo02_summ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86600" cy="1474648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7145822" y="146237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7145822" y="1462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4728366" y="175246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4728366" y="17524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7145822" y="229890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7145822" y="22989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r panel"/>
          <p:cNvSpPr/>
          <p:nvPr/>
        </p:nvSpPr>
        <p:spPr>
          <a:xfrm>
            <a:off x="548640" y="3120568"/>
            <a:ext cx="7086600" cy="3143072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285160"/>
            <a:ext cx="3657600" cy="24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Margin (%) per trade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687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6201 EURUSD</a:t>
            </a:r>
            <a:endParaRPr lang="en-US" sz="1300" dirty="0"/>
          </a:p>
        </p:txBody>
      </p:sp>
      <p:sp>
        <p:nvSpPr>
          <p:cNvPr id="15" name="Bar 6201 EURUSD"/>
          <p:cNvSpPr/>
          <p:nvPr/>
        </p:nvSpPr>
        <p:spPr>
          <a:xfrm>
            <a:off x="2148840" y="3687496"/>
            <a:ext cx="499637" cy="310896"/>
          </a:xfrm>
          <a:prstGeom prst="rect">
            <a:avLst/>
          </a:prstGeom>
          <a:solidFill>
            <a:srgbClr val="C5CED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21629" y="36874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10.82%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1446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6202 XAUUSD</a:t>
            </a:r>
            <a:endParaRPr lang="en-US" sz="1300" dirty="0"/>
          </a:p>
        </p:txBody>
      </p:sp>
      <p:sp>
        <p:nvSpPr>
          <p:cNvPr id="18" name="Bar 6202 XAUUSD"/>
          <p:cNvSpPr/>
          <p:nvPr/>
        </p:nvSpPr>
        <p:spPr>
          <a:xfrm>
            <a:off x="2148840" y="4144696"/>
            <a:ext cx="3324758" cy="310896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46750" y="41446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72.00%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6018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6203 GBPUSD</a:t>
            </a:r>
            <a:endParaRPr lang="en-US" sz="1300" dirty="0"/>
          </a:p>
        </p:txBody>
      </p:sp>
      <p:sp>
        <p:nvSpPr>
          <p:cNvPr id="21" name="Bar 6203 GBPUSD"/>
          <p:cNvSpPr/>
          <p:nvPr/>
        </p:nvSpPr>
        <p:spPr>
          <a:xfrm>
            <a:off x="2148840" y="4601896"/>
            <a:ext cx="480705" cy="310896"/>
          </a:xfrm>
          <a:prstGeom prst="rect">
            <a:avLst/>
          </a:prstGeom>
          <a:solidFill>
            <a:srgbClr val="C5CED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702697" y="46018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10.41%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81244" y="3577768"/>
            <a:ext cx="0" cy="14813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4832604" y="5077384"/>
            <a:ext cx="109728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70% line</a:t>
            </a:r>
            <a:endParaRPr lang="en-US" sz="1200" dirty="0"/>
          </a:p>
        </p:txBody>
      </p:sp>
      <p:sp>
        <p:nvSpPr>
          <p:cNvPr id="25" name="Bar explanation"/>
          <p:cNvSpPr txBox="1"/>
          <p:nvPr/>
        </p:nvSpPr>
        <p:spPr>
          <a:xfrm>
            <a:off x="777240" y="5406568"/>
            <a:ext cx="6629400" cy="46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Trade 6202: margin 7,200 ÷ account size 10,000 = 72.00%. No other trade was open at the same time — it is over the line on its own.</a:t>
            </a:r>
            <a:endParaRPr lang="en-US" sz="1400" dirty="0"/>
          </a:p>
        </p:txBody>
      </p:sp>
      <p:sp>
        <p:nvSpPr>
          <p:cNvPr id="26" name="Callout text 1"/>
          <p:cNvSpPr txBox="1"/>
          <p:nvPr/>
        </p:nvSpPr>
        <p:spPr>
          <a:xfrm>
            <a:off x="8321040" y="1417320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Heading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“1 own margin above 70%” — one trade is over the line on its own.</a:t>
            </a:r>
            <a:endParaRPr lang="en-US" sz="1500" dirty="0"/>
          </a:p>
        </p:txBody>
      </p:sp>
      <p:sp>
        <p:nvSpPr>
          <p:cNvPr id="27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Callout text 2"/>
          <p:cNvSpPr txBox="1"/>
          <p:nvPr/>
        </p:nvSpPr>
        <p:spPr>
          <a:xfrm>
            <a:off x="8321040" y="2330879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Caption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“1 row(s) highlighted in total.”</a:t>
            </a:r>
            <a:endParaRPr lang="en-US" sz="1500" dirty="0"/>
          </a:p>
        </p:txBody>
      </p:sp>
      <p:sp>
        <p:nvSpPr>
          <p:cNvPr id="30" name="Callout 2"/>
          <p:cNvSpPr/>
          <p:nvPr/>
        </p:nvSpPr>
        <p:spPr>
          <a:xfrm>
            <a:off x="7909560" y="233545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Callout 2 number"/>
          <p:cNvSpPr txBox="1"/>
          <p:nvPr/>
        </p:nvSpPr>
        <p:spPr>
          <a:xfrm>
            <a:off x="7909560" y="23354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Callout text 3"/>
          <p:cNvSpPr txBox="1"/>
          <p:nvPr/>
        </p:nvSpPr>
        <p:spPr>
          <a:xfrm>
            <a:off x="8321040" y="3021015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Yellow row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Trade 6202: Margin (%) 72.00%. The same row is yellow in the Trades table below.</a:t>
            </a:r>
            <a:endParaRPr lang="en-US" sz="1500" dirty="0"/>
          </a:p>
        </p:txBody>
      </p:sp>
      <p:sp>
        <p:nvSpPr>
          <p:cNvPr id="33" name="Callout 3"/>
          <p:cNvSpPr/>
          <p:nvPr/>
        </p:nvSpPr>
        <p:spPr>
          <a:xfrm>
            <a:off x="7909560" y="3025587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Callout 3 number"/>
          <p:cNvSpPr txBox="1"/>
          <p:nvPr/>
        </p:nvSpPr>
        <p:spPr>
          <a:xfrm>
            <a:off x="7909560" y="30255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CASE 3  ·  LOGIN DEMO-03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Trades open at the same time add up — all turn yellow</a:t>
            </a:r>
            <a:endParaRPr lang="en-US" sz="2600" dirty="0"/>
          </a:p>
        </p:txBody>
      </p:sp>
      <p:sp>
        <p:nvSpPr>
          <p:cNvPr id="4" name="Frame demo03_summary"/>
          <p:cNvSpPr/>
          <p:nvPr/>
        </p:nvSpPr>
        <p:spPr>
          <a:xfrm>
            <a:off x="548640" y="1371600"/>
            <a:ext cx="7086600" cy="1654231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3_summary" descr="Screenshot of the High Margin app: demo03_summ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86600" cy="1654231"/>
          </a:xfrm>
          <a:prstGeom prst="rect">
            <a:avLst/>
          </a:prstGeom>
        </p:spPr>
      </p:pic>
      <p:sp>
        <p:nvSpPr>
          <p:cNvPr id="6" name="Frame demo03_summary_right"/>
          <p:cNvSpPr/>
          <p:nvPr/>
        </p:nvSpPr>
        <p:spPr>
          <a:xfrm>
            <a:off x="548640" y="3226999"/>
            <a:ext cx="7086600" cy="994611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Screenshot demo03_summary_right" descr="Screenshot of the High Margin app: demo03_summary_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26999"/>
            <a:ext cx="7086600" cy="994611"/>
          </a:xfrm>
          <a:prstGeom prst="rect">
            <a:avLst/>
          </a:prstGeom>
        </p:spPr>
      </p:pic>
      <p:sp>
        <p:nvSpPr>
          <p:cNvPr id="8" name="Callout 1"/>
          <p:cNvSpPr/>
          <p:nvPr/>
        </p:nvSpPr>
        <p:spPr>
          <a:xfrm>
            <a:off x="7145822" y="146237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1 number"/>
          <p:cNvSpPr txBox="1"/>
          <p:nvPr/>
        </p:nvSpPr>
        <p:spPr>
          <a:xfrm>
            <a:off x="7145822" y="1462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Callout 2"/>
          <p:cNvSpPr/>
          <p:nvPr/>
        </p:nvSpPr>
        <p:spPr>
          <a:xfrm>
            <a:off x="613726" y="3432816"/>
            <a:ext cx="173736" cy="173736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2 number"/>
          <p:cNvSpPr txBox="1"/>
          <p:nvPr/>
        </p:nvSpPr>
        <p:spPr>
          <a:xfrm>
            <a:off x="613726" y="343281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Callout 3"/>
          <p:cNvSpPr/>
          <p:nvPr/>
        </p:nvSpPr>
        <p:spPr>
          <a:xfrm>
            <a:off x="613726" y="3614125"/>
            <a:ext cx="173736" cy="173736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3 number"/>
          <p:cNvSpPr txBox="1"/>
          <p:nvPr/>
        </p:nvSpPr>
        <p:spPr>
          <a:xfrm>
            <a:off x="613726" y="3614125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Callout 4"/>
          <p:cNvSpPr/>
          <p:nvPr/>
        </p:nvSpPr>
        <p:spPr>
          <a:xfrm>
            <a:off x="613726" y="3795434"/>
            <a:ext cx="173736" cy="173736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Callout 4 number"/>
          <p:cNvSpPr txBox="1"/>
          <p:nvPr/>
        </p:nvSpPr>
        <p:spPr>
          <a:xfrm>
            <a:off x="613726" y="379543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Callout 5"/>
          <p:cNvSpPr/>
          <p:nvPr/>
        </p:nvSpPr>
        <p:spPr>
          <a:xfrm>
            <a:off x="613726" y="3976743"/>
            <a:ext cx="173736" cy="173736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5 number"/>
          <p:cNvSpPr txBox="1"/>
          <p:nvPr/>
        </p:nvSpPr>
        <p:spPr>
          <a:xfrm>
            <a:off x="613726" y="3976743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313049"/>
            <a:ext cx="708660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Top: left part of the Margin summary. Bottom: the same rows scrolled right to the combined columns.</a:t>
            </a:r>
            <a:endParaRPr lang="en-US" sz="1200" dirty="0"/>
          </a:p>
        </p:txBody>
      </p:sp>
      <p:sp>
        <p:nvSpPr>
          <p:cNvPr id="19" name="Read it like this"/>
          <p:cNvSpPr txBox="1"/>
          <p:nvPr/>
        </p:nvSpPr>
        <p:spPr>
          <a:xfrm>
            <a:off x="548640" y="4892040"/>
            <a:ext cx="7086600" cy="979218"/>
          </a:xfrm>
          <a:prstGeom prst="roundRect">
            <a:avLst>
              <a:gd name="adj" fmla="val 7470"/>
            </a:avLst>
          </a:prstGeom>
          <a:solidFill>
            <a:schemeClr val="bg2"/>
          </a:solidFill>
          <a:ln/>
        </p:spPr>
        <p:txBody>
          <a:bodyPr wrap="square" lIns="152400" tIns="114300" rIns="152400" bIns="1143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Read it like this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 yellow row was part of risky exposure — alone or together with others. Overlapping Trades tells you which trades were open at the same time.</a:t>
            </a:r>
            <a:endParaRPr lang="en-US" sz="1500" dirty="0"/>
          </a:p>
        </p:txBody>
      </p:sp>
      <p:sp>
        <p:nvSpPr>
          <p:cNvPr id="20" name="Callout text 1"/>
          <p:cNvSpPr txBox="1"/>
          <p:nvPr/>
        </p:nvSpPr>
        <p:spPr>
          <a:xfrm>
            <a:off x="8321040" y="1417320"/>
            <a:ext cx="3322015" cy="95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Heading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“0 own margin above 70%, 2 combined above 70%” — no trade is over the line alone.</a:t>
            </a:r>
            <a:endParaRPr lang="en-US" sz="1500" dirty="0"/>
          </a:p>
        </p:txBody>
      </p:sp>
      <p:sp>
        <p:nvSpPr>
          <p:cNvPr id="21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Callout text 2"/>
          <p:cNvSpPr txBox="1"/>
          <p:nvPr/>
        </p:nvSpPr>
        <p:spPr>
          <a:xfrm>
            <a:off x="8321040" y="2526871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7301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Combined 93.60%: its own 36% plus 7302 and 7303, open at the same time.</a:t>
            </a:r>
            <a:endParaRPr lang="en-US" sz="1500" dirty="0"/>
          </a:p>
        </p:txBody>
      </p:sp>
      <p:sp>
        <p:nvSpPr>
          <p:cNvPr id="24" name="Callout 2"/>
          <p:cNvSpPr/>
          <p:nvPr/>
        </p:nvSpPr>
        <p:spPr>
          <a:xfrm>
            <a:off x="7909560" y="253144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Callout 2 number"/>
          <p:cNvSpPr txBox="1"/>
          <p:nvPr/>
        </p:nvSpPr>
        <p:spPr>
          <a:xfrm>
            <a:off x="7909560" y="25314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Callout text 3"/>
          <p:cNvSpPr txBox="1"/>
          <p:nvPr/>
        </p:nvSpPr>
        <p:spPr>
          <a:xfrm>
            <a:off x="8321040" y="3412998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7302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Combined 72.00%: its own 36% plus 7301.</a:t>
            </a:r>
            <a:endParaRPr lang="en-US" sz="1500" dirty="0"/>
          </a:p>
        </p:txBody>
      </p:sp>
      <p:sp>
        <p:nvSpPr>
          <p:cNvPr id="27" name="Callout 3"/>
          <p:cNvSpPr/>
          <p:nvPr/>
        </p:nvSpPr>
        <p:spPr>
          <a:xfrm>
            <a:off x="7909560" y="3417570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Callout 3 number"/>
          <p:cNvSpPr txBox="1"/>
          <p:nvPr/>
        </p:nvSpPr>
        <p:spPr>
          <a:xfrm>
            <a:off x="7909560" y="34175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Callout text 4"/>
          <p:cNvSpPr txBox="1"/>
          <p:nvPr/>
        </p:nvSpPr>
        <p:spPr>
          <a:xfrm>
            <a:off x="8321040" y="4075702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7303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Combined only 57.60%, but it overlaps 7301, which is over the line — so it is yellow too.</a:t>
            </a:r>
            <a:endParaRPr lang="en-US" sz="1500" dirty="0"/>
          </a:p>
        </p:txBody>
      </p:sp>
      <p:sp>
        <p:nvSpPr>
          <p:cNvPr id="30" name="Callout 4"/>
          <p:cNvSpPr/>
          <p:nvPr/>
        </p:nvSpPr>
        <p:spPr>
          <a:xfrm>
            <a:off x="7909560" y="4080274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Callout 4 number"/>
          <p:cNvSpPr txBox="1"/>
          <p:nvPr/>
        </p:nvSpPr>
        <p:spPr>
          <a:xfrm>
            <a:off x="7909560" y="40802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Callout text 5"/>
          <p:cNvSpPr txBox="1"/>
          <p:nvPr/>
        </p:nvSpPr>
        <p:spPr>
          <a:xfrm>
            <a:off x="8321040" y="4961829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7304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Opened after the others closed: no overlap, stays white.</a:t>
            </a:r>
            <a:endParaRPr lang="en-US" sz="1500" dirty="0"/>
          </a:p>
        </p:txBody>
      </p:sp>
      <p:sp>
        <p:nvSpPr>
          <p:cNvPr id="33" name="Callout 5"/>
          <p:cNvSpPr/>
          <p:nvPr/>
        </p:nvSpPr>
        <p:spPr>
          <a:xfrm>
            <a:off x="7909560" y="496640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Callout 5 number"/>
          <p:cNvSpPr txBox="1"/>
          <p:nvPr/>
        </p:nvSpPr>
        <p:spPr>
          <a:xfrm>
            <a:off x="7909560" y="49664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CASE 3  ·  WHY THESE ROWS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the app decides which trades were open together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25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DEMO-03 · trades on 6 Oct 2026</a:t>
            </a:r>
            <a:endParaRPr lang="en-US" sz="1300" dirty="0"/>
          </a:p>
        </p:txBody>
      </p:sp>
      <p:sp>
        <p:nvSpPr>
          <p:cNvPr id="5" name="Overlap window"/>
          <p:cNvSpPr/>
          <p:nvPr/>
        </p:nvSpPr>
        <p:spPr>
          <a:xfrm>
            <a:off x="2308860" y="1783080"/>
            <a:ext cx="868680" cy="2468880"/>
          </a:xfrm>
          <a:prstGeom prst="rect">
            <a:avLst/>
          </a:prstGeom>
          <a:solidFill>
            <a:srgbClr val="FFF1C2"/>
          </a:solidFill>
          <a:ln/>
        </p:spPr>
      </p:sp>
      <p:sp>
        <p:nvSpPr>
          <p:cNvPr id="6" name="Overlap window"/>
          <p:cNvSpPr/>
          <p:nvPr/>
        </p:nvSpPr>
        <p:spPr>
          <a:xfrm>
            <a:off x="3394710" y="1783080"/>
            <a:ext cx="217170" cy="2468880"/>
          </a:xfrm>
          <a:prstGeom prst="rect">
            <a:avLst/>
          </a:prstGeom>
          <a:solidFill>
            <a:srgbClr val="FFF1C2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10:00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11:00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12:00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13:00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14:00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15:00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1783080"/>
            <a:ext cx="0" cy="246888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306824"/>
            <a:ext cx="731520" cy="20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16:00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7301 XAUUSD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own 36.0%</a:t>
            </a:r>
            <a:endParaRPr lang="en-US" sz="1300" dirty="0"/>
          </a:p>
        </p:txBody>
      </p:sp>
      <p:sp>
        <p:nvSpPr>
          <p:cNvPr id="22" name="Bar 7301 XAUUSD"/>
          <p:cNvSpPr/>
          <p:nvPr/>
        </p:nvSpPr>
        <p:spPr>
          <a:xfrm>
            <a:off x="1874520" y="1920240"/>
            <a:ext cx="173736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033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combined 93.6% → yellow (rule 2)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7302 NAS100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own 36.0%</a:t>
            </a:r>
            <a:endParaRPr lang="en-US" sz="1300" dirty="0"/>
          </a:p>
        </p:txBody>
      </p:sp>
      <p:sp>
        <p:nvSpPr>
          <p:cNvPr id="25" name="Bar 7302 NAS100"/>
          <p:cNvSpPr/>
          <p:nvPr/>
        </p:nvSpPr>
        <p:spPr>
          <a:xfrm>
            <a:off x="2308860" y="2560320"/>
            <a:ext cx="8686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68980" y="2560320"/>
            <a:ext cx="4000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combined 72.0% → yellow (rule 2)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7303 EURUSD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own 21.6%</a:t>
            </a:r>
            <a:endParaRPr lang="en-US" sz="1300" dirty="0"/>
          </a:p>
        </p:txBody>
      </p:sp>
      <p:sp>
        <p:nvSpPr>
          <p:cNvPr id="28" name="Bar 7303 EURUSD"/>
          <p:cNvSpPr/>
          <p:nvPr/>
        </p:nvSpPr>
        <p:spPr>
          <a:xfrm>
            <a:off x="3394710" y="3200400"/>
            <a:ext cx="108585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combined 57.6% → yellow (rule 3)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7304 GBPUSD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own 13.0%</a:t>
            </a:r>
            <a:endParaRPr lang="en-US" sz="1300" dirty="0"/>
          </a:p>
        </p:txBody>
      </p:sp>
      <p:sp>
        <p:nvSpPr>
          <p:cNvPr id="31" name="Bar 7304 GBPUSD"/>
          <p:cNvSpPr/>
          <p:nvPr/>
        </p:nvSpPr>
        <p:spPr>
          <a:xfrm>
            <a:off x="6217920" y="384048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C5CED8"/>
          </a:solidFill>
          <a:ln w="15875">
            <a:solidFill>
              <a:srgbClr val="9AA7B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no overlap → white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718304"/>
            <a:ext cx="274320" cy="182880"/>
          </a:xfrm>
          <a:prstGeom prst="rect">
            <a:avLst/>
          </a:prstGeom>
          <a:solidFill>
            <a:srgbClr val="FFF1C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611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Open together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88920" y="4718304"/>
            <a:ext cx="274320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3639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Yellow row in the 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4718304"/>
            <a:ext cx="274320" cy="182880"/>
          </a:xfrm>
          <a:prstGeom prst="rect">
            <a:avLst/>
          </a:prstGeom>
          <a:solidFill>
            <a:srgbClr val="C5CED8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7667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White row in the app</a:t>
            </a:r>
            <a:endParaRPr lang="en-US" sz="1200" dirty="0"/>
          </a:p>
        </p:txBody>
      </p:sp>
      <p:sp>
        <p:nvSpPr>
          <p:cNvPr id="39" name="Overlap test"/>
          <p:cNvSpPr txBox="1"/>
          <p:nvPr/>
        </p:nvSpPr>
        <p:spPr>
          <a:xfrm>
            <a:off x="548640" y="5120640"/>
            <a:ext cx="6537960" cy="976340"/>
          </a:xfrm>
          <a:prstGeom prst="roundRect">
            <a:avLst>
              <a:gd name="adj" fmla="val 7492"/>
            </a:avLst>
          </a:prstGeom>
          <a:solidFill>
            <a:schemeClr val="bg2"/>
          </a:solidFill>
          <a:ln/>
        </p:spPr>
        <p:txBody>
          <a:bodyPr wrap="square" lIns="152400" tIns="114300" rIns="1524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Overlap test: </a:t>
            </a:r>
            <a:r>
              <a:rPr lang="en-US" sz="1400" dirty="0">
                <a:solidFill>
                  <a:schemeClr val="tx1"/>
                </a:solidFill>
              </a:rPr>
              <a:t>B opens before A closes AND B closes after A opens.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Trades that only touch — one closes at the exact moment the other opens — do not overlap. A trade with no close time counts as still open.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543800" y="1371600"/>
            <a:ext cx="4099255" cy="273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 row is yellow when any rule is true</a:t>
            </a:r>
            <a:endParaRPr lang="en-US" sz="1600" dirty="0"/>
          </a:p>
        </p:txBody>
      </p:sp>
      <p:sp>
        <p:nvSpPr>
          <p:cNvPr id="41" name="Rule 1"/>
          <p:cNvSpPr/>
          <p:nvPr/>
        </p:nvSpPr>
        <p:spPr>
          <a:xfrm>
            <a:off x="7543800" y="1828800"/>
            <a:ext cx="4099255" cy="984250"/>
          </a:xfrm>
          <a:prstGeom prst="roundRect">
            <a:avLst>
              <a:gd name="adj" fmla="val 7432"/>
            </a:avLst>
          </a:prstGeom>
          <a:solidFill>
            <a:schemeClr val="bg2"/>
          </a:solidFill>
          <a:ln/>
        </p:spPr>
      </p:sp>
      <p:sp>
        <p:nvSpPr>
          <p:cNvPr id="42" name="Callout 1"/>
          <p:cNvSpPr/>
          <p:nvPr/>
        </p:nvSpPr>
        <p:spPr>
          <a:xfrm>
            <a:off x="7708392" y="19933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Callout 1 number"/>
          <p:cNvSpPr txBox="1"/>
          <p:nvPr/>
        </p:nvSpPr>
        <p:spPr>
          <a:xfrm>
            <a:off x="77083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44" name="Rule 1 text"/>
          <p:cNvSpPr txBox="1"/>
          <p:nvPr/>
        </p:nvSpPr>
        <p:spPr>
          <a:xfrm>
            <a:off x="8092440" y="1975104"/>
            <a:ext cx="341345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Own Margin % over 70%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trade alone uses more than 70% of the account (Case 2).</a:t>
            </a:r>
            <a:endParaRPr lang="en-US" sz="1500" dirty="0"/>
          </a:p>
        </p:txBody>
      </p:sp>
      <p:sp>
        <p:nvSpPr>
          <p:cNvPr id="45" name="Rule 2"/>
          <p:cNvSpPr/>
          <p:nvPr/>
        </p:nvSpPr>
        <p:spPr>
          <a:xfrm>
            <a:off x="7543800" y="2995930"/>
            <a:ext cx="4099255" cy="984250"/>
          </a:xfrm>
          <a:prstGeom prst="roundRect">
            <a:avLst>
              <a:gd name="adj" fmla="val 7432"/>
            </a:avLst>
          </a:prstGeom>
          <a:solidFill>
            <a:schemeClr val="bg2"/>
          </a:solidFill>
          <a:ln/>
        </p:spPr>
      </p:sp>
      <p:sp>
        <p:nvSpPr>
          <p:cNvPr id="46" name="Callout 2"/>
          <p:cNvSpPr/>
          <p:nvPr/>
        </p:nvSpPr>
        <p:spPr>
          <a:xfrm>
            <a:off x="7708392" y="316052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Callout 2 number"/>
          <p:cNvSpPr txBox="1"/>
          <p:nvPr/>
        </p:nvSpPr>
        <p:spPr>
          <a:xfrm>
            <a:off x="7708392" y="3160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48" name="Rule 2 text"/>
          <p:cNvSpPr txBox="1"/>
          <p:nvPr/>
        </p:nvSpPr>
        <p:spPr>
          <a:xfrm>
            <a:off x="8092440" y="3142234"/>
            <a:ext cx="341345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Combined Margin % over 70%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Own margin plus every trade open at the same moment (7301, 7302).</a:t>
            </a:r>
            <a:endParaRPr lang="en-US" sz="1500" dirty="0"/>
          </a:p>
        </p:txBody>
      </p:sp>
      <p:sp>
        <p:nvSpPr>
          <p:cNvPr id="49" name="Rule 3"/>
          <p:cNvSpPr/>
          <p:nvPr/>
        </p:nvSpPr>
        <p:spPr>
          <a:xfrm>
            <a:off x="7543800" y="4163060"/>
            <a:ext cx="4099255" cy="984250"/>
          </a:xfrm>
          <a:prstGeom prst="roundRect">
            <a:avLst>
              <a:gd name="adj" fmla="val 7432"/>
            </a:avLst>
          </a:prstGeom>
          <a:solidFill>
            <a:schemeClr val="bg2"/>
          </a:solidFill>
          <a:ln/>
        </p:spPr>
      </p:sp>
      <p:sp>
        <p:nvSpPr>
          <p:cNvPr id="50" name="Callout 3"/>
          <p:cNvSpPr/>
          <p:nvPr/>
        </p:nvSpPr>
        <p:spPr>
          <a:xfrm>
            <a:off x="7708392" y="432765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Callout 3 number"/>
          <p:cNvSpPr txBox="1"/>
          <p:nvPr/>
        </p:nvSpPr>
        <p:spPr>
          <a:xfrm>
            <a:off x="7708392" y="43276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52" name="Rule 3 text"/>
          <p:cNvSpPr txBox="1"/>
          <p:nvPr/>
        </p:nvSpPr>
        <p:spPr>
          <a:xfrm>
            <a:off x="8092440" y="4309364"/>
            <a:ext cx="341345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Overlaps a flagged trade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Shares time with a trade caught by rule 1 or 2 (7303).</a:t>
            </a:r>
            <a:endParaRPr lang="en-US" sz="1500" dirty="0"/>
          </a:p>
        </p:txBody>
      </p:sp>
      <p:sp>
        <p:nvSpPr>
          <p:cNvPr id="53" name="Combined note"/>
          <p:cNvSpPr txBox="1"/>
          <p:nvPr/>
        </p:nvSpPr>
        <p:spPr>
          <a:xfrm>
            <a:off x="7543800" y="5375910"/>
            <a:ext cx="4099255" cy="68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Combined Margin adds every trade that overlapped this one at any point — even trades that never overlapped each other.</a:t>
            </a:r>
            <a:endParaRPr lang="en-US" sz="14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CASE 8  ·  LOGIN DEMO-05  ·  KNOWN ISSUE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Account with no trades: a warning, then a red error box</a:t>
            </a:r>
            <a:endParaRPr lang="en-US" sz="2600" dirty="0"/>
          </a:p>
        </p:txBody>
      </p:sp>
      <p:sp>
        <p:nvSpPr>
          <p:cNvPr id="4" name="Frame demo05"/>
          <p:cNvSpPr/>
          <p:nvPr/>
        </p:nvSpPr>
        <p:spPr>
          <a:xfrm>
            <a:off x="548640" y="1371600"/>
            <a:ext cx="7086600" cy="4399770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5" descr="Screenshot of the High Margin app: demo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86600" cy="4399770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7180357" y="219796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7180357" y="21979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4348480" y="2674553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4348480" y="26745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7180357" y="304407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7180357" y="30440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allout text 1"/>
          <p:cNvSpPr txBox="1"/>
          <p:nvPr/>
        </p:nvSpPr>
        <p:spPr>
          <a:xfrm>
            <a:off x="8321040" y="1417320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Yellow warning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“The all-trades endpoint returned no trade records for this login id.” This part is correct.</a:t>
            </a:r>
            <a:endParaRPr lang="en-US" sz="1500" dirty="0"/>
          </a:p>
        </p:txBody>
      </p:sp>
      <p:sp>
        <p:nvSpPr>
          <p:cNvPr id="13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Callout text 2"/>
          <p:cNvSpPr txBox="1"/>
          <p:nvPr/>
        </p:nvSpPr>
        <p:spPr>
          <a:xfrm>
            <a:off x="8321040" y="2330879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Trades = 0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header still shows the account details.</a:t>
            </a:r>
            <a:endParaRPr lang="en-US" sz="1500" dirty="0"/>
          </a:p>
        </p:txBody>
      </p:sp>
      <p:sp>
        <p:nvSpPr>
          <p:cNvPr id="16" name="Callout 2"/>
          <p:cNvSpPr/>
          <p:nvPr/>
        </p:nvSpPr>
        <p:spPr>
          <a:xfrm>
            <a:off x="7909560" y="233545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2 number"/>
          <p:cNvSpPr txBox="1"/>
          <p:nvPr/>
        </p:nvSpPr>
        <p:spPr>
          <a:xfrm>
            <a:off x="7909560" y="23354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Callout text 3"/>
          <p:cNvSpPr txBox="1"/>
          <p:nvPr/>
        </p:nvSpPr>
        <p:spPr>
          <a:xfrm>
            <a:off x="8321040" y="3021015"/>
            <a:ext cx="3322015" cy="95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Red error box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“KeyError: 'Open Time'” — the app does not yet handle an empty trade list. Nothing is wrong with the account.</a:t>
            </a:r>
            <a:endParaRPr lang="en-US" sz="1500" dirty="0"/>
          </a:p>
        </p:txBody>
      </p:sp>
      <p:sp>
        <p:nvSpPr>
          <p:cNvPr id="19" name="Callout 3"/>
          <p:cNvSpPr/>
          <p:nvPr/>
        </p:nvSpPr>
        <p:spPr>
          <a:xfrm>
            <a:off x="7909560" y="3025587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Callout 3 number"/>
          <p:cNvSpPr txBox="1"/>
          <p:nvPr/>
        </p:nvSpPr>
        <p:spPr>
          <a:xfrm>
            <a:off x="7909560" y="30255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Known issue"/>
          <p:cNvSpPr txBox="1"/>
          <p:nvPr/>
        </p:nvSpPr>
        <p:spPr>
          <a:xfrm>
            <a:off x="7909560" y="4249438"/>
            <a:ext cx="3733495" cy="1426065"/>
          </a:xfrm>
          <a:prstGeom prst="roundRect">
            <a:avLst>
              <a:gd name="adj" fmla="val 5130"/>
            </a:avLst>
          </a:prstGeom>
          <a:solidFill>
            <a:srgbClr val="FFF7D1"/>
          </a:solidFill>
          <a:ln/>
        </p:spPr>
        <p:txBody>
          <a:bodyPr wrap="square" lIns="152400" tIns="114300" rIns="152400" bIns="1143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Known issue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 small fix in transform.py will replace the error with an empty table. Until then, the warning is the answer: this account has no trades.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PART 2  ·  DOWNLOADS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Tick rows and download them as a CSV file</a:t>
            </a:r>
            <a:endParaRPr lang="en-US" sz="2600" dirty="0"/>
          </a:p>
        </p:txBody>
      </p:sp>
      <p:sp>
        <p:nvSpPr>
          <p:cNvPr id="4" name="Frame demo03_selected"/>
          <p:cNvSpPr/>
          <p:nvPr/>
        </p:nvSpPr>
        <p:spPr>
          <a:xfrm>
            <a:off x="548640" y="1371600"/>
            <a:ext cx="7086600" cy="1944325"/>
          </a:xfrm>
          <a:prstGeom prst="rect">
            <a:avLst/>
          </a:prstGeom>
          <a:solidFill>
            <a:schemeClr val="bg1"/>
          </a:solidFill>
          <a:ln w="9525">
            <a:solidFill>
              <a:srgbClr val="D0D7DF"/>
            </a:solidFill>
            <a:prstDash val="solid"/>
          </a:ln>
          <a:effectLst>
            <a:outerShdw blurRad="76200" dist="1905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Screenshot demo03_selected" descr="Screenshot of the High Margin app: demo03_sel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86600" cy="1944325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566888" y="266152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566888" y="2661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allout 2"/>
          <p:cNvSpPr/>
          <p:nvPr/>
        </p:nvSpPr>
        <p:spPr>
          <a:xfrm>
            <a:off x="1689278" y="298536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1689278" y="29853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Callout 3"/>
          <p:cNvSpPr/>
          <p:nvPr/>
        </p:nvSpPr>
        <p:spPr>
          <a:xfrm>
            <a:off x="3105217" y="298536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3105217" y="29853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allout 4"/>
          <p:cNvSpPr/>
          <p:nvPr/>
        </p:nvSpPr>
        <p:spPr>
          <a:xfrm>
            <a:off x="4037664" y="2985369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Callout 4 number"/>
          <p:cNvSpPr txBox="1"/>
          <p:nvPr/>
        </p:nvSpPr>
        <p:spPr>
          <a:xfrm>
            <a:off x="4037664" y="29853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CSV box"/>
          <p:cNvSpPr txBox="1"/>
          <p:nvPr/>
        </p:nvSpPr>
        <p:spPr>
          <a:xfrm>
            <a:off x="548640" y="3590245"/>
            <a:ext cx="7086600" cy="1517632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  <p:txBody>
          <a:bodyPr wrap="square" lIns="152400" tIns="114300" rIns="1524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What the CSV file contains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column of the table you downloaded from.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Dates as DD-MM-YYYY HH:MM:SS; percentages with a % sign.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File name: margin_summary_&lt;login&gt;.csv or trades_&lt;login&gt;.csv — “_selected” is added for ticked rows.</a:t>
            </a:r>
            <a:endParaRPr lang="en-US" sz="1500" dirty="0"/>
          </a:p>
        </p:txBody>
      </p:sp>
      <p:sp>
        <p:nvSpPr>
          <p:cNvPr id="15" name="Callout text 1"/>
          <p:cNvSpPr txBox="1"/>
          <p:nvPr/>
        </p:nvSpPr>
        <p:spPr>
          <a:xfrm>
            <a:off x="8321040" y="1417320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Tick boxes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Click the box at the start of a row. Ticked rows turn orange; click again to untick.</a:t>
            </a:r>
            <a:endParaRPr lang="en-US" sz="1500" dirty="0"/>
          </a:p>
        </p:txBody>
      </p:sp>
      <p:sp>
        <p:nvSpPr>
          <p:cNvPr id="16" name="Callout 1"/>
          <p:cNvSpPr/>
          <p:nvPr/>
        </p:nvSpPr>
        <p:spPr>
          <a:xfrm>
            <a:off x="7909560" y="1421892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Callout 1 number"/>
          <p:cNvSpPr txBox="1"/>
          <p:nvPr/>
        </p:nvSpPr>
        <p:spPr>
          <a:xfrm>
            <a:off x="7909560" y="1421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Callout text 2"/>
          <p:cNvSpPr txBox="1"/>
          <p:nvPr/>
        </p:nvSpPr>
        <p:spPr>
          <a:xfrm>
            <a:off x="8321040" y="2330879"/>
            <a:ext cx="3322015" cy="7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 selected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Saves only the ticked rows. Greyed out until a row is ticked.</a:t>
            </a:r>
            <a:endParaRPr lang="en-US" sz="1500" dirty="0"/>
          </a:p>
        </p:txBody>
      </p:sp>
      <p:sp>
        <p:nvSpPr>
          <p:cNvPr id="19" name="Callout 2"/>
          <p:cNvSpPr/>
          <p:nvPr/>
        </p:nvSpPr>
        <p:spPr>
          <a:xfrm>
            <a:off x="7909560" y="233545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Callout 2 number"/>
          <p:cNvSpPr txBox="1"/>
          <p:nvPr/>
        </p:nvSpPr>
        <p:spPr>
          <a:xfrm>
            <a:off x="7909560" y="23354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Callout text 3"/>
          <p:cNvSpPr txBox="1"/>
          <p:nvPr/>
        </p:nvSpPr>
        <p:spPr>
          <a:xfrm>
            <a:off x="8321040" y="3244439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 all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Saves every row of that table.</a:t>
            </a:r>
            <a:endParaRPr lang="en-US" sz="1500" dirty="0"/>
          </a:p>
        </p:txBody>
      </p:sp>
      <p:sp>
        <p:nvSpPr>
          <p:cNvPr id="22" name="Callout 3"/>
          <p:cNvSpPr/>
          <p:nvPr/>
        </p:nvSpPr>
        <p:spPr>
          <a:xfrm>
            <a:off x="7909560" y="3249011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Callout 3 number"/>
          <p:cNvSpPr txBox="1"/>
          <p:nvPr/>
        </p:nvSpPr>
        <p:spPr>
          <a:xfrm>
            <a:off x="7909560" y="32490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Callout text 4"/>
          <p:cNvSpPr txBox="1"/>
          <p:nvPr/>
        </p:nvSpPr>
        <p:spPr>
          <a:xfrm>
            <a:off x="8321040" y="3934574"/>
            <a:ext cx="3322015" cy="5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Counter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Shows how many rows are ticked.</a:t>
            </a:r>
            <a:endParaRPr lang="en-US" sz="1500" dirty="0"/>
          </a:p>
        </p:txBody>
      </p:sp>
      <p:sp>
        <p:nvSpPr>
          <p:cNvPr id="25" name="Callout 4"/>
          <p:cNvSpPr/>
          <p:nvPr/>
        </p:nvSpPr>
        <p:spPr>
          <a:xfrm>
            <a:off x="7909560" y="3939146"/>
            <a:ext cx="274320" cy="2743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Callout 4 number"/>
          <p:cNvSpPr txBox="1"/>
          <p:nvPr/>
        </p:nvSpPr>
        <p:spPr>
          <a:xfrm>
            <a:off x="7909560" y="39391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6B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gh Margin Guide">
  <a:themeElements>
    <a:clrScheme name="High Margin Guide">
      <a:dk1>
        <a:srgbClr val="1B2430"/>
      </a:dk1>
      <a:lt1>
        <a:srgbClr val="FFFFFF"/>
      </a:lt1>
      <a:dk2>
        <a:srgbClr val="14304D"/>
      </a:dk2>
      <a:lt2>
        <a:srgbClr val="EEF2F6"/>
      </a:lt2>
      <a:accent1>
        <a:srgbClr val="F2B200"/>
      </a:accent1>
      <a:accent2>
        <a:srgbClr val="FFE680"/>
      </a:accent2>
      <a:accent3>
        <a:srgbClr val="B83227"/>
      </a:accent3>
      <a:accent4>
        <a:srgbClr val="2563C9"/>
      </a:accent4>
      <a:accent5>
        <a:srgbClr val="8A5A00"/>
      </a:accent5>
      <a:accent6>
        <a:srgbClr val="5A6B7D"/>
      </a:accent6>
      <a:hlink>
        <a:srgbClr val="2563C9"/>
      </a:hlink>
      <a:folHlink>
        <a:srgbClr val="6B4FBB"/>
      </a:folHlink>
    </a:clrScheme>
    <a:fontScheme name="High Margin Gui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2302</Words>
  <Application>Microsoft Office PowerPoint</Application>
  <PresentationFormat>Widescreen</PresentationFormat>
  <Paragraphs>354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High Margin Guide</vt:lpstr>
      <vt:lpstr>High Margin</vt:lpstr>
      <vt:lpstr>One login ID in — every trade's margin out</vt:lpstr>
      <vt:lpstr>Margin = position size ÷ leverage, in account currency</vt:lpstr>
      <vt:lpstr>Reading the screen</vt:lpstr>
      <vt:lpstr>The page reads top to bottom in six parts</vt:lpstr>
      <vt:lpstr>Start by typing a Login ID</vt:lpstr>
      <vt:lpstr>The header confirms whose account you are looking at</vt:lpstr>
      <vt:lpstr>Margin summary: one row per trade, only what drives margin</vt:lpstr>
      <vt:lpstr>Trades table: the full record — scroll right for Notes</vt:lpstr>
      <vt:lpstr>Every case, one by one</vt:lpstr>
      <vt:lpstr>Wrong login ID: a red error, and nothing else loads</vt:lpstr>
      <vt:lpstr>One trade above 70% on its own: that row turns yellow</vt:lpstr>
      <vt:lpstr>Trades open at the same time add up — all turn yellow</vt:lpstr>
      <vt:lpstr>How the app decides which trades were open together</vt:lpstr>
      <vt:lpstr>Account with no trades: a warning, then a red error box</vt:lpstr>
      <vt:lpstr>Tick rows and download them as a CSV file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Margin — Interface guide</dc:title>
  <dc:subject>How to read every screen of the High Margin app, with a test account for every case</dc:subject>
  <dc:creator>Data team</dc:creator>
  <cp:lastModifiedBy>Algomill</cp:lastModifiedBy>
  <cp:revision>2</cp:revision>
  <dcterms:created xsi:type="dcterms:W3CDTF">2026-10-15T10:41:31Z</dcterms:created>
  <dcterms:modified xsi:type="dcterms:W3CDTF">2026-10-15T10:58:59Z</dcterms:modified>
</cp:coreProperties>
</file>