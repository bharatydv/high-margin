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24"/>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e5ea96d-8a14-a807-0913-16f522397d1f}">
          <p14:sldIdLst>
            <p14:sldId id="256"/>
            <p14:sldId id="257"/>
            <p14:sldId id="258"/>
            <p14:sldId id="259"/>
          </p14:sldIdLst>
        </p14:section>
        <p14:section name="Part 1 · Reading the screen" id="{21806ed2-ecf8-3aab-1622-d8820faf1541}">
          <p14:sldIdLst>
            <p14:sldId id="260"/>
            <p14:sldId id="261"/>
            <p14:sldId id="262"/>
            <p14:sldId id="263"/>
            <p14:sldId id="264"/>
            <p14:sldId id="265"/>
          </p14:sldIdLst>
        </p14:section>
        <p14:section name="Part 2 · What results look like" id="{c37f0f9e-4e60-3c33-a3e8-6b9884e4336f}">
          <p14:sldIdLst>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  <Relationship Id="rId24" Type="http://schemas.openxmlformats.org/officeDocument/2006/relationships/slide" Target="slides/slide1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teaches the High Margin app from zero. You do not need any trading experience: every word is explained the first time it appears, and every screenshot comes from the real app, using sample accounts instead of real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first. You give the app one account number. It collects that account's trades and works out, for every trade, how much of the account's money the trade tied up. If that is more than 70% of the account — one trade alone or several trades open at the same time — the rows turn yellow so you notice them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words come up again and again. Read them once now; every later slide uses them. The most important pair is margin and margin %: margin is money, margin % is that money compared with the size of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with the gold trade. Step 1: the trade controls 72,000 worth of gold. Step 2: with leverage 1:10 the account only has to put up a tenth of that, 7,200 — that is the margin. Step 3: 7,200 out of a 10,000 account is 72%, which is over the 70% line, so the row turns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walks down the screen from top to bottom, using DEMO-01 — a sample account where nothing is wrong. Learn what normal looks like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is one long page. You only ever type in one place — the Login ID box. Everything below it belongs to the account you typed. Most of the time you will read part 4, the Margin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app opens, the page is almost empty. That is normal. Click in the box, type the account number and press Enter. The blue message disappears as soon as the account 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reading any numbers, check the header. Is the login the one you meant? Does the plan name contain Prime, Pro or Direct? If not, the app cannot pick a leverage and margins will be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table. Start with the heading: if both counts are 0, no trade went over the line. Then look for yellow rows. Here, with DEMO-01, everything is under 70%, so nothing is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Trades table lists the same trades as the summary, with every field. It is wider than the screen, so scroll sideways to reach Margin, the combined columns and Notes. Notes explains anything unusual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shows four situations you will meet. Each one uses a sample account, named DEMO-xx, so you can see the result without real client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means the app stopped. The message looks technical, but the useful part is at the end: “The value 'ABC123' is not valid.” Check the number and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 6202 tied up 7,200 of a 10,000 account: 72%. It is yellow on its own, even though no other trade was open at the same time. This is the simplest kind of yellow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trade here is over 70%. But some were open at the same time, so the app adds their margins. 7301 and 7302 together are over the line, and 7303 was open at the same time as 7301, so all three are yellow. 7304 came later, alone, and stays white.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one trade, from when it opened to when it closed. Where bars sit above each other, the trades were open at the same time — that is an overlap. The three rules on the right decide which rows turn yellow.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account has never traded. The yellow warning says so. The red box below it looks alarming, but it is a known bug in the app, not a problem with the account. There is simply nothing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take data out of the app, tick the rows you want and press Download selected — or press Download all for the whole table. The file opens in Excel or Google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page as a cheat sheet. Every time you check an account, do the five steps on the left in order: type the login, check the header, read the heading counts, look at any yellow rows and the Overlapping Trades column, and download only if you need the rows. The right side is what each colour on the screen means: white is fine, yellow is over the 70% line, orange is a row you ticked, blue or yellow boxes are just messages, and a red box means the app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100" b="1"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indent="0" marL="0">
              <a:buNone/>
              <a:defRPr lang="en-US" sz="2600" b="1" dirty="0">
                <a:solidFill>
                  <a:schemeClr val="tx1"/>
                </a:solidFill>
              </a:defRPr>
            </a:lvl1pPr>
          </a:lstStyle>
          <a:p>
            <a:pPr indent="0" marL="0">
              <a:buNone/>
            </a:pPr>
            <a:endParaRPr lang="en-US" sz="2600" dirty="0"/>
          </a:p>
        </p:txBody>
      </p:sp>
      <p:sp>
        <p:nvSpPr>
          <p:cNvPr id="4" name="Text 0"/>
          <p:cNvSpPr/>
          <p:nvPr/>
        </p:nvSpPr>
        <p:spPr>
          <a:xfrm>
            <a:off x="548640" y="6419088"/>
            <a:ext cx="5486400" cy="274320"/>
          </a:xfrm>
          <a:prstGeom prst="rect">
            <a:avLst/>
          </a:prstGeom>
          <a:noFill/>
          <a:ln/>
        </p:spPr>
        <p:txBody>
          <a:bodyPr wrap="square" lIns="0" tIns="0" rIns="0" bIns="0" rtlCol="0" anchor="t"/>
          <a:lstStyle/>
          <a:p>
            <a:pPr indent="0" marL="0">
              <a:buNone/>
            </a:pPr>
            <a:r>
              <a:rPr lang="en-US" sz="1000" dirty="0">
                <a:solidFill>
                  <a:schemeClr val="accent6"/>
                </a:solidFill>
              </a:rPr>
              <a:t>High Margin · Beginner's guide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00200"/>
            <a:ext cx="4572000" cy="1051560"/>
          </a:xfrm>
          <a:prstGeom prst="rect">
            <a:avLst/>
          </a:prstGeom>
          <a:noFill/>
          <a:ln/>
        </p:spPr>
        <p:txBody>
          <a:bodyPr wrap="square" rtlCol="0"/>
          <a:lstStyle>
            <a:lvl1pPr indent="0" marL="0">
              <a:buNone/>
              <a:defRPr lang="en-US" sz="6000" b="1" dirty="0">
                <a:solidFill>
                  <a:schemeClr val="bg1"/>
                </a:solidFill>
              </a:defRPr>
            </a:lvl1pPr>
          </a:lstStyle>
          <a:p>
            <a:pPr indent="0" marL="0">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286000"/>
            <a:ext cx="7315200" cy="36576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822960" y="2697480"/>
            <a:ext cx="7315200" cy="100584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82296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600200"/>
            <a:ext cx="4572000" cy="1051560"/>
          </a:xfrm>
          <a:prstGeom prst="rect">
            <a:avLst/>
          </a:prstGeom>
          <a:noFill/>
          <a:ln/>
        </p:spPr>
        <p:txBody>
          <a:bodyPr wrap="square" lIns="0" tIns="0" rIns="0" bIns="0" rtlCol="0" anchor="t"/>
          <a:lstStyle/>
          <a:p>
            <a:pPr algn="l" indent="0" marL="0">
              <a:buNone/>
            </a:pPr>
            <a:r>
              <a:rPr lang="en-US" sz="6000" b="1" dirty="0">
                <a:solidFill>
                  <a:schemeClr val="bg1"/>
                </a:solidFill>
              </a:rPr>
              <a:t>High Margin</a:t>
            </a:r>
            <a:endParaRPr lang="en-US" sz="6000" dirty="0"/>
          </a:p>
        </p:txBody>
      </p:sp>
      <p:sp>
        <p:nvSpPr>
          <p:cNvPr id="3" name="Text 1"/>
          <p:cNvSpPr txBox="1"/>
          <p:nvPr/>
        </p:nvSpPr>
        <p:spPr>
          <a:xfrm>
            <a:off x="640080" y="1280160"/>
            <a:ext cx="4480560" cy="225753"/>
          </a:xfrm>
          <a:prstGeom prst="rect">
            <a:avLst/>
          </a:prstGeom>
          <a:noFill/>
          <a:ln/>
        </p:spPr>
        <p:txBody>
          <a:bodyPr wrap="square" lIns="0" tIns="0" rIns="0" bIns="0" rtlCol="0" anchor="t"/>
          <a:lstStyle/>
          <a:p>
            <a:pPr algn="l" indent="0" marL="0">
              <a:buNone/>
            </a:pPr>
            <a:r>
              <a:rPr lang="en-US" sz="1300" b="1" dirty="0">
                <a:solidFill>
                  <a:schemeClr val="accent1"/>
                </a:solidFill>
              </a:rPr>
              <a:t>RISK TOOLS  ·  BEGINNER'S GUIDE</a:t>
            </a:r>
            <a:endParaRPr lang="en-US" sz="1300" dirty="0"/>
          </a:p>
        </p:txBody>
      </p:sp>
      <p:sp>
        <p:nvSpPr>
          <p:cNvPr id="4" name="Text 2"/>
          <p:cNvSpPr txBox="1"/>
          <p:nvPr/>
        </p:nvSpPr>
        <p:spPr>
          <a:xfrm>
            <a:off x="640080" y="2697480"/>
            <a:ext cx="4480560" cy="1071570"/>
          </a:xfrm>
          <a:prstGeom prst="rect">
            <a:avLst/>
          </a:prstGeom>
          <a:noFill/>
          <a:ln/>
        </p:spPr>
        <p:txBody>
          <a:bodyPr wrap="square" lIns="0" tIns="0" rIns="0" bIns="0" rtlCol="0" anchor="t"/>
          <a:lstStyle/>
          <a:p>
            <a:pPr algn="l" indent="0" marL="0">
              <a:buNone/>
            </a:pPr>
            <a:r>
              <a:rPr lang="en-US" sz="2200" dirty="0">
                <a:solidFill>
                  <a:srgbClr val="C9D6E3"/>
                </a:solidFill>
              </a:rPr>
              <a:t>Learn the app step by step — what every part of the screen means and how to read it</a:t>
            </a:r>
            <a:endParaRPr lang="en-US" sz="2200" dirty="0"/>
          </a:p>
        </p:txBody>
      </p:sp>
      <p:sp>
        <p:nvSpPr>
          <p:cNvPr id="5" name="Text 3"/>
          <p:cNvSpPr txBox="1"/>
          <p:nvPr/>
        </p:nvSpPr>
        <p:spPr>
          <a:xfrm>
            <a:off x="640080" y="5257800"/>
            <a:ext cx="4480560" cy="645130"/>
          </a:xfrm>
          <a:prstGeom prst="rect">
            <a:avLst/>
          </a:prstGeom>
          <a:noFill/>
          <a:ln/>
        </p:spPr>
        <p:txBody>
          <a:bodyPr wrap="square" lIns="0" tIns="0" rIns="0" bIns="0" rtlCol="0" anchor="t"/>
          <a:lstStyle/>
          <a:p>
            <a:pPr algn="l" indent="0" marL="0">
              <a:spcAft>
                <a:spcPts val="200"/>
              </a:spcAft>
              <a:buNone/>
            </a:pPr>
            <a:r>
              <a:rPr lang="en-US" sz="1200" dirty="0">
                <a:solidFill>
                  <a:srgbClr val="9FB2C6"/>
                </a:solidFill>
              </a:rPr>
              <a:t>No trading experience needed</a:t>
            </a:r>
            <a:endParaRPr lang="en-US" sz="1200" dirty="0"/>
          </a:p>
          <a:p>
            <a:pPr algn="l" indent="0" marL="0">
              <a:spcAft>
                <a:spcPts val="200"/>
              </a:spcAft>
              <a:buNone/>
            </a:pPr>
            <a:r>
              <a:rPr lang="en-US" sz="1200" dirty="0">
                <a:solidFill>
                  <a:srgbClr val="9FB2C6"/>
                </a:solidFill>
              </a:rPr>
              <a:t>Examples use sample accounts, not real clients</a:t>
            </a:r>
            <a:endParaRPr lang="en-US" sz="1200" dirty="0"/>
          </a:p>
          <a:p>
            <a:pPr algn="l" indent="0" marL="0">
              <a:buNone/>
            </a:pPr>
            <a:r>
              <a:rPr lang="en-US" sz="1200" dirty="0">
                <a:solidFill>
                  <a:srgbClr val="9FB2C6"/>
                </a:solidFill>
              </a:rPr>
              <a:t>October 2026</a:t>
            </a:r>
            <a:endParaRPr lang="en-US" sz="1200" dirty="0"/>
          </a:p>
        </p:txBody>
      </p:sp>
      <p:sp>
        <p:nvSpPr>
          <p:cNvPr id="6" name="Frame demo03_page"/>
          <p:cNvSpPr/>
          <p:nvPr/>
        </p:nvSpPr>
        <p:spPr>
          <a:xfrm>
            <a:off x="5440680" y="754380"/>
            <a:ext cx="6163189" cy="534924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7" name="Screenshot demo03_page" descr="Screenshot of the High Margin app: demo03_page">    </p:cNvPr>
          <p:cNvPicPr>
            <a:picLocks noChangeAspect="1"/>
          </p:cNvPicPr>
          <p:nvPr/>
        </p:nvPicPr>
        <p:blipFill>
          <a:blip r:embed="rId1"/>
          <a:stretch>
            <a:fillRect/>
          </a:stretch>
        </p:blipFill>
        <p:spPr>
          <a:xfrm>
            <a:off x="5440680" y="754380"/>
            <a:ext cx="6163189" cy="5349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START HERE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What does the High Margin app do?</a:t>
            </a:r>
            <a:endParaRPr lang="en-US" sz="2600" dirty="0"/>
          </a:p>
        </p:txBody>
      </p:sp>
      <p:sp>
        <p:nvSpPr>
          <p:cNvPr id="4" name="Card 1"/>
          <p:cNvSpPr/>
          <p:nvPr/>
        </p:nvSpPr>
        <p:spPr>
          <a:xfrm>
            <a:off x="548640" y="1417320"/>
            <a:ext cx="3545738" cy="1690624"/>
          </a:xfrm>
          <a:prstGeom prst="roundRect">
            <a:avLst>
              <a:gd name="adj" fmla="val 5409"/>
            </a:avLst>
          </a:prstGeom>
          <a:solidFill>
            <a:schemeClr val="bg2"/>
          </a:solidFill>
          <a:ln/>
        </p:spPr>
      </p:sp>
      <p:sp>
        <p:nvSpPr>
          <p:cNvPr id="5" name="Callout 1"/>
          <p:cNvSpPr/>
          <p:nvPr/>
        </p:nvSpPr>
        <p:spPr>
          <a:xfrm>
            <a:off x="713232" y="1581912"/>
            <a:ext cx="384048" cy="384048"/>
          </a:xfrm>
          <a:prstGeom prst="ellipse">
            <a:avLst/>
          </a:prstGeom>
          <a:solidFill>
            <a:schemeClr val="accent1"/>
          </a:solidFill>
          <a:ln w="15875">
            <a:solidFill>
              <a:srgbClr val="FFFFFF"/>
            </a:solidFill>
            <a:prstDash val="solid"/>
          </a:ln>
        </p:spPr>
      </p:sp>
      <p:sp>
        <p:nvSpPr>
          <p:cNvPr id="6" name="Callout 1 number"/>
          <p:cNvSpPr txBox="1"/>
          <p:nvPr/>
        </p:nvSpPr>
        <p:spPr>
          <a:xfrm>
            <a:off x="713232" y="158191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Card 1 title"/>
          <p:cNvSpPr txBox="1"/>
          <p:nvPr/>
        </p:nvSpPr>
        <p:spPr>
          <a:xfrm>
            <a:off x="1207008" y="1634490"/>
            <a:ext cx="2722778" cy="288036"/>
          </a:xfrm>
          <a:prstGeom prst="rect">
            <a:avLst/>
          </a:prstGeom>
          <a:noFill/>
          <a:ln/>
        </p:spPr>
        <p:txBody>
          <a:bodyPr wrap="square" lIns="0" tIns="0" rIns="0" bIns="0" rtlCol="0" anchor="t"/>
          <a:lstStyle/>
          <a:p>
            <a:pPr algn="l" indent="0" marL="0">
              <a:buNone/>
            </a:pPr>
            <a:r>
              <a:rPr lang="en-US" sz="1800" b="1" dirty="0">
                <a:solidFill>
                  <a:schemeClr val="tx1"/>
                </a:solidFill>
              </a:rPr>
              <a:t>You type a Login ID</a:t>
            </a:r>
            <a:endParaRPr lang="en-US" sz="1800" dirty="0"/>
          </a:p>
        </p:txBody>
      </p:sp>
      <p:sp>
        <p:nvSpPr>
          <p:cNvPr id="8" name="Card 1 body"/>
          <p:cNvSpPr txBox="1"/>
          <p:nvPr/>
        </p:nvSpPr>
        <p:spPr>
          <a:xfrm>
            <a:off x="713232" y="203911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The Login ID is the trading account's number. Type it into the box and press Enter.</a:t>
            </a:r>
            <a:endParaRPr lang="en-US" sz="1400" dirty="0"/>
          </a:p>
        </p:txBody>
      </p:sp>
      <p:sp>
        <p:nvSpPr>
          <p:cNvPr id="9" name="Card 2"/>
          <p:cNvSpPr/>
          <p:nvPr/>
        </p:nvSpPr>
        <p:spPr>
          <a:xfrm>
            <a:off x="4322978" y="1417320"/>
            <a:ext cx="3545738" cy="1690624"/>
          </a:xfrm>
          <a:prstGeom prst="roundRect">
            <a:avLst>
              <a:gd name="adj" fmla="val 5409"/>
            </a:avLst>
          </a:prstGeom>
          <a:solidFill>
            <a:schemeClr val="bg2"/>
          </a:solidFill>
          <a:ln/>
        </p:spPr>
      </p:sp>
      <p:sp>
        <p:nvSpPr>
          <p:cNvPr id="10" name="Callout 2"/>
          <p:cNvSpPr/>
          <p:nvPr/>
        </p:nvSpPr>
        <p:spPr>
          <a:xfrm>
            <a:off x="4487570" y="1581912"/>
            <a:ext cx="384048" cy="384048"/>
          </a:xfrm>
          <a:prstGeom prst="ellipse">
            <a:avLst/>
          </a:prstGeom>
          <a:solidFill>
            <a:schemeClr val="accent1"/>
          </a:solidFill>
          <a:ln w="15875">
            <a:solidFill>
              <a:srgbClr val="FFFFFF"/>
            </a:solidFill>
            <a:prstDash val="solid"/>
          </a:ln>
        </p:spPr>
      </p:sp>
      <p:sp>
        <p:nvSpPr>
          <p:cNvPr id="11" name="Callout 2 number"/>
          <p:cNvSpPr txBox="1"/>
          <p:nvPr/>
        </p:nvSpPr>
        <p:spPr>
          <a:xfrm>
            <a:off x="4487570" y="158191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Card 2 title"/>
          <p:cNvSpPr txBox="1"/>
          <p:nvPr/>
        </p:nvSpPr>
        <p:spPr>
          <a:xfrm>
            <a:off x="4981346" y="1634490"/>
            <a:ext cx="2722778" cy="288036"/>
          </a:xfrm>
          <a:prstGeom prst="rect">
            <a:avLst/>
          </a:prstGeom>
          <a:noFill/>
          <a:ln/>
        </p:spPr>
        <p:txBody>
          <a:bodyPr wrap="square" lIns="0" tIns="0" rIns="0" bIns="0" rtlCol="0" anchor="t"/>
          <a:lstStyle/>
          <a:p>
            <a:pPr algn="l" indent="0" marL="0">
              <a:buNone/>
            </a:pPr>
            <a:r>
              <a:rPr lang="en-US" sz="1800" b="1" dirty="0">
                <a:solidFill>
                  <a:schemeClr val="tx1"/>
                </a:solidFill>
              </a:rPr>
              <a:t>The app collects the data</a:t>
            </a:r>
            <a:endParaRPr lang="en-US" sz="1800" dirty="0"/>
          </a:p>
        </p:txBody>
      </p:sp>
      <p:sp>
        <p:nvSpPr>
          <p:cNvPr id="13" name="Card 2 body"/>
          <p:cNvSpPr txBox="1"/>
          <p:nvPr/>
        </p:nvSpPr>
        <p:spPr>
          <a:xfrm>
            <a:off x="4487570" y="203911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It fetches the account's details and all of its trades, and looks up each instrument's leverage in a Google Sheet.</a:t>
            </a:r>
            <a:endParaRPr lang="en-US" sz="1400" dirty="0"/>
          </a:p>
        </p:txBody>
      </p:sp>
      <p:sp>
        <p:nvSpPr>
          <p:cNvPr id="14" name="Card 3"/>
          <p:cNvSpPr/>
          <p:nvPr/>
        </p:nvSpPr>
        <p:spPr>
          <a:xfrm>
            <a:off x="8097317" y="1417320"/>
            <a:ext cx="3545738" cy="1690624"/>
          </a:xfrm>
          <a:prstGeom prst="roundRect">
            <a:avLst>
              <a:gd name="adj" fmla="val 5409"/>
            </a:avLst>
          </a:prstGeom>
          <a:solidFill>
            <a:schemeClr val="bg2"/>
          </a:solidFill>
          <a:ln/>
        </p:spPr>
      </p:sp>
      <p:sp>
        <p:nvSpPr>
          <p:cNvPr id="15" name="Callout 3"/>
          <p:cNvSpPr/>
          <p:nvPr/>
        </p:nvSpPr>
        <p:spPr>
          <a:xfrm>
            <a:off x="8261909" y="1581912"/>
            <a:ext cx="384048" cy="384048"/>
          </a:xfrm>
          <a:prstGeom prst="ellipse">
            <a:avLst/>
          </a:prstGeom>
          <a:solidFill>
            <a:schemeClr val="accent1"/>
          </a:solidFill>
          <a:ln w="15875">
            <a:solidFill>
              <a:srgbClr val="FFFFFF"/>
            </a:solidFill>
            <a:prstDash val="solid"/>
          </a:ln>
        </p:spPr>
      </p:sp>
      <p:sp>
        <p:nvSpPr>
          <p:cNvPr id="16" name="Callout 3 number"/>
          <p:cNvSpPr txBox="1"/>
          <p:nvPr/>
        </p:nvSpPr>
        <p:spPr>
          <a:xfrm>
            <a:off x="8261909" y="158191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7" name="Card 3 title"/>
          <p:cNvSpPr txBox="1"/>
          <p:nvPr/>
        </p:nvSpPr>
        <p:spPr>
          <a:xfrm>
            <a:off x="8755685" y="1634490"/>
            <a:ext cx="2722778" cy="288036"/>
          </a:xfrm>
          <a:prstGeom prst="rect">
            <a:avLst/>
          </a:prstGeom>
          <a:noFill/>
          <a:ln/>
        </p:spPr>
        <p:txBody>
          <a:bodyPr wrap="square" lIns="0" tIns="0" rIns="0" bIns="0" rtlCol="0" anchor="t"/>
          <a:lstStyle/>
          <a:p>
            <a:pPr algn="l" indent="0" marL="0">
              <a:buNone/>
            </a:pPr>
            <a:r>
              <a:rPr lang="en-US" sz="1800" b="1" dirty="0">
                <a:solidFill>
                  <a:schemeClr val="tx1"/>
                </a:solidFill>
              </a:rPr>
              <a:t>It shows the margin</a:t>
            </a:r>
            <a:endParaRPr lang="en-US" sz="1800" dirty="0"/>
          </a:p>
        </p:txBody>
      </p:sp>
      <p:sp>
        <p:nvSpPr>
          <p:cNvPr id="18" name="Card 3 body"/>
          <p:cNvSpPr txBox="1"/>
          <p:nvPr/>
        </p:nvSpPr>
        <p:spPr>
          <a:xfrm>
            <a:off x="8261909" y="2039112"/>
            <a:ext cx="3216554" cy="911982"/>
          </a:xfrm>
          <a:prstGeom prst="rect">
            <a:avLst/>
          </a:prstGeom>
          <a:noFill/>
          <a:ln/>
        </p:spPr>
        <p:txBody>
          <a:bodyPr wrap="square" lIns="0" tIns="0" rIns="0" bIns="0" rtlCol="0" anchor="t"/>
          <a:lstStyle/>
          <a:p>
            <a:pPr algn="l" indent="0" marL="0">
              <a:buNone/>
            </a:pPr>
            <a:r>
              <a:rPr lang="en-US" sz="1400" dirty="0">
                <a:solidFill>
                  <a:schemeClr val="tx1"/>
                </a:solidFill>
              </a:rPr>
              <a:t>Margin = how much of the account's money a trade ties up while it is open. Trades that use too much are shaded yellow.</a:t>
            </a:r>
            <a:endParaRPr lang="en-US" sz="1400" dirty="0"/>
          </a:p>
        </p:txBody>
      </p:sp>
      <p:sp>
        <p:nvSpPr>
          <p:cNvPr id="19" name="70 percent chip"/>
          <p:cNvSpPr/>
          <p:nvPr/>
        </p:nvSpPr>
        <p:spPr>
          <a:xfrm>
            <a:off x="548640" y="3977640"/>
            <a:ext cx="2468880" cy="1600200"/>
          </a:xfrm>
          <a:prstGeom prst="roundRect">
            <a:avLst>
              <a:gd name="adj" fmla="val 6857"/>
            </a:avLst>
          </a:prstGeom>
          <a:solidFill>
            <a:schemeClr val="accent2"/>
          </a:solidFill>
          <a:ln/>
        </p:spPr>
      </p:sp>
      <p:sp>
        <p:nvSpPr>
          <p:cNvPr id="20" name="70%"/>
          <p:cNvSpPr txBox="1"/>
          <p:nvPr/>
        </p:nvSpPr>
        <p:spPr>
          <a:xfrm>
            <a:off x="548640" y="3977640"/>
            <a:ext cx="2468880" cy="1600200"/>
          </a:xfrm>
          <a:prstGeom prst="rect">
            <a:avLst/>
          </a:prstGeom>
          <a:noFill/>
          <a:ln/>
        </p:spPr>
        <p:txBody>
          <a:bodyPr wrap="square" lIns="0" tIns="0" rIns="0" bIns="0" rtlCol="0" anchor="ctr"/>
          <a:lstStyle/>
          <a:p>
            <a:pPr algn="ctr" indent="0" marL="0">
              <a:buNone/>
            </a:pPr>
            <a:r>
              <a:rPr lang="en-US" sz="6600" b="1" dirty="0">
                <a:solidFill>
                  <a:schemeClr val="tx1"/>
                </a:solidFill>
                <a:latin typeface="+mj-lt" pitchFamily="34" charset="0"/>
                <a:ea typeface="+mj-lt" pitchFamily="34" charset="-122"/>
                <a:cs typeface="+mj-lt" pitchFamily="34" charset="-120"/>
              </a:rPr>
              <a:t>70%</a:t>
            </a:r>
            <a:endParaRPr lang="en-US" sz="6600" dirty="0"/>
          </a:p>
        </p:txBody>
      </p:sp>
      <p:sp>
        <p:nvSpPr>
          <p:cNvPr id="21" name="70 percent text"/>
          <p:cNvSpPr txBox="1"/>
          <p:nvPr/>
        </p:nvSpPr>
        <p:spPr>
          <a:xfrm>
            <a:off x="3337560" y="3977640"/>
            <a:ext cx="8305495" cy="1600200"/>
          </a:xfrm>
          <a:prstGeom prst="rect">
            <a:avLst/>
          </a:prstGeom>
          <a:noFill/>
          <a:ln/>
        </p:spPr>
        <p:txBody>
          <a:bodyPr wrap="square" lIns="0" tIns="0" rIns="0" bIns="0" rtlCol="0" anchor="ctr"/>
          <a:lstStyle/>
          <a:p>
            <a:pPr algn="l" indent="0" marL="0">
              <a:spcAft>
                <a:spcPts val="600"/>
              </a:spcAft>
              <a:buNone/>
            </a:pPr>
            <a:r>
              <a:rPr lang="en-US" sz="2400" b="1" dirty="0">
                <a:solidFill>
                  <a:schemeClr val="tx1"/>
                </a:solidFill>
              </a:rPr>
              <a:t>is the warning line.</a:t>
            </a:r>
            <a:endParaRPr lang="en-US" sz="2400" dirty="0"/>
          </a:p>
          <a:p>
            <a:pPr algn="l" indent="0" marL="0">
              <a:spcAft>
                <a:spcPts val="600"/>
              </a:spcAft>
              <a:buNone/>
            </a:pPr>
            <a:r>
              <a:rPr lang="en-US" sz="1600" dirty="0">
                <a:solidFill>
                  <a:schemeClr val="tx1"/>
                </a:solidFill>
              </a:rPr>
              <a:t>If a trade — or several trades open at the same time — use more than 70% of the account size, those rows turn yellow.</a:t>
            </a:r>
            <a:endParaRPr lang="en-US" sz="2400" dirty="0"/>
          </a:p>
          <a:p>
            <a:pPr algn="l" indent="0" marL="0">
              <a:buNone/>
            </a:pPr>
            <a:r>
              <a:rPr lang="en-US" sz="1600" b="1" dirty="0">
                <a:solidFill>
                  <a:schemeClr val="tx1"/>
                </a:solidFill>
              </a:rPr>
              <a:t>Account size</a:t>
            </a:r>
            <a:r>
              <a:rPr lang="en-US" sz="1600" dirty="0">
                <a:solidFill>
                  <a:schemeClr val="tx1"/>
                </a:solidFill>
              </a:rPr>
              <a:t> = the amount the account started with, for example 10,000.</a:t>
            </a:r>
            <a:endParaRPr lang="en-US" sz="2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BASICS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Words you need to know</a:t>
            </a:r>
            <a:endParaRPr lang="en-US" sz="2600" dirty="0"/>
          </a:p>
        </p:txBody>
      </p:sp>
      <p:sp>
        <p:nvSpPr>
          <p:cNvPr id="4" name="Term Login ID"/>
          <p:cNvSpPr/>
          <p:nvPr/>
        </p:nvSpPr>
        <p:spPr>
          <a:xfrm>
            <a:off x="548640" y="1417320"/>
            <a:ext cx="5410048" cy="726440"/>
          </a:xfrm>
          <a:prstGeom prst="roundRect">
            <a:avLst>
              <a:gd name="adj" fmla="val 10070"/>
            </a:avLst>
          </a:prstGeom>
          <a:solidFill>
            <a:schemeClr val="bg2"/>
          </a:solidFill>
          <a:ln/>
        </p:spPr>
      </p:sp>
      <p:sp>
        <p:nvSpPr>
          <p:cNvPr id="5" name="Term Login ID name"/>
          <p:cNvSpPr txBox="1"/>
          <p:nvPr/>
        </p:nvSpPr>
        <p:spPr>
          <a:xfrm>
            <a:off x="694944" y="1417320"/>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Login ID</a:t>
            </a:r>
            <a:endParaRPr lang="en-US" sz="1500" dirty="0"/>
          </a:p>
        </p:txBody>
      </p:sp>
      <p:sp>
        <p:nvSpPr>
          <p:cNvPr id="6" name="Term Login ID meaning"/>
          <p:cNvSpPr txBox="1"/>
          <p:nvPr/>
        </p:nvSpPr>
        <p:spPr>
          <a:xfrm>
            <a:off x="2386584" y="1417320"/>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The trading account's number, e.g. 500123.</a:t>
            </a:r>
            <a:endParaRPr lang="en-US" sz="1400" dirty="0"/>
          </a:p>
        </p:txBody>
      </p:sp>
      <p:sp>
        <p:nvSpPr>
          <p:cNvPr id="7" name="Term Plan"/>
          <p:cNvSpPr/>
          <p:nvPr/>
        </p:nvSpPr>
        <p:spPr>
          <a:xfrm>
            <a:off x="6233008" y="1417320"/>
            <a:ext cx="5410048" cy="726440"/>
          </a:xfrm>
          <a:prstGeom prst="roundRect">
            <a:avLst>
              <a:gd name="adj" fmla="val 10070"/>
            </a:avLst>
          </a:prstGeom>
          <a:solidFill>
            <a:schemeClr val="bg2"/>
          </a:solidFill>
          <a:ln/>
        </p:spPr>
      </p:sp>
      <p:sp>
        <p:nvSpPr>
          <p:cNvPr id="8" name="Term Plan name"/>
          <p:cNvSpPr txBox="1"/>
          <p:nvPr/>
        </p:nvSpPr>
        <p:spPr>
          <a:xfrm>
            <a:off x="6379312" y="1417320"/>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Plan</a:t>
            </a:r>
            <a:endParaRPr lang="en-US" sz="1500" dirty="0"/>
          </a:p>
        </p:txBody>
      </p:sp>
      <p:sp>
        <p:nvSpPr>
          <p:cNvPr id="9" name="Term Plan meaning"/>
          <p:cNvSpPr txBox="1"/>
          <p:nvPr/>
        </p:nvSpPr>
        <p:spPr>
          <a:xfrm>
            <a:off x="8070952" y="1417320"/>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The account type, e.g. “2-Step Prime Funded”. It decides which leverage is used.</a:t>
            </a:r>
            <a:endParaRPr lang="en-US" sz="1400" dirty="0"/>
          </a:p>
        </p:txBody>
      </p:sp>
      <p:sp>
        <p:nvSpPr>
          <p:cNvPr id="10" name="Term Account size"/>
          <p:cNvSpPr/>
          <p:nvPr/>
        </p:nvSpPr>
        <p:spPr>
          <a:xfrm>
            <a:off x="548640" y="2290064"/>
            <a:ext cx="5410048" cy="726440"/>
          </a:xfrm>
          <a:prstGeom prst="roundRect">
            <a:avLst>
              <a:gd name="adj" fmla="val 10070"/>
            </a:avLst>
          </a:prstGeom>
          <a:solidFill>
            <a:schemeClr val="bg2"/>
          </a:solidFill>
          <a:ln/>
        </p:spPr>
      </p:sp>
      <p:sp>
        <p:nvSpPr>
          <p:cNvPr id="11" name="Term Account size name"/>
          <p:cNvSpPr txBox="1"/>
          <p:nvPr/>
        </p:nvSpPr>
        <p:spPr>
          <a:xfrm>
            <a:off x="694944" y="2290064"/>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Account size</a:t>
            </a:r>
            <a:endParaRPr lang="en-US" sz="1500" dirty="0"/>
          </a:p>
        </p:txBody>
      </p:sp>
      <p:sp>
        <p:nvSpPr>
          <p:cNvPr id="12" name="Term Account size meaning"/>
          <p:cNvSpPr txBox="1"/>
          <p:nvPr/>
        </p:nvSpPr>
        <p:spPr>
          <a:xfrm>
            <a:off x="2386584" y="2290064"/>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The money the account started with, e.g. 10,000.</a:t>
            </a:r>
            <a:endParaRPr lang="en-US" sz="1400" dirty="0"/>
          </a:p>
        </p:txBody>
      </p:sp>
      <p:sp>
        <p:nvSpPr>
          <p:cNvPr id="13" name="Term Trade · Trade ID"/>
          <p:cNvSpPr/>
          <p:nvPr/>
        </p:nvSpPr>
        <p:spPr>
          <a:xfrm>
            <a:off x="6233008" y="2290064"/>
            <a:ext cx="5410048" cy="726440"/>
          </a:xfrm>
          <a:prstGeom prst="roundRect">
            <a:avLst>
              <a:gd name="adj" fmla="val 10070"/>
            </a:avLst>
          </a:prstGeom>
          <a:solidFill>
            <a:schemeClr val="bg2"/>
          </a:solidFill>
          <a:ln/>
        </p:spPr>
      </p:sp>
      <p:sp>
        <p:nvSpPr>
          <p:cNvPr id="14" name="Term Trade · Trade ID name"/>
          <p:cNvSpPr txBox="1"/>
          <p:nvPr/>
        </p:nvSpPr>
        <p:spPr>
          <a:xfrm>
            <a:off x="6379312" y="2290064"/>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Trade · Trade ID</a:t>
            </a:r>
            <a:endParaRPr lang="en-US" sz="1500" dirty="0"/>
          </a:p>
        </p:txBody>
      </p:sp>
      <p:sp>
        <p:nvSpPr>
          <p:cNvPr id="15" name="Term Trade · Trade ID meaning"/>
          <p:cNvSpPr txBox="1"/>
          <p:nvPr/>
        </p:nvSpPr>
        <p:spPr>
          <a:xfrm>
            <a:off x="8070952" y="2290064"/>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One buy or sell. Each trade has its own ID number, e.g. 6202.</a:t>
            </a:r>
            <a:endParaRPr lang="en-US" sz="1400" dirty="0"/>
          </a:p>
        </p:txBody>
      </p:sp>
      <p:sp>
        <p:nvSpPr>
          <p:cNvPr id="16" name="Term Lot size"/>
          <p:cNvSpPr/>
          <p:nvPr/>
        </p:nvSpPr>
        <p:spPr>
          <a:xfrm>
            <a:off x="548640" y="3162808"/>
            <a:ext cx="5410048" cy="726440"/>
          </a:xfrm>
          <a:prstGeom prst="roundRect">
            <a:avLst>
              <a:gd name="adj" fmla="val 10070"/>
            </a:avLst>
          </a:prstGeom>
          <a:solidFill>
            <a:schemeClr val="bg2"/>
          </a:solidFill>
          <a:ln/>
        </p:spPr>
      </p:sp>
      <p:sp>
        <p:nvSpPr>
          <p:cNvPr id="17" name="Term Lot size name"/>
          <p:cNvSpPr txBox="1"/>
          <p:nvPr/>
        </p:nvSpPr>
        <p:spPr>
          <a:xfrm>
            <a:off x="694944" y="3162808"/>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Lot size</a:t>
            </a:r>
            <a:endParaRPr lang="en-US" sz="1500" dirty="0"/>
          </a:p>
        </p:txBody>
      </p:sp>
      <p:sp>
        <p:nvSpPr>
          <p:cNvPr id="18" name="Term Lot size meaning"/>
          <p:cNvSpPr txBox="1"/>
          <p:nvPr/>
        </p:nvSpPr>
        <p:spPr>
          <a:xfrm>
            <a:off x="2386584" y="3162808"/>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How big the trade is. 1 lot of EURUSD = 100,000 euros.</a:t>
            </a:r>
            <a:endParaRPr lang="en-US" sz="1400" dirty="0"/>
          </a:p>
        </p:txBody>
      </p:sp>
      <p:sp>
        <p:nvSpPr>
          <p:cNvPr id="19" name="Term Contract size"/>
          <p:cNvSpPr/>
          <p:nvPr/>
        </p:nvSpPr>
        <p:spPr>
          <a:xfrm>
            <a:off x="6233008" y="3162808"/>
            <a:ext cx="5410048" cy="726440"/>
          </a:xfrm>
          <a:prstGeom prst="roundRect">
            <a:avLst>
              <a:gd name="adj" fmla="val 10070"/>
            </a:avLst>
          </a:prstGeom>
          <a:solidFill>
            <a:schemeClr val="bg2"/>
          </a:solidFill>
          <a:ln/>
        </p:spPr>
      </p:sp>
      <p:sp>
        <p:nvSpPr>
          <p:cNvPr id="20" name="Term Contract size name"/>
          <p:cNvSpPr txBox="1"/>
          <p:nvPr/>
        </p:nvSpPr>
        <p:spPr>
          <a:xfrm>
            <a:off x="6379312" y="3162808"/>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Contract size</a:t>
            </a:r>
            <a:endParaRPr lang="en-US" sz="1500" dirty="0"/>
          </a:p>
        </p:txBody>
      </p:sp>
      <p:sp>
        <p:nvSpPr>
          <p:cNvPr id="21" name="Term Contract size meaning"/>
          <p:cNvSpPr txBox="1"/>
          <p:nvPr/>
        </p:nvSpPr>
        <p:spPr>
          <a:xfrm>
            <a:off x="8070952" y="3162808"/>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Units in 1 lot: 100,000 for currency pairs, 100 for gold (XAUUSD).</a:t>
            </a:r>
            <a:endParaRPr lang="en-US" sz="1400" dirty="0"/>
          </a:p>
        </p:txBody>
      </p:sp>
      <p:sp>
        <p:nvSpPr>
          <p:cNvPr id="22" name="Term Leverage"/>
          <p:cNvSpPr/>
          <p:nvPr/>
        </p:nvSpPr>
        <p:spPr>
          <a:xfrm>
            <a:off x="548640" y="4035552"/>
            <a:ext cx="5410048" cy="943356"/>
          </a:xfrm>
          <a:prstGeom prst="roundRect">
            <a:avLst>
              <a:gd name="adj" fmla="val 7754"/>
            </a:avLst>
          </a:prstGeom>
          <a:solidFill>
            <a:schemeClr val="bg2"/>
          </a:solidFill>
          <a:ln/>
        </p:spPr>
      </p:sp>
      <p:sp>
        <p:nvSpPr>
          <p:cNvPr id="23" name="Term Leverage name"/>
          <p:cNvSpPr txBox="1"/>
          <p:nvPr/>
        </p:nvSpPr>
        <p:spPr>
          <a:xfrm>
            <a:off x="694944" y="4035552"/>
            <a:ext cx="1600200" cy="943356"/>
          </a:xfrm>
          <a:prstGeom prst="rect">
            <a:avLst/>
          </a:prstGeom>
          <a:noFill/>
          <a:ln/>
        </p:spPr>
        <p:txBody>
          <a:bodyPr wrap="square" lIns="0" tIns="0" rIns="0" bIns="0" rtlCol="0" anchor="ctr"/>
          <a:lstStyle/>
          <a:p>
            <a:pPr algn="l" indent="0" marL="0">
              <a:buNone/>
            </a:pPr>
            <a:r>
              <a:rPr lang="en-US" sz="1500" b="1" dirty="0">
                <a:solidFill>
                  <a:schemeClr val="tx2"/>
                </a:solidFill>
              </a:rPr>
              <a:t>Leverage</a:t>
            </a:r>
            <a:endParaRPr lang="en-US" sz="1500" dirty="0"/>
          </a:p>
        </p:txBody>
      </p:sp>
      <p:sp>
        <p:nvSpPr>
          <p:cNvPr id="24" name="Term Leverage meaning"/>
          <p:cNvSpPr txBox="1"/>
          <p:nvPr/>
        </p:nvSpPr>
        <p:spPr>
          <a:xfrm>
            <a:off x="2386584" y="4035552"/>
            <a:ext cx="3425800" cy="943356"/>
          </a:xfrm>
          <a:prstGeom prst="rect">
            <a:avLst/>
          </a:prstGeom>
          <a:noFill/>
          <a:ln/>
        </p:spPr>
        <p:txBody>
          <a:bodyPr wrap="square" lIns="0" tIns="0" rIns="0" bIns="0" rtlCol="0" anchor="ctr"/>
          <a:lstStyle/>
          <a:p>
            <a:pPr algn="l" indent="0" marL="0">
              <a:buNone/>
            </a:pPr>
            <a:r>
              <a:rPr lang="en-US" sz="1400" dirty="0">
                <a:solidFill>
                  <a:schemeClr val="tx1"/>
                </a:solidFill>
              </a:rPr>
              <a:t>How much bigger the trade is than the money behind it. At 1:10, 1 unit of money controls 10.</a:t>
            </a:r>
            <a:endParaRPr lang="en-US" sz="1400" dirty="0"/>
          </a:p>
        </p:txBody>
      </p:sp>
      <p:sp>
        <p:nvSpPr>
          <p:cNvPr id="25" name="Term Margin"/>
          <p:cNvSpPr/>
          <p:nvPr/>
        </p:nvSpPr>
        <p:spPr>
          <a:xfrm>
            <a:off x="6233008" y="4035552"/>
            <a:ext cx="5410048" cy="943356"/>
          </a:xfrm>
          <a:prstGeom prst="roundRect">
            <a:avLst>
              <a:gd name="adj" fmla="val 7754"/>
            </a:avLst>
          </a:prstGeom>
          <a:solidFill>
            <a:schemeClr val="bg2"/>
          </a:solidFill>
          <a:ln/>
        </p:spPr>
      </p:sp>
      <p:sp>
        <p:nvSpPr>
          <p:cNvPr id="26" name="Term Margin name"/>
          <p:cNvSpPr txBox="1"/>
          <p:nvPr/>
        </p:nvSpPr>
        <p:spPr>
          <a:xfrm>
            <a:off x="6379312" y="4035552"/>
            <a:ext cx="1600200" cy="943356"/>
          </a:xfrm>
          <a:prstGeom prst="rect">
            <a:avLst/>
          </a:prstGeom>
          <a:noFill/>
          <a:ln/>
        </p:spPr>
        <p:txBody>
          <a:bodyPr wrap="square" lIns="0" tIns="0" rIns="0" bIns="0" rtlCol="0" anchor="ctr"/>
          <a:lstStyle/>
          <a:p>
            <a:pPr algn="l" indent="0" marL="0">
              <a:buNone/>
            </a:pPr>
            <a:r>
              <a:rPr lang="en-US" sz="1500" b="1" dirty="0">
                <a:solidFill>
                  <a:schemeClr val="tx2"/>
                </a:solidFill>
              </a:rPr>
              <a:t>Margin</a:t>
            </a:r>
            <a:endParaRPr lang="en-US" sz="1500" dirty="0"/>
          </a:p>
        </p:txBody>
      </p:sp>
      <p:sp>
        <p:nvSpPr>
          <p:cNvPr id="27" name="Term Margin meaning"/>
          <p:cNvSpPr txBox="1"/>
          <p:nvPr/>
        </p:nvSpPr>
        <p:spPr>
          <a:xfrm>
            <a:off x="8070952" y="4035552"/>
            <a:ext cx="3425800" cy="943356"/>
          </a:xfrm>
          <a:prstGeom prst="rect">
            <a:avLst/>
          </a:prstGeom>
          <a:noFill/>
          <a:ln/>
        </p:spPr>
        <p:txBody>
          <a:bodyPr wrap="square" lIns="0" tIns="0" rIns="0" bIns="0" rtlCol="0" anchor="ctr"/>
          <a:lstStyle/>
          <a:p>
            <a:pPr algn="l" indent="0" marL="0">
              <a:buNone/>
            </a:pPr>
            <a:r>
              <a:rPr lang="en-US" sz="1400" dirty="0">
                <a:solidFill>
                  <a:schemeClr val="tx1"/>
                </a:solidFill>
              </a:rPr>
              <a:t>The money a trade ties up while it is open.</a:t>
            </a:r>
            <a:endParaRPr lang="en-US" sz="1400" dirty="0"/>
          </a:p>
        </p:txBody>
      </p:sp>
      <p:sp>
        <p:nvSpPr>
          <p:cNvPr id="28" name="Term Margin %"/>
          <p:cNvSpPr/>
          <p:nvPr/>
        </p:nvSpPr>
        <p:spPr>
          <a:xfrm>
            <a:off x="548640" y="5125212"/>
            <a:ext cx="5410048" cy="726440"/>
          </a:xfrm>
          <a:prstGeom prst="roundRect">
            <a:avLst>
              <a:gd name="adj" fmla="val 10070"/>
            </a:avLst>
          </a:prstGeom>
          <a:solidFill>
            <a:schemeClr val="bg2"/>
          </a:solidFill>
          <a:ln/>
        </p:spPr>
      </p:sp>
      <p:sp>
        <p:nvSpPr>
          <p:cNvPr id="29" name="Term Margin % name"/>
          <p:cNvSpPr txBox="1"/>
          <p:nvPr/>
        </p:nvSpPr>
        <p:spPr>
          <a:xfrm>
            <a:off x="694944" y="5125212"/>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Margin %</a:t>
            </a:r>
            <a:endParaRPr lang="en-US" sz="1500" dirty="0"/>
          </a:p>
        </p:txBody>
      </p:sp>
      <p:sp>
        <p:nvSpPr>
          <p:cNvPr id="30" name="Term Margin % meaning"/>
          <p:cNvSpPr txBox="1"/>
          <p:nvPr/>
        </p:nvSpPr>
        <p:spPr>
          <a:xfrm>
            <a:off x="2386584" y="5125212"/>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Margin compared with the account size. 72% = the trade used 72% of the account.</a:t>
            </a:r>
            <a:endParaRPr lang="en-US" sz="1400" dirty="0"/>
          </a:p>
        </p:txBody>
      </p:sp>
      <p:sp>
        <p:nvSpPr>
          <p:cNvPr id="31" name="Term Overlap"/>
          <p:cNvSpPr/>
          <p:nvPr/>
        </p:nvSpPr>
        <p:spPr>
          <a:xfrm>
            <a:off x="6233008" y="5125212"/>
            <a:ext cx="5410048" cy="726440"/>
          </a:xfrm>
          <a:prstGeom prst="roundRect">
            <a:avLst>
              <a:gd name="adj" fmla="val 10070"/>
            </a:avLst>
          </a:prstGeom>
          <a:solidFill>
            <a:schemeClr val="bg2"/>
          </a:solidFill>
          <a:ln/>
        </p:spPr>
      </p:sp>
      <p:sp>
        <p:nvSpPr>
          <p:cNvPr id="32" name="Term Overlap name"/>
          <p:cNvSpPr txBox="1"/>
          <p:nvPr/>
        </p:nvSpPr>
        <p:spPr>
          <a:xfrm>
            <a:off x="6379312" y="5125212"/>
            <a:ext cx="1600200" cy="726440"/>
          </a:xfrm>
          <a:prstGeom prst="rect">
            <a:avLst/>
          </a:prstGeom>
          <a:noFill/>
          <a:ln/>
        </p:spPr>
        <p:txBody>
          <a:bodyPr wrap="square" lIns="0" tIns="0" rIns="0" bIns="0" rtlCol="0" anchor="ctr"/>
          <a:lstStyle/>
          <a:p>
            <a:pPr algn="l" indent="0" marL="0">
              <a:buNone/>
            </a:pPr>
            <a:r>
              <a:rPr lang="en-US" sz="1500" b="1" dirty="0">
                <a:solidFill>
                  <a:schemeClr val="tx2"/>
                </a:solidFill>
              </a:rPr>
              <a:t>Overlap</a:t>
            </a:r>
            <a:endParaRPr lang="en-US" sz="1500" dirty="0"/>
          </a:p>
        </p:txBody>
      </p:sp>
      <p:sp>
        <p:nvSpPr>
          <p:cNvPr id="33" name="Term Overlap meaning"/>
          <p:cNvSpPr txBox="1"/>
          <p:nvPr/>
        </p:nvSpPr>
        <p:spPr>
          <a:xfrm>
            <a:off x="8070952" y="5125212"/>
            <a:ext cx="3425800" cy="726440"/>
          </a:xfrm>
          <a:prstGeom prst="rect">
            <a:avLst/>
          </a:prstGeom>
          <a:noFill/>
          <a:ln/>
        </p:spPr>
        <p:txBody>
          <a:bodyPr wrap="square" lIns="0" tIns="0" rIns="0" bIns="0" rtlCol="0" anchor="ctr"/>
          <a:lstStyle/>
          <a:p>
            <a:pPr algn="l" indent="0" marL="0">
              <a:buNone/>
            </a:pPr>
            <a:r>
              <a:rPr lang="en-US" sz="1400" dirty="0">
                <a:solidFill>
                  <a:schemeClr val="tx1"/>
                </a:solidFill>
              </a:rPr>
              <a:t>Two or more trades that were open at the same time.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BASICS  ·  HOW MARGIN IS WORKED OUT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How the app works out margin — in 3 steps</a:t>
            </a:r>
            <a:endParaRPr lang="en-US" sz="2600" dirty="0"/>
          </a:p>
        </p:txBody>
      </p:sp>
      <p:sp>
        <p:nvSpPr>
          <p:cNvPr id="4" name="Step 1"/>
          <p:cNvSpPr/>
          <p:nvPr/>
        </p:nvSpPr>
        <p:spPr>
          <a:xfrm>
            <a:off x="548640" y="1417320"/>
            <a:ext cx="6400800" cy="1022350"/>
          </a:xfrm>
          <a:prstGeom prst="roundRect">
            <a:avLst>
              <a:gd name="adj" fmla="val 8944"/>
            </a:avLst>
          </a:prstGeom>
          <a:solidFill>
            <a:schemeClr val="bg2"/>
          </a:solidFill>
          <a:ln/>
        </p:spPr>
      </p:sp>
      <p:sp>
        <p:nvSpPr>
          <p:cNvPr id="5" name="Callout 1"/>
          <p:cNvSpPr/>
          <p:nvPr/>
        </p:nvSpPr>
        <p:spPr>
          <a:xfrm>
            <a:off x="731520" y="1581912"/>
            <a:ext cx="402336" cy="402336"/>
          </a:xfrm>
          <a:prstGeom prst="ellipse">
            <a:avLst/>
          </a:prstGeom>
          <a:solidFill>
            <a:schemeClr val="accent1"/>
          </a:solidFill>
          <a:ln w="15875">
            <a:solidFill>
              <a:srgbClr val="FFFFFF"/>
            </a:solidFill>
            <a:prstDash val="solid"/>
          </a:ln>
        </p:spPr>
      </p:sp>
      <p:sp>
        <p:nvSpPr>
          <p:cNvPr id="6" name="Callout 1 number"/>
          <p:cNvSpPr txBox="1"/>
          <p:nvPr/>
        </p:nvSpPr>
        <p:spPr>
          <a:xfrm>
            <a:off x="731520" y="158191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Step 1 text"/>
          <p:cNvSpPr txBox="1"/>
          <p:nvPr/>
        </p:nvSpPr>
        <p:spPr>
          <a:xfrm>
            <a:off x="1280160" y="1554480"/>
            <a:ext cx="5532120" cy="788759"/>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How big is the trade?</a:t>
            </a:r>
            <a:endParaRPr lang="en-US" sz="1600" dirty="0"/>
          </a:p>
          <a:p>
            <a:pPr algn="l" indent="0" marL="0">
              <a:spcAft>
                <a:spcPts val="200"/>
              </a:spcAft>
              <a:buNone/>
            </a:pPr>
            <a:r>
              <a:rPr lang="en-US" sz="1500" b="1" dirty="0">
                <a:solidFill>
                  <a:schemeClr val="tx2"/>
                </a:solidFill>
              </a:rPr>
              <a:t>Open price × Lots × Contract size</a:t>
            </a:r>
            <a:endParaRPr lang="en-US" sz="1600" dirty="0"/>
          </a:p>
          <a:p>
            <a:pPr algn="l" indent="0" marL="0">
              <a:buNone/>
            </a:pPr>
            <a:r>
              <a:rPr lang="en-US" sz="1400" dirty="0">
                <a:solidFill>
                  <a:schemeClr val="accent6"/>
                </a:solidFill>
              </a:rPr>
              <a:t>Example:  </a:t>
            </a:r>
            <a:r>
              <a:rPr lang="en-US" sz="1400" b="1" dirty="0">
                <a:solidFill>
                  <a:schemeClr val="accent6"/>
                </a:solidFill>
              </a:rPr>
              <a:t>2,400 × 0.30 × 100 = 72,000</a:t>
            </a:r>
            <a:endParaRPr lang="en-US" sz="1600" dirty="0"/>
          </a:p>
        </p:txBody>
      </p:sp>
      <p:sp>
        <p:nvSpPr>
          <p:cNvPr id="8" name="Step 2"/>
          <p:cNvSpPr/>
          <p:nvPr/>
        </p:nvSpPr>
        <p:spPr>
          <a:xfrm>
            <a:off x="548640" y="2604262"/>
            <a:ext cx="6400800" cy="1022350"/>
          </a:xfrm>
          <a:prstGeom prst="roundRect">
            <a:avLst>
              <a:gd name="adj" fmla="val 8944"/>
            </a:avLst>
          </a:prstGeom>
          <a:solidFill>
            <a:schemeClr val="bg2"/>
          </a:solidFill>
          <a:ln/>
        </p:spPr>
      </p:sp>
      <p:sp>
        <p:nvSpPr>
          <p:cNvPr id="9" name="Callout 2"/>
          <p:cNvSpPr/>
          <p:nvPr/>
        </p:nvSpPr>
        <p:spPr>
          <a:xfrm>
            <a:off x="731520" y="2768854"/>
            <a:ext cx="402336" cy="402336"/>
          </a:xfrm>
          <a:prstGeom prst="ellipse">
            <a:avLst/>
          </a:prstGeom>
          <a:solidFill>
            <a:schemeClr val="accent1"/>
          </a:solidFill>
          <a:ln w="15875">
            <a:solidFill>
              <a:srgbClr val="FFFFFF"/>
            </a:solidFill>
            <a:prstDash val="solid"/>
          </a:ln>
        </p:spPr>
      </p:sp>
      <p:sp>
        <p:nvSpPr>
          <p:cNvPr id="10" name="Callout 2 number"/>
          <p:cNvSpPr txBox="1"/>
          <p:nvPr/>
        </p:nvSpPr>
        <p:spPr>
          <a:xfrm>
            <a:off x="731520" y="2768854"/>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Step 2 text"/>
          <p:cNvSpPr txBox="1"/>
          <p:nvPr/>
        </p:nvSpPr>
        <p:spPr>
          <a:xfrm>
            <a:off x="1280160" y="2741422"/>
            <a:ext cx="5532120" cy="788759"/>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How much money does it tie up?</a:t>
            </a:r>
            <a:endParaRPr lang="en-US" sz="1600" dirty="0"/>
          </a:p>
          <a:p>
            <a:pPr algn="l" indent="0" marL="0">
              <a:spcAft>
                <a:spcPts val="200"/>
              </a:spcAft>
              <a:buNone/>
            </a:pPr>
            <a:r>
              <a:rPr lang="en-US" sz="1500" b="1" dirty="0">
                <a:solidFill>
                  <a:schemeClr val="tx2"/>
                </a:solidFill>
              </a:rPr>
              <a:t>Trade size ÷ Leverage  →  this is the margin</a:t>
            </a:r>
            <a:endParaRPr lang="en-US" sz="1600" dirty="0"/>
          </a:p>
          <a:p>
            <a:pPr algn="l" indent="0" marL="0">
              <a:buNone/>
            </a:pPr>
            <a:r>
              <a:rPr lang="en-US" sz="1400" dirty="0">
                <a:solidFill>
                  <a:schemeClr val="accent6"/>
                </a:solidFill>
              </a:rPr>
              <a:t>Example:  </a:t>
            </a:r>
            <a:r>
              <a:rPr lang="en-US" sz="1400" b="1" dirty="0">
                <a:solidFill>
                  <a:schemeClr val="accent6"/>
                </a:solidFill>
              </a:rPr>
              <a:t>72,000 ÷ 10 = 7,200</a:t>
            </a:r>
            <a:endParaRPr lang="en-US" sz="1600" dirty="0"/>
          </a:p>
        </p:txBody>
      </p:sp>
      <p:sp>
        <p:nvSpPr>
          <p:cNvPr id="12" name="Step 3"/>
          <p:cNvSpPr/>
          <p:nvPr/>
        </p:nvSpPr>
        <p:spPr>
          <a:xfrm>
            <a:off x="548640" y="3791204"/>
            <a:ext cx="6400800" cy="1022350"/>
          </a:xfrm>
          <a:prstGeom prst="roundRect">
            <a:avLst>
              <a:gd name="adj" fmla="val 8944"/>
            </a:avLst>
          </a:prstGeom>
          <a:solidFill>
            <a:schemeClr val="bg2"/>
          </a:solidFill>
          <a:ln/>
        </p:spPr>
      </p:sp>
      <p:sp>
        <p:nvSpPr>
          <p:cNvPr id="13" name="Callout 3"/>
          <p:cNvSpPr/>
          <p:nvPr/>
        </p:nvSpPr>
        <p:spPr>
          <a:xfrm>
            <a:off x="731520" y="3955796"/>
            <a:ext cx="402336" cy="402336"/>
          </a:xfrm>
          <a:prstGeom prst="ellipse">
            <a:avLst/>
          </a:prstGeom>
          <a:solidFill>
            <a:schemeClr val="accent1"/>
          </a:solidFill>
          <a:ln w="15875">
            <a:solidFill>
              <a:srgbClr val="FFFFFF"/>
            </a:solidFill>
            <a:prstDash val="solid"/>
          </a:ln>
        </p:spPr>
      </p:sp>
      <p:sp>
        <p:nvSpPr>
          <p:cNvPr id="14" name="Callout 3 number"/>
          <p:cNvSpPr txBox="1"/>
          <p:nvPr/>
        </p:nvSpPr>
        <p:spPr>
          <a:xfrm>
            <a:off x="731520" y="3955796"/>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Step 3 text"/>
          <p:cNvSpPr txBox="1"/>
          <p:nvPr/>
        </p:nvSpPr>
        <p:spPr>
          <a:xfrm>
            <a:off x="1280160" y="3928364"/>
            <a:ext cx="5532120" cy="788759"/>
          </a:xfrm>
          <a:prstGeom prst="rect">
            <a:avLst/>
          </a:prstGeom>
          <a:noFill/>
          <a:ln/>
        </p:spPr>
        <p:txBody>
          <a:bodyPr wrap="square" lIns="0" tIns="0" rIns="0" bIns="0" rtlCol="0" anchor="t"/>
          <a:lstStyle/>
          <a:p>
            <a:pPr algn="l" indent="0" marL="0">
              <a:spcAft>
                <a:spcPts val="200"/>
              </a:spcAft>
              <a:buNone/>
            </a:pPr>
            <a:r>
              <a:rPr lang="en-US" sz="1600" b="1" dirty="0">
                <a:solidFill>
                  <a:schemeClr val="tx1"/>
                </a:solidFill>
              </a:rPr>
              <a:t>What share of the account is that?</a:t>
            </a:r>
            <a:endParaRPr lang="en-US" sz="1600" dirty="0"/>
          </a:p>
          <a:p>
            <a:pPr algn="l" indent="0" marL="0">
              <a:spcAft>
                <a:spcPts val="200"/>
              </a:spcAft>
              <a:buNone/>
            </a:pPr>
            <a:r>
              <a:rPr lang="en-US" sz="1500" b="1" dirty="0">
                <a:solidFill>
                  <a:schemeClr val="tx2"/>
                </a:solidFill>
              </a:rPr>
              <a:t>Margin ÷ Account size × 100  →  Margin %</a:t>
            </a:r>
            <a:endParaRPr lang="en-US" sz="1600" dirty="0"/>
          </a:p>
          <a:p>
            <a:pPr algn="l" indent="0" marL="0">
              <a:buNone/>
            </a:pPr>
            <a:r>
              <a:rPr lang="en-US" sz="1400" dirty="0">
                <a:solidFill>
                  <a:schemeClr val="accent6"/>
                </a:solidFill>
              </a:rPr>
              <a:t>Example:  </a:t>
            </a:r>
            <a:r>
              <a:rPr lang="en-US" sz="1400" b="1" dirty="0">
                <a:solidFill>
                  <a:schemeClr val="accent6"/>
                </a:solidFill>
              </a:rPr>
              <a:t>7,200 ÷ 10,000 × 100 = 72%</a:t>
            </a:r>
            <a:endParaRPr lang="en-US" sz="1600" dirty="0"/>
          </a:p>
        </p:txBody>
      </p:sp>
      <p:sp>
        <p:nvSpPr>
          <p:cNvPr id="16" name="Currency note"/>
          <p:cNvSpPr txBox="1"/>
          <p:nvPr/>
        </p:nvSpPr>
        <p:spPr>
          <a:xfrm>
            <a:off x="548640" y="5069586"/>
            <a:ext cx="6400800" cy="924016"/>
          </a:xfrm>
          <a:prstGeom prst="roundRect">
            <a:avLst>
              <a:gd name="adj" fmla="val 7917"/>
            </a:avLst>
          </a:prstGeom>
          <a:solidFill>
            <a:srgbClr val="FFF7D1"/>
          </a:solidFill>
          <a:ln/>
        </p:spPr>
        <p:txBody>
          <a:bodyPr wrap="square" lIns="152400" tIns="114300" rIns="152400" bIns="114300" rtlCol="0" anchor="t"/>
          <a:lstStyle/>
          <a:p>
            <a:pPr algn="l" indent="0" marL="0">
              <a:buNone/>
            </a:pPr>
            <a:r>
              <a:rPr lang="en-US" sz="1400" b="1" dirty="0">
                <a:solidFill>
                  <a:schemeClr val="tx1"/>
                </a:solidFill>
              </a:rPr>
              <a:t>Good to know: </a:t>
            </a:r>
            <a:r>
              <a:rPr lang="en-US" sz="1400" dirty="0">
                <a:solidFill>
                  <a:schemeClr val="tx1"/>
                </a:solidFill>
              </a:rPr>
              <a:t>for instruments not priced in the account's currency (e.g. EURGBP), the app also converts the margin using the trade's own profit. Here that factor is ×1.00.</a:t>
            </a:r>
            <a:endParaRPr lang="en-US" sz="1400" dirty="0"/>
          </a:p>
        </p:txBody>
      </p:sp>
      <p:sp>
        <p:nvSpPr>
          <p:cNvPr id="17" name="Example card"/>
          <p:cNvSpPr/>
          <p:nvPr/>
        </p:nvSpPr>
        <p:spPr>
          <a:xfrm>
            <a:off x="7269480" y="1417320"/>
            <a:ext cx="4373575" cy="4846320"/>
          </a:xfrm>
          <a:prstGeom prst="roundRect">
            <a:avLst>
              <a:gd name="adj" fmla="val 2091"/>
            </a:avLst>
          </a:prstGeom>
          <a:solidFill>
            <a:schemeClr val="tx2"/>
          </a:solidFill>
          <a:ln/>
        </p:spPr>
      </p:sp>
      <p:sp>
        <p:nvSpPr>
          <p:cNvPr id="18" name="Example text"/>
          <p:cNvSpPr txBox="1"/>
          <p:nvPr/>
        </p:nvSpPr>
        <p:spPr>
          <a:xfrm>
            <a:off x="7543800" y="1645920"/>
            <a:ext cx="3824935" cy="2992384"/>
          </a:xfrm>
          <a:prstGeom prst="rect">
            <a:avLst/>
          </a:prstGeom>
          <a:noFill/>
          <a:ln/>
        </p:spPr>
        <p:txBody>
          <a:bodyPr wrap="square" lIns="0" tIns="0" rIns="0" bIns="0" rtlCol="0" anchor="t"/>
          <a:lstStyle/>
          <a:p>
            <a:pPr algn="l" indent="0" marL="0">
              <a:spcAft>
                <a:spcPts val="800"/>
              </a:spcAft>
              <a:buNone/>
            </a:pPr>
            <a:r>
              <a:rPr lang="en-US" sz="1200" b="1" dirty="0">
                <a:solidFill>
                  <a:schemeClr val="accent1"/>
                </a:solidFill>
              </a:rPr>
              <a:t>EXAMPLE  ·  ACCOUNT DEMO-02, TRADE 6202</a:t>
            </a:r>
            <a:endParaRPr lang="en-US" sz="1200" dirty="0"/>
          </a:p>
          <a:p>
            <a:pPr algn="l" indent="0" marL="0">
              <a:spcAft>
                <a:spcPts val="1200"/>
              </a:spcAft>
              <a:buNone/>
            </a:pPr>
            <a:r>
              <a:rPr lang="en-US" sz="1900" b="1" dirty="0">
                <a:solidFill>
                  <a:schemeClr val="bg1"/>
                </a:solidFill>
              </a:rPr>
              <a:t>Gold (XAUUSD) · Buy 0.30 lots</a:t>
            </a:r>
            <a:endParaRPr lang="en-US" sz="1200" dirty="0"/>
          </a:p>
          <a:p>
            <a:pPr algn="l" indent="0" marL="0">
              <a:spcAft>
                <a:spcPts val="500"/>
              </a:spcAft>
              <a:buNone/>
            </a:pPr>
            <a:r>
              <a:rPr lang="en-US" sz="1500" dirty="0">
                <a:solidFill>
                  <a:srgbClr val="9FB2C6"/>
                </a:solidFill>
              </a:rPr>
              <a:t>Account size  </a:t>
            </a:r>
            <a:pPr algn="l" indent="0" marL="0">
              <a:spcAft>
                <a:spcPts val="500"/>
              </a:spcAft>
              <a:buNone/>
            </a:pPr>
            <a:r>
              <a:rPr lang="en-US" sz="1500" b="1" dirty="0">
                <a:solidFill>
                  <a:schemeClr val="bg1"/>
                </a:solidFill>
              </a:rPr>
              <a:t>10,000</a:t>
            </a:r>
            <a:endParaRPr lang="en-US" sz="1200" dirty="0"/>
          </a:p>
          <a:p>
            <a:pPr algn="l" indent="0" marL="0">
              <a:spcAft>
                <a:spcPts val="500"/>
              </a:spcAft>
              <a:buNone/>
            </a:pPr>
            <a:r>
              <a:rPr lang="en-US" sz="1500" dirty="0">
                <a:solidFill>
                  <a:srgbClr val="9FB2C6"/>
                </a:solidFill>
              </a:rPr>
              <a:t>Plan  </a:t>
            </a:r>
            <a:pPr algn="l" indent="0" marL="0">
              <a:spcAft>
                <a:spcPts val="500"/>
              </a:spcAft>
              <a:buNone/>
            </a:pPr>
            <a:r>
              <a:rPr lang="en-US" sz="1500" b="1" dirty="0">
                <a:solidFill>
                  <a:schemeClr val="bg1"/>
                </a:solidFill>
              </a:rPr>
              <a:t>2-Step Prime Funded</a:t>
            </a:r>
            <a:endParaRPr lang="en-US" sz="1200" dirty="0"/>
          </a:p>
          <a:p>
            <a:pPr algn="l" indent="0" marL="0">
              <a:spcAft>
                <a:spcPts val="500"/>
              </a:spcAft>
              <a:buNone/>
            </a:pPr>
            <a:r>
              <a:rPr lang="en-US" sz="1500" dirty="0">
                <a:solidFill>
                  <a:srgbClr val="9FB2C6"/>
                </a:solidFill>
              </a:rPr>
              <a:t>Leverage  </a:t>
            </a:r>
            <a:pPr algn="l" indent="0" marL="0">
              <a:spcAft>
                <a:spcPts val="500"/>
              </a:spcAft>
              <a:buNone/>
            </a:pPr>
            <a:r>
              <a:rPr lang="en-US" sz="1500" b="1" dirty="0">
                <a:solidFill>
                  <a:schemeClr val="bg1"/>
                </a:solidFill>
              </a:rPr>
              <a:t>1:10 (from the Prime tab)</a:t>
            </a:r>
            <a:endParaRPr lang="en-US" sz="1200" dirty="0"/>
          </a:p>
          <a:p>
            <a:pPr algn="l" indent="0" marL="0">
              <a:spcAft>
                <a:spcPts val="500"/>
              </a:spcAft>
              <a:buNone/>
            </a:pPr>
            <a:r>
              <a:rPr lang="en-US" sz="1500" dirty="0">
                <a:solidFill>
                  <a:srgbClr val="9FB2C6"/>
                </a:solidFill>
              </a:rPr>
              <a:t>Open price  </a:t>
            </a:r>
            <a:pPr algn="l" indent="0" marL="0">
              <a:spcAft>
                <a:spcPts val="500"/>
              </a:spcAft>
              <a:buNone/>
            </a:pPr>
            <a:r>
              <a:rPr lang="en-US" sz="1500" b="1" dirty="0">
                <a:solidFill>
                  <a:schemeClr val="bg1"/>
                </a:solidFill>
              </a:rPr>
              <a:t>2,400.00</a:t>
            </a:r>
            <a:endParaRPr lang="en-US" sz="1200" dirty="0"/>
          </a:p>
          <a:p>
            <a:pPr algn="l" indent="0" marL="0">
              <a:spcAft>
                <a:spcPts val="1400"/>
              </a:spcAft>
              <a:buNone/>
            </a:pPr>
            <a:r>
              <a:rPr lang="en-US" sz="1500" dirty="0">
                <a:solidFill>
                  <a:srgbClr val="9FB2C6"/>
                </a:solidFill>
              </a:rPr>
              <a:t>Contract size  </a:t>
            </a:r>
            <a:pPr algn="l" indent="0" marL="0">
              <a:spcAft>
                <a:spcPts val="1400"/>
              </a:spcAft>
              <a:buNone/>
            </a:pPr>
            <a:r>
              <a:rPr lang="en-US" sz="1500" b="1" dirty="0">
                <a:solidFill>
                  <a:schemeClr val="bg1"/>
                </a:solidFill>
              </a:rPr>
              <a:t>100 (gold)</a:t>
            </a:r>
            <a:endParaRPr lang="en-US" sz="1200" dirty="0"/>
          </a:p>
          <a:p>
            <a:pPr algn="l" indent="0" marL="0">
              <a:spcAft>
                <a:spcPts val="500"/>
              </a:spcAft>
              <a:buNone/>
            </a:pPr>
            <a:r>
              <a:rPr lang="en-US" sz="1600" dirty="0">
                <a:solidFill>
                  <a:srgbClr val="9FB2C6"/>
                </a:solidFill>
              </a:rPr>
              <a:t>Trade size  </a:t>
            </a:r>
            <a:pPr algn="l" indent="0" marL="0">
              <a:spcAft>
                <a:spcPts val="500"/>
              </a:spcAft>
              <a:buNone/>
            </a:pPr>
            <a:r>
              <a:rPr lang="en-US" sz="1600" b="1" dirty="0">
                <a:solidFill>
                  <a:schemeClr val="bg1"/>
                </a:solidFill>
              </a:rPr>
              <a:t>72,000</a:t>
            </a:r>
            <a:endParaRPr lang="en-US" sz="1200" dirty="0"/>
          </a:p>
          <a:p>
            <a:pPr algn="l" indent="0" marL="0">
              <a:buNone/>
            </a:pPr>
            <a:r>
              <a:rPr lang="en-US" sz="1600" dirty="0">
                <a:solidFill>
                  <a:srgbClr val="9FB2C6"/>
                </a:solidFill>
              </a:rPr>
              <a:t>Margin  </a:t>
            </a:r>
            <a:r>
              <a:rPr lang="en-US" sz="1600" b="1" dirty="0">
                <a:solidFill>
                  <a:schemeClr val="bg1"/>
                </a:solidFill>
              </a:rPr>
              <a:t>7,200</a:t>
            </a:r>
            <a:endParaRPr lang="en-US" sz="1200" dirty="0"/>
          </a:p>
        </p:txBody>
      </p:sp>
      <p:sp>
        <p:nvSpPr>
          <p:cNvPr id="19" name="72 percent chip"/>
          <p:cNvSpPr/>
          <p:nvPr/>
        </p:nvSpPr>
        <p:spPr>
          <a:xfrm>
            <a:off x="7543800" y="5029200"/>
            <a:ext cx="1600200" cy="960120"/>
          </a:xfrm>
          <a:prstGeom prst="roundRect">
            <a:avLst>
              <a:gd name="adj" fmla="val 9524"/>
            </a:avLst>
          </a:prstGeom>
          <a:solidFill>
            <a:schemeClr val="accent2"/>
          </a:solidFill>
          <a:ln/>
        </p:spPr>
      </p:sp>
      <p:sp>
        <p:nvSpPr>
          <p:cNvPr id="20" name="72%"/>
          <p:cNvSpPr txBox="1"/>
          <p:nvPr/>
        </p:nvSpPr>
        <p:spPr>
          <a:xfrm>
            <a:off x="7543800" y="5029200"/>
            <a:ext cx="1600200" cy="960120"/>
          </a:xfrm>
          <a:prstGeom prst="rect">
            <a:avLst/>
          </a:prstGeom>
          <a:noFill/>
          <a:ln/>
        </p:spPr>
        <p:txBody>
          <a:bodyPr wrap="square" lIns="0" tIns="0" rIns="0" bIns="0" rtlCol="0" anchor="ctr"/>
          <a:lstStyle/>
          <a:p>
            <a:pPr algn="ctr" indent="0" marL="0">
              <a:buNone/>
            </a:pPr>
            <a:r>
              <a:rPr lang="en-US" sz="4000" b="1" dirty="0">
                <a:solidFill>
                  <a:schemeClr val="tx1"/>
                </a:solidFill>
                <a:latin typeface="+mj-lt" pitchFamily="34" charset="0"/>
                <a:ea typeface="+mj-lt" pitchFamily="34" charset="-122"/>
                <a:cs typeface="+mj-lt" pitchFamily="34" charset="-120"/>
              </a:rPr>
              <a:t>72%</a:t>
            </a:r>
            <a:endParaRPr lang="en-US" sz="4000" dirty="0"/>
          </a:p>
        </p:txBody>
      </p:sp>
      <p:sp>
        <p:nvSpPr>
          <p:cNvPr id="21" name="72 percent text"/>
          <p:cNvSpPr txBox="1"/>
          <p:nvPr/>
        </p:nvSpPr>
        <p:spPr>
          <a:xfrm>
            <a:off x="9326880" y="5029200"/>
            <a:ext cx="2041855" cy="960120"/>
          </a:xfrm>
          <a:prstGeom prst="rect">
            <a:avLst/>
          </a:prstGeom>
          <a:noFill/>
          <a:ln/>
        </p:spPr>
        <p:txBody>
          <a:bodyPr wrap="square" lIns="0" tIns="0" rIns="0" bIns="0" rtlCol="0" anchor="ctr"/>
          <a:lstStyle/>
          <a:p>
            <a:pPr algn="l" indent="0" marL="0">
              <a:buNone/>
            </a:pPr>
            <a:r>
              <a:rPr lang="en-US" sz="1400" dirty="0">
                <a:solidFill>
                  <a:schemeClr val="bg1"/>
                </a:solidFill>
              </a:rPr>
              <a:t>of the account — more than 70%, so this row turns yellow.</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286000"/>
            <a:ext cx="7315200" cy="365760"/>
          </a:xfrm>
          <a:prstGeom prst="rect">
            <a:avLst/>
          </a:prstGeom>
          <a:noFill/>
          <a:ln/>
        </p:spPr>
        <p:txBody>
          <a:bodyPr wrap="square" lIns="0" tIns="0" rIns="0" bIns="0" rtlCol="0" anchor="t"/>
          <a:lstStyle/>
          <a:p>
            <a:pPr indent="0" marL="0">
              <a:buNone/>
            </a:pPr>
            <a:r>
              <a:rPr lang="en-US" sz="1600" b="1" dirty="0">
                <a:solidFill>
                  <a:schemeClr val="accent1"/>
                </a:solidFill>
              </a:rPr>
              <a:t>PART 1</a:t>
            </a:r>
            <a:endParaRPr lang="en-US" sz="1600" dirty="0"/>
          </a:p>
        </p:txBody>
      </p:sp>
      <p:sp>
        <p:nvSpPr>
          <p:cNvPr id="3" name="Text 0"/>
          <p:cNvSpPr/>
          <p:nvPr>
            <p:ph idx="101" type="title" hasCustomPrompt="1"/>
          </p:nvPr>
        </p:nvSpPr>
        <p:spPr>
          <a:xfrm>
            <a:off x="822960" y="2697480"/>
            <a:ext cx="7315200" cy="1005840"/>
          </a:xfrm>
          <a:prstGeom prst="rect">
            <a:avLst/>
          </a:prstGeom>
          <a:noFill/>
          <a:ln/>
        </p:spPr>
        <p:txBody>
          <a:bodyPr wrap="square" lIns="0" tIns="0" rIns="0" bIns="0" rtlCol="0" anchor="t"/>
          <a:lstStyle/>
          <a:p>
            <a:pPr algn="l" indent="0" marL="0">
              <a:buNone/>
            </a:pPr>
            <a:r>
              <a:rPr lang="en-US" sz="4800" b="1" dirty="0">
                <a:solidFill>
                  <a:schemeClr val="bg1"/>
                </a:solidFill>
              </a:rPr>
              <a:t>Reading the screen</a:t>
            </a:r>
            <a:endParaRPr lang="en-US" sz="4800" dirty="0"/>
          </a:p>
        </p:txBody>
      </p:sp>
      <p:sp>
        <p:nvSpPr>
          <p:cNvPr id="4" name="Part number"/>
          <p:cNvSpPr txBox="1"/>
          <p:nvPr/>
        </p:nvSpPr>
        <p:spPr>
          <a:xfrm>
            <a:off x="7315200" y="1097280"/>
            <a:ext cx="4343400" cy="3566160"/>
          </a:xfrm>
          <a:prstGeom prst="rect">
            <a:avLst/>
          </a:prstGeom>
          <a:noFill/>
          <a:ln/>
        </p:spPr>
        <p:txBody>
          <a:bodyPr wrap="square" lIns="0" tIns="0" rIns="0" bIns="0" rtlCol="0" anchor="ctr"/>
          <a:lstStyle/>
          <a:p>
            <a:pPr algn="r" indent="0" marL="0">
              <a:buNone/>
            </a:pPr>
            <a:r>
              <a:rPr lang="en-US" sz="23000" b="1" dirty="0">
                <a:solidFill>
                  <a:srgbClr val="21466F"/>
                </a:solidFill>
                <a:latin typeface="+mj-lt" pitchFamily="34" charset="0"/>
                <a:ea typeface="+mj-lt" pitchFamily="34" charset="-122"/>
                <a:cs typeface="+mj-lt" pitchFamily="34" charset="-120"/>
              </a:rPr>
              <a:t>01</a:t>
            </a:r>
            <a:endParaRPr lang="en-US" sz="23000" dirty="0"/>
          </a:p>
        </p:txBody>
      </p:sp>
      <p:sp>
        <p:nvSpPr>
          <p:cNvPr id="5" name="Part subtitle"/>
          <p:cNvSpPr txBox="1"/>
          <p:nvPr/>
        </p:nvSpPr>
        <p:spPr>
          <a:xfrm>
            <a:off x="822960" y="3840480"/>
            <a:ext cx="7772400" cy="337464"/>
          </a:xfrm>
          <a:prstGeom prst="rect">
            <a:avLst/>
          </a:prstGeom>
          <a:noFill/>
          <a:ln/>
        </p:spPr>
        <p:txBody>
          <a:bodyPr wrap="square" lIns="0" tIns="0" rIns="0" bIns="0" rtlCol="0" anchor="t"/>
          <a:lstStyle/>
          <a:p>
            <a:pPr algn="l" indent="0" marL="0">
              <a:buNone/>
            </a:pPr>
            <a:r>
              <a:rPr lang="en-US" sz="2000" dirty="0">
                <a:solidFill>
                  <a:srgbClr val="C9D6E3"/>
                </a:solidFill>
              </a:rPr>
              <a:t>Follow along with DEMO-01, a healthy sample account</a:t>
            </a:r>
            <a:endParaRPr lang="en-US" sz="2000" dirty="0"/>
          </a:p>
        </p:txBody>
      </p:sp>
      <p:sp>
        <p:nvSpPr>
          <p:cNvPr id="6" name="Part contents"/>
          <p:cNvSpPr txBox="1"/>
          <p:nvPr/>
        </p:nvSpPr>
        <p:spPr>
          <a:xfrm>
            <a:off x="822960" y="5257800"/>
            <a:ext cx="10515600" cy="241711"/>
          </a:xfrm>
          <a:prstGeom prst="rect">
            <a:avLst/>
          </a:prstGeom>
          <a:noFill/>
          <a:ln/>
        </p:spPr>
        <p:txBody>
          <a:bodyPr wrap="square" lIns="0" tIns="0" rIns="0" bIns="0" rtlCol="0" anchor="t"/>
          <a:lstStyle/>
          <a:p>
            <a:pPr algn="l" indent="0" marL="0">
              <a:buNone/>
            </a:pPr>
            <a:r>
              <a:rPr lang="en-US" sz="1400" b="1" dirty="0">
                <a:solidFill>
                  <a:schemeClr val="accent1"/>
                </a:solidFill>
              </a:rPr>
              <a:t>Inside:  </a:t>
            </a:r>
            <a:r>
              <a:rPr lang="en-US" sz="1400" dirty="0">
                <a:solidFill>
                  <a:srgbClr val="9FB2C6"/>
                </a:solidFill>
              </a:rPr>
              <a:t>The screen ·   Login ID ·   Account header ·   Margin summary ·   Trades table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THE SCREEN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The screen, from top to bottom</a:t>
            </a:r>
            <a:endParaRPr lang="en-US" sz="2600" dirty="0"/>
          </a:p>
        </p:txBody>
      </p:sp>
      <p:sp>
        <p:nvSpPr>
          <p:cNvPr id="4" name="Frame demo01_page"/>
          <p:cNvSpPr/>
          <p:nvPr/>
        </p:nvSpPr>
        <p:spPr>
          <a:xfrm>
            <a:off x="548640" y="1371600"/>
            <a:ext cx="5319802" cy="489204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1_page" descr="Screenshot of the High Margin app: demo01_page">    </p:cNvPr>
          <p:cNvPicPr>
            <a:picLocks noChangeAspect="1"/>
          </p:cNvPicPr>
          <p:nvPr/>
        </p:nvPicPr>
        <p:blipFill>
          <a:blip r:embed="rId1"/>
          <a:stretch>
            <a:fillRect/>
          </a:stretch>
        </p:blipFill>
        <p:spPr>
          <a:xfrm>
            <a:off x="548640" y="1371600"/>
            <a:ext cx="5319802" cy="4892040"/>
          </a:xfrm>
          <a:prstGeom prst="rect">
            <a:avLst/>
          </a:prstGeom>
        </p:spPr>
      </p:pic>
      <p:sp>
        <p:nvSpPr>
          <p:cNvPr id="6" name="Callout 1"/>
          <p:cNvSpPr/>
          <p:nvPr/>
        </p:nvSpPr>
        <p:spPr>
          <a:xfrm>
            <a:off x="5414997" y="1898119"/>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5414997" y="189811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189229" y="2170331"/>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189229" y="217033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3652100" y="2458098"/>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3652100" y="245809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5414997" y="2789938"/>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5414997" y="278993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Callout 5"/>
          <p:cNvSpPr/>
          <p:nvPr/>
        </p:nvSpPr>
        <p:spPr>
          <a:xfrm>
            <a:off x="5414997" y="4309140"/>
            <a:ext cx="274320" cy="274320"/>
          </a:xfrm>
          <a:prstGeom prst="ellipse">
            <a:avLst/>
          </a:prstGeom>
          <a:solidFill>
            <a:schemeClr val="accent1"/>
          </a:solidFill>
          <a:ln w="15875">
            <a:solidFill>
              <a:srgbClr val="FFFFFF"/>
            </a:solidFill>
            <a:prstDash val="solid"/>
          </a:ln>
        </p:spPr>
      </p:sp>
      <p:sp>
        <p:nvSpPr>
          <p:cNvPr id="15" name="Callout 5 number"/>
          <p:cNvSpPr txBox="1"/>
          <p:nvPr/>
        </p:nvSpPr>
        <p:spPr>
          <a:xfrm>
            <a:off x="5414997" y="430914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6" name="Callout 6"/>
          <p:cNvSpPr/>
          <p:nvPr/>
        </p:nvSpPr>
        <p:spPr>
          <a:xfrm>
            <a:off x="5414997" y="5786863"/>
            <a:ext cx="274320" cy="274320"/>
          </a:xfrm>
          <a:prstGeom prst="ellipse">
            <a:avLst/>
          </a:prstGeom>
          <a:solidFill>
            <a:schemeClr val="accent1"/>
          </a:solidFill>
          <a:ln w="15875">
            <a:solidFill>
              <a:srgbClr val="FFFFFF"/>
            </a:solidFill>
            <a:prstDash val="solid"/>
          </a:ln>
        </p:spPr>
      </p:sp>
      <p:sp>
        <p:nvSpPr>
          <p:cNvPr id="17" name="Callout 6 number"/>
          <p:cNvSpPr txBox="1"/>
          <p:nvPr/>
        </p:nvSpPr>
        <p:spPr>
          <a:xfrm>
            <a:off x="5414997" y="578686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8" name="Callout text 1"/>
          <p:cNvSpPr txBox="1"/>
          <p:nvPr/>
        </p:nvSpPr>
        <p:spPr>
          <a:xfrm>
            <a:off x="6737122" y="1417320"/>
            <a:ext cx="4905933"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Login ID box</a:t>
            </a:r>
            <a:endParaRPr lang="en-US" sz="1500" dirty="0"/>
          </a:p>
          <a:p>
            <a:pPr algn="l" indent="0" marL="0">
              <a:buNone/>
            </a:pPr>
            <a:r>
              <a:rPr lang="en-US" sz="1400" dirty="0">
                <a:solidFill>
                  <a:schemeClr val="tx1"/>
                </a:solidFill>
              </a:rPr>
              <a:t>Where you type the account number. The only place you type.</a:t>
            </a:r>
            <a:endParaRPr lang="en-US" sz="1500" dirty="0"/>
          </a:p>
        </p:txBody>
      </p:sp>
      <p:sp>
        <p:nvSpPr>
          <p:cNvPr id="19" name="Callout 1"/>
          <p:cNvSpPr/>
          <p:nvPr/>
        </p:nvSpPr>
        <p:spPr>
          <a:xfrm>
            <a:off x="6325642" y="1421892"/>
            <a:ext cx="274320" cy="274320"/>
          </a:xfrm>
          <a:prstGeom prst="ellipse">
            <a:avLst/>
          </a:prstGeom>
          <a:solidFill>
            <a:schemeClr val="accent1"/>
          </a:solidFill>
          <a:ln w="15875">
            <a:solidFill>
              <a:srgbClr val="FFFFFF"/>
            </a:solidFill>
            <a:prstDash val="solid"/>
          </a:ln>
        </p:spPr>
      </p:sp>
      <p:sp>
        <p:nvSpPr>
          <p:cNvPr id="20" name="Callout 1 number"/>
          <p:cNvSpPr txBox="1"/>
          <p:nvPr/>
        </p:nvSpPr>
        <p:spPr>
          <a:xfrm>
            <a:off x="6325642"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1" name="Callout text 2"/>
          <p:cNvSpPr txBox="1"/>
          <p:nvPr/>
        </p:nvSpPr>
        <p:spPr>
          <a:xfrm>
            <a:off x="6737122" y="2107456"/>
            <a:ext cx="4905933"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Refresh leverage data</a:t>
            </a:r>
            <a:endParaRPr lang="en-US" sz="1500" dirty="0"/>
          </a:p>
          <a:p>
            <a:pPr algn="l" indent="0" marL="0">
              <a:buNone/>
            </a:pPr>
            <a:r>
              <a:rPr lang="en-US" sz="1400" dirty="0">
                <a:solidFill>
                  <a:schemeClr val="tx1"/>
                </a:solidFill>
              </a:rPr>
              <a:t>Reloads the leverage numbers from the Google Sheet. You rarely need it.</a:t>
            </a:r>
            <a:endParaRPr lang="en-US" sz="1500" dirty="0"/>
          </a:p>
        </p:txBody>
      </p:sp>
      <p:sp>
        <p:nvSpPr>
          <p:cNvPr id="22" name="Callout 2"/>
          <p:cNvSpPr/>
          <p:nvPr/>
        </p:nvSpPr>
        <p:spPr>
          <a:xfrm>
            <a:off x="6325642" y="2112028"/>
            <a:ext cx="274320" cy="274320"/>
          </a:xfrm>
          <a:prstGeom prst="ellipse">
            <a:avLst/>
          </a:prstGeom>
          <a:solidFill>
            <a:schemeClr val="accent1"/>
          </a:solidFill>
          <a:ln w="15875">
            <a:solidFill>
              <a:srgbClr val="FFFFFF"/>
            </a:solidFill>
            <a:prstDash val="solid"/>
          </a:ln>
        </p:spPr>
      </p:sp>
      <p:sp>
        <p:nvSpPr>
          <p:cNvPr id="23" name="Callout 2 number"/>
          <p:cNvSpPr txBox="1"/>
          <p:nvPr/>
        </p:nvSpPr>
        <p:spPr>
          <a:xfrm>
            <a:off x="6325642" y="21120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4" name="Callout text 3"/>
          <p:cNvSpPr txBox="1"/>
          <p:nvPr/>
        </p:nvSpPr>
        <p:spPr>
          <a:xfrm>
            <a:off x="6737122" y="3021015"/>
            <a:ext cx="4905933"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Account header</a:t>
            </a:r>
            <a:endParaRPr lang="en-US" sz="1500" dirty="0"/>
          </a:p>
          <a:p>
            <a:pPr algn="l" indent="0" marL="0">
              <a:buNone/>
            </a:pPr>
            <a:r>
              <a:rPr lang="en-US" sz="1400" dirty="0">
                <a:solidFill>
                  <a:schemeClr val="tx1"/>
                </a:solidFill>
              </a:rPr>
              <a:t>Four boxes that confirm which account you opened.</a:t>
            </a:r>
            <a:endParaRPr lang="en-US" sz="1500" dirty="0"/>
          </a:p>
        </p:txBody>
      </p:sp>
      <p:sp>
        <p:nvSpPr>
          <p:cNvPr id="25" name="Callout 3"/>
          <p:cNvSpPr/>
          <p:nvPr/>
        </p:nvSpPr>
        <p:spPr>
          <a:xfrm>
            <a:off x="6325642" y="3025587"/>
            <a:ext cx="274320" cy="274320"/>
          </a:xfrm>
          <a:prstGeom prst="ellipse">
            <a:avLst/>
          </a:prstGeom>
          <a:solidFill>
            <a:schemeClr val="accent1"/>
          </a:solidFill>
          <a:ln w="15875">
            <a:solidFill>
              <a:srgbClr val="FFFFFF"/>
            </a:solidFill>
            <a:prstDash val="solid"/>
          </a:ln>
        </p:spPr>
      </p:sp>
      <p:sp>
        <p:nvSpPr>
          <p:cNvPr id="26" name="Callout 3 number"/>
          <p:cNvSpPr txBox="1"/>
          <p:nvPr/>
        </p:nvSpPr>
        <p:spPr>
          <a:xfrm>
            <a:off x="6325642" y="3025587"/>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7" name="Callout text 4"/>
          <p:cNvSpPr txBox="1"/>
          <p:nvPr/>
        </p:nvSpPr>
        <p:spPr>
          <a:xfrm>
            <a:off x="6737122" y="3711151"/>
            <a:ext cx="4905933"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Margin summary</a:t>
            </a:r>
            <a:endParaRPr lang="en-US" sz="1500" dirty="0"/>
          </a:p>
          <a:p>
            <a:pPr algn="l" indent="0" marL="0">
              <a:buNone/>
            </a:pPr>
            <a:r>
              <a:rPr lang="en-US" sz="1400" dirty="0">
                <a:solidFill>
                  <a:schemeClr val="tx1"/>
                </a:solidFill>
              </a:rPr>
              <a:t>The main table — one row per trade with its margin. Read this first.</a:t>
            </a:r>
            <a:endParaRPr lang="en-US" sz="1500" dirty="0"/>
          </a:p>
        </p:txBody>
      </p:sp>
      <p:sp>
        <p:nvSpPr>
          <p:cNvPr id="28" name="Callout 4"/>
          <p:cNvSpPr/>
          <p:nvPr/>
        </p:nvSpPr>
        <p:spPr>
          <a:xfrm>
            <a:off x="6325642" y="3715723"/>
            <a:ext cx="274320" cy="274320"/>
          </a:xfrm>
          <a:prstGeom prst="ellipse">
            <a:avLst/>
          </a:prstGeom>
          <a:solidFill>
            <a:schemeClr val="accent1"/>
          </a:solidFill>
          <a:ln w="15875">
            <a:solidFill>
              <a:srgbClr val="FFFFFF"/>
            </a:solidFill>
            <a:prstDash val="solid"/>
          </a:ln>
        </p:spPr>
      </p:sp>
      <p:sp>
        <p:nvSpPr>
          <p:cNvPr id="29" name="Callout 4 number"/>
          <p:cNvSpPr txBox="1"/>
          <p:nvPr/>
        </p:nvSpPr>
        <p:spPr>
          <a:xfrm>
            <a:off x="6325642" y="371572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0" name="Callout text 5"/>
          <p:cNvSpPr txBox="1"/>
          <p:nvPr/>
        </p:nvSpPr>
        <p:spPr>
          <a:xfrm>
            <a:off x="6737122" y="4624710"/>
            <a:ext cx="4905933"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Trades</a:t>
            </a:r>
            <a:endParaRPr lang="en-US" sz="1500" dirty="0"/>
          </a:p>
          <a:p>
            <a:pPr algn="l" indent="0" marL="0">
              <a:buNone/>
            </a:pPr>
            <a:r>
              <a:rPr lang="en-US" sz="1400" dirty="0">
                <a:solidFill>
                  <a:schemeClr val="tx1"/>
                </a:solidFill>
              </a:rPr>
              <a:t>The same trades with every detail: profit, fees and notes.</a:t>
            </a:r>
            <a:endParaRPr lang="en-US" sz="1500" dirty="0"/>
          </a:p>
        </p:txBody>
      </p:sp>
      <p:sp>
        <p:nvSpPr>
          <p:cNvPr id="31" name="Callout 5"/>
          <p:cNvSpPr/>
          <p:nvPr/>
        </p:nvSpPr>
        <p:spPr>
          <a:xfrm>
            <a:off x="6325642" y="4629282"/>
            <a:ext cx="274320" cy="274320"/>
          </a:xfrm>
          <a:prstGeom prst="ellipse">
            <a:avLst/>
          </a:prstGeom>
          <a:solidFill>
            <a:schemeClr val="accent1"/>
          </a:solidFill>
          <a:ln w="15875">
            <a:solidFill>
              <a:srgbClr val="FFFFFF"/>
            </a:solidFill>
            <a:prstDash val="solid"/>
          </a:ln>
        </p:spPr>
      </p:sp>
      <p:sp>
        <p:nvSpPr>
          <p:cNvPr id="32" name="Callout 5 number"/>
          <p:cNvSpPr txBox="1"/>
          <p:nvPr/>
        </p:nvSpPr>
        <p:spPr>
          <a:xfrm>
            <a:off x="6325642" y="462928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3" name="Callout text 6"/>
          <p:cNvSpPr txBox="1"/>
          <p:nvPr/>
        </p:nvSpPr>
        <p:spPr>
          <a:xfrm>
            <a:off x="6737122" y="5314846"/>
            <a:ext cx="4905933"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Diagnostics</a:t>
            </a:r>
            <a:endParaRPr lang="en-US" sz="1500" dirty="0"/>
          </a:p>
          <a:p>
            <a:pPr algn="l" indent="0" marL="0">
              <a:buNone/>
            </a:pPr>
            <a:r>
              <a:rPr lang="en-US" sz="1400" dirty="0">
                <a:solidFill>
                  <a:schemeClr val="tx1"/>
                </a:solidFill>
              </a:rPr>
              <a:t>Two closed sections with raw data for the Data team. You can skip them.</a:t>
            </a:r>
            <a:endParaRPr lang="en-US" sz="1500" dirty="0"/>
          </a:p>
        </p:txBody>
      </p:sp>
      <p:sp>
        <p:nvSpPr>
          <p:cNvPr id="34" name="Callout 6"/>
          <p:cNvSpPr/>
          <p:nvPr/>
        </p:nvSpPr>
        <p:spPr>
          <a:xfrm>
            <a:off x="6325642" y="5319418"/>
            <a:ext cx="274320" cy="274320"/>
          </a:xfrm>
          <a:prstGeom prst="ellipse">
            <a:avLst/>
          </a:prstGeom>
          <a:solidFill>
            <a:schemeClr val="accent1"/>
          </a:solidFill>
          <a:ln w="15875">
            <a:solidFill>
              <a:srgbClr val="FFFFFF"/>
            </a:solidFill>
            <a:prstDash val="solid"/>
          </a:ln>
        </p:spPr>
      </p:sp>
      <p:sp>
        <p:nvSpPr>
          <p:cNvPr id="35" name="Callout 6 number"/>
          <p:cNvSpPr txBox="1"/>
          <p:nvPr/>
        </p:nvSpPr>
        <p:spPr>
          <a:xfrm>
            <a:off x="6325642" y="531941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1 — Type a Login ID and press Enter</a:t>
            </a:r>
            <a:endParaRPr lang="en-US" sz="2600" dirty="0"/>
          </a:p>
        </p:txBody>
      </p:sp>
      <p:sp>
        <p:nvSpPr>
          <p:cNvPr id="4" name="Frame landing"/>
          <p:cNvSpPr/>
          <p:nvPr/>
        </p:nvSpPr>
        <p:spPr>
          <a:xfrm>
            <a:off x="548640" y="1371600"/>
            <a:ext cx="11094415" cy="2460019"/>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landing" descr="Screenshot of the High Margin app: landing">    </p:cNvPr>
          <p:cNvPicPr>
            <a:picLocks noChangeAspect="1"/>
          </p:cNvPicPr>
          <p:nvPr/>
        </p:nvPicPr>
        <p:blipFill>
          <a:blip r:embed="rId1"/>
          <a:stretch>
            <a:fillRect/>
          </a:stretch>
        </p:blipFill>
        <p:spPr>
          <a:xfrm>
            <a:off x="548640" y="1371600"/>
            <a:ext cx="11094415" cy="2460019"/>
          </a:xfrm>
          <a:prstGeom prst="rect">
            <a:avLst/>
          </a:prstGeom>
        </p:spPr>
      </p:pic>
      <p:sp>
        <p:nvSpPr>
          <p:cNvPr id="6" name="Callout 1"/>
          <p:cNvSpPr/>
          <p:nvPr/>
        </p:nvSpPr>
        <p:spPr>
          <a:xfrm>
            <a:off x="10846286" y="2683418"/>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10846286" y="268341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0846286" y="3315995"/>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0846286" y="331599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rd 1"/>
          <p:cNvSpPr/>
          <p:nvPr/>
        </p:nvSpPr>
        <p:spPr>
          <a:xfrm>
            <a:off x="548640" y="4197379"/>
            <a:ext cx="3545738" cy="1363980"/>
          </a:xfrm>
          <a:prstGeom prst="roundRect">
            <a:avLst>
              <a:gd name="adj" fmla="val 6704"/>
            </a:avLst>
          </a:prstGeom>
          <a:solidFill>
            <a:schemeClr val="bg2"/>
          </a:solidFill>
          <a:ln/>
        </p:spPr>
      </p:sp>
      <p:sp>
        <p:nvSpPr>
          <p:cNvPr id="11" name="Callout 1"/>
          <p:cNvSpPr/>
          <p:nvPr/>
        </p:nvSpPr>
        <p:spPr>
          <a:xfrm>
            <a:off x="713232" y="4361971"/>
            <a:ext cx="274320" cy="274320"/>
          </a:xfrm>
          <a:prstGeom prst="ellipse">
            <a:avLst/>
          </a:prstGeom>
          <a:solidFill>
            <a:schemeClr val="accent1"/>
          </a:solidFill>
          <a:ln w="15875">
            <a:solidFill>
              <a:srgbClr val="FFFFFF"/>
            </a:solidFill>
            <a:prstDash val="solid"/>
          </a:ln>
        </p:spPr>
      </p:sp>
      <p:sp>
        <p:nvSpPr>
          <p:cNvPr id="12" name="Callout 1 number"/>
          <p:cNvSpPr txBox="1"/>
          <p:nvPr/>
        </p:nvSpPr>
        <p:spPr>
          <a:xfrm>
            <a:off x="713232" y="436197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3" name="Card 1 title"/>
          <p:cNvSpPr txBox="1"/>
          <p:nvPr/>
        </p:nvSpPr>
        <p:spPr>
          <a:xfrm>
            <a:off x="1097280" y="4382926"/>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Login ID box</a:t>
            </a:r>
            <a:endParaRPr lang="en-US" sz="1500" dirty="0"/>
          </a:p>
        </p:txBody>
      </p:sp>
      <p:sp>
        <p:nvSpPr>
          <p:cNvPr id="14" name="Card 1 body"/>
          <p:cNvSpPr txBox="1"/>
          <p:nvPr/>
        </p:nvSpPr>
        <p:spPr>
          <a:xfrm>
            <a:off x="713232" y="4709443"/>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Click in the box, type the account number and press Enter. The grey “e.g. 500123” is only a hint.</a:t>
            </a:r>
            <a:endParaRPr lang="en-US" sz="1400" dirty="0"/>
          </a:p>
        </p:txBody>
      </p:sp>
      <p:sp>
        <p:nvSpPr>
          <p:cNvPr id="15" name="Card 2"/>
          <p:cNvSpPr/>
          <p:nvPr/>
        </p:nvSpPr>
        <p:spPr>
          <a:xfrm>
            <a:off x="4322978" y="4197379"/>
            <a:ext cx="3545738" cy="1363980"/>
          </a:xfrm>
          <a:prstGeom prst="roundRect">
            <a:avLst>
              <a:gd name="adj" fmla="val 6704"/>
            </a:avLst>
          </a:prstGeom>
          <a:solidFill>
            <a:schemeClr val="bg2"/>
          </a:solidFill>
          <a:ln/>
        </p:spPr>
      </p:sp>
      <p:sp>
        <p:nvSpPr>
          <p:cNvPr id="16" name="Callout 2"/>
          <p:cNvSpPr/>
          <p:nvPr/>
        </p:nvSpPr>
        <p:spPr>
          <a:xfrm>
            <a:off x="4487570" y="4361971"/>
            <a:ext cx="274320" cy="274320"/>
          </a:xfrm>
          <a:prstGeom prst="ellipse">
            <a:avLst/>
          </a:prstGeom>
          <a:solidFill>
            <a:schemeClr val="accent1"/>
          </a:solidFill>
          <a:ln w="15875">
            <a:solidFill>
              <a:srgbClr val="FFFFFF"/>
            </a:solidFill>
            <a:prstDash val="solid"/>
          </a:ln>
        </p:spPr>
      </p:sp>
      <p:sp>
        <p:nvSpPr>
          <p:cNvPr id="17" name="Callout 2 number"/>
          <p:cNvSpPr txBox="1"/>
          <p:nvPr/>
        </p:nvSpPr>
        <p:spPr>
          <a:xfrm>
            <a:off x="4487570" y="436197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8" name="Card 2 title"/>
          <p:cNvSpPr txBox="1"/>
          <p:nvPr/>
        </p:nvSpPr>
        <p:spPr>
          <a:xfrm>
            <a:off x="4871618" y="4382926"/>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Blue message</a:t>
            </a:r>
            <a:endParaRPr lang="en-US" sz="1500" dirty="0"/>
          </a:p>
        </p:txBody>
      </p:sp>
      <p:sp>
        <p:nvSpPr>
          <p:cNvPr id="19" name="Card 2 body"/>
          <p:cNvSpPr txBox="1"/>
          <p:nvPr/>
        </p:nvSpPr>
        <p:spPr>
          <a:xfrm>
            <a:off x="4487570" y="4709443"/>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“Enter a login id above to load the account.” It means nothing is loaded yet — that is normal.</a:t>
            </a:r>
            <a:endParaRPr lang="en-US" sz="1400" dirty="0"/>
          </a:p>
        </p:txBody>
      </p:sp>
      <p:sp>
        <p:nvSpPr>
          <p:cNvPr id="20" name="Card 3"/>
          <p:cNvSpPr/>
          <p:nvPr/>
        </p:nvSpPr>
        <p:spPr>
          <a:xfrm>
            <a:off x="8097317" y="4197379"/>
            <a:ext cx="3545738" cy="1363980"/>
          </a:xfrm>
          <a:prstGeom prst="roundRect">
            <a:avLst>
              <a:gd name="adj" fmla="val 6704"/>
            </a:avLst>
          </a:prstGeom>
          <a:solidFill>
            <a:schemeClr val="bg2"/>
          </a:solidFill>
          <a:ln/>
        </p:spPr>
      </p:sp>
      <p:sp>
        <p:nvSpPr>
          <p:cNvPr id="21" name="Card 3 title"/>
          <p:cNvSpPr txBox="1"/>
          <p:nvPr/>
        </p:nvSpPr>
        <p:spPr>
          <a:xfrm>
            <a:off x="8261909" y="4361971"/>
            <a:ext cx="3216554" cy="241554"/>
          </a:xfrm>
          <a:prstGeom prst="rect">
            <a:avLst/>
          </a:prstGeom>
          <a:noFill/>
          <a:ln/>
        </p:spPr>
        <p:txBody>
          <a:bodyPr wrap="square" lIns="0" tIns="0" rIns="0" bIns="0" rtlCol="0" anchor="t"/>
          <a:lstStyle/>
          <a:p>
            <a:pPr algn="l" indent="0" marL="0">
              <a:buNone/>
            </a:pPr>
            <a:r>
              <a:rPr lang="en-US" sz="1500" b="1" dirty="0">
                <a:solidFill>
                  <a:schemeClr val="tx1"/>
                </a:solidFill>
              </a:rPr>
              <a:t>Tip</a:t>
            </a:r>
            <a:endParaRPr lang="en-US" sz="1500" dirty="0"/>
          </a:p>
        </p:txBody>
      </p:sp>
      <p:sp>
        <p:nvSpPr>
          <p:cNvPr id="22" name="Card 3 body"/>
          <p:cNvSpPr txBox="1"/>
          <p:nvPr/>
        </p:nvSpPr>
        <p:spPr>
          <a:xfrm>
            <a:off x="8261909" y="4667533"/>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Open the same account again within 5 minutes and the app shows the saved result instantly.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2 — Check that you opened the right account</a:t>
            </a:r>
            <a:endParaRPr lang="en-US" sz="2600" dirty="0"/>
          </a:p>
        </p:txBody>
      </p:sp>
      <p:sp>
        <p:nvSpPr>
          <p:cNvPr id="4" name="Frame demo01_top"/>
          <p:cNvSpPr/>
          <p:nvPr/>
        </p:nvSpPr>
        <p:spPr>
          <a:xfrm>
            <a:off x="548640" y="1371600"/>
            <a:ext cx="11094415" cy="2043708"/>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1_top" descr="Screenshot of the High Margin app: demo01_top">    </p:cNvPr>
          <p:cNvPicPr>
            <a:picLocks noChangeAspect="1"/>
          </p:cNvPicPr>
          <p:nvPr/>
        </p:nvPicPr>
        <p:blipFill>
          <a:blip r:embed="rId1"/>
          <a:stretch>
            <a:fillRect/>
          </a:stretch>
        </p:blipFill>
        <p:spPr>
          <a:xfrm>
            <a:off x="548640" y="1371600"/>
            <a:ext cx="11094415" cy="2043708"/>
          </a:xfrm>
          <a:prstGeom prst="rect">
            <a:avLst/>
          </a:prstGeom>
        </p:spPr>
      </p:pic>
      <p:sp>
        <p:nvSpPr>
          <p:cNvPr id="6" name="Callout 1"/>
          <p:cNvSpPr/>
          <p:nvPr/>
        </p:nvSpPr>
        <p:spPr>
          <a:xfrm>
            <a:off x="1979404" y="2223854"/>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1979404" y="222385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006210" y="2596912"/>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006210"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3712231" y="2596912"/>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3712231"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6558824" y="2596912"/>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6558824"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Callout 5"/>
          <p:cNvSpPr/>
          <p:nvPr/>
        </p:nvSpPr>
        <p:spPr>
          <a:xfrm>
            <a:off x="10356985" y="2596912"/>
            <a:ext cx="274320" cy="274320"/>
          </a:xfrm>
          <a:prstGeom prst="ellipse">
            <a:avLst/>
          </a:prstGeom>
          <a:solidFill>
            <a:schemeClr val="accent1"/>
          </a:solidFill>
          <a:ln w="15875">
            <a:solidFill>
              <a:srgbClr val="FFFFFF"/>
            </a:solidFill>
            <a:prstDash val="solid"/>
          </a:ln>
        </p:spPr>
      </p:sp>
      <p:sp>
        <p:nvSpPr>
          <p:cNvPr id="15" name="Callout 5 number"/>
          <p:cNvSpPr txBox="1"/>
          <p:nvPr/>
        </p:nvSpPr>
        <p:spPr>
          <a:xfrm>
            <a:off x="10356985" y="259691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6" name="Card 1"/>
          <p:cNvSpPr/>
          <p:nvPr/>
        </p:nvSpPr>
        <p:spPr>
          <a:xfrm>
            <a:off x="548640" y="3781068"/>
            <a:ext cx="2072579" cy="1716532"/>
          </a:xfrm>
          <a:prstGeom prst="roundRect">
            <a:avLst>
              <a:gd name="adj" fmla="val 5327"/>
            </a:avLst>
          </a:prstGeom>
          <a:solidFill>
            <a:schemeClr val="bg2"/>
          </a:solidFill>
          <a:ln/>
        </p:spPr>
      </p:sp>
      <p:sp>
        <p:nvSpPr>
          <p:cNvPr id="17" name="Callout 1"/>
          <p:cNvSpPr/>
          <p:nvPr/>
        </p:nvSpPr>
        <p:spPr>
          <a:xfrm>
            <a:off x="685800" y="4013478"/>
            <a:ext cx="274320" cy="274320"/>
          </a:xfrm>
          <a:prstGeom prst="ellipse">
            <a:avLst/>
          </a:prstGeom>
          <a:solidFill>
            <a:schemeClr val="accent1"/>
          </a:solidFill>
          <a:ln w="15875">
            <a:solidFill>
              <a:srgbClr val="FFFFFF"/>
            </a:solidFill>
            <a:prstDash val="solid"/>
          </a:ln>
        </p:spPr>
      </p:sp>
      <p:sp>
        <p:nvSpPr>
          <p:cNvPr id="18" name="Callout 1 number"/>
          <p:cNvSpPr txBox="1"/>
          <p:nvPr/>
        </p:nvSpPr>
        <p:spPr>
          <a:xfrm>
            <a:off x="685800" y="401347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9" name="Card 1 title"/>
          <p:cNvSpPr txBox="1"/>
          <p:nvPr/>
        </p:nvSpPr>
        <p:spPr>
          <a:xfrm>
            <a:off x="1069848" y="3918228"/>
            <a:ext cx="1414211" cy="473964"/>
          </a:xfrm>
          <a:prstGeom prst="rect">
            <a:avLst/>
          </a:prstGeom>
          <a:noFill/>
          <a:ln/>
        </p:spPr>
        <p:txBody>
          <a:bodyPr wrap="square" lIns="0" tIns="0" rIns="0" bIns="0" rtlCol="0" anchor="t"/>
          <a:lstStyle/>
          <a:p>
            <a:pPr algn="l" indent="0" marL="0">
              <a:buNone/>
            </a:pPr>
            <a:r>
              <a:rPr lang="en-US" sz="1500" b="1" dirty="0">
                <a:solidFill>
                  <a:schemeClr val="tx1"/>
                </a:solidFill>
              </a:rPr>
              <a:t>Refresh leverage data</a:t>
            </a:r>
            <a:endParaRPr lang="en-US" sz="1500" dirty="0"/>
          </a:p>
        </p:txBody>
      </p:sp>
      <p:sp>
        <p:nvSpPr>
          <p:cNvPr id="20" name="Card 1 body"/>
          <p:cNvSpPr txBox="1"/>
          <p:nvPr/>
        </p:nvSpPr>
        <p:spPr>
          <a:xfrm>
            <a:off x="685800" y="4456200"/>
            <a:ext cx="1798259" cy="911982"/>
          </a:xfrm>
          <a:prstGeom prst="rect">
            <a:avLst/>
          </a:prstGeom>
          <a:noFill/>
          <a:ln/>
        </p:spPr>
        <p:txBody>
          <a:bodyPr wrap="square" lIns="0" tIns="0" rIns="0" bIns="0" rtlCol="0" anchor="t"/>
          <a:lstStyle/>
          <a:p>
            <a:pPr algn="l" indent="0" marL="0">
              <a:buNone/>
            </a:pPr>
            <a:r>
              <a:rPr lang="en-US" sz="1400" dirty="0">
                <a:solidFill>
                  <a:schemeClr val="tx1"/>
                </a:solidFill>
              </a:rPr>
              <a:t>Reloads leverage from the Google Sheet. Only needed after someone edits the sheet.</a:t>
            </a:r>
            <a:endParaRPr lang="en-US" sz="1400" dirty="0"/>
          </a:p>
        </p:txBody>
      </p:sp>
      <p:sp>
        <p:nvSpPr>
          <p:cNvPr id="21" name="Card 2"/>
          <p:cNvSpPr/>
          <p:nvPr/>
        </p:nvSpPr>
        <p:spPr>
          <a:xfrm>
            <a:off x="2804099" y="3781068"/>
            <a:ext cx="2072579" cy="1716532"/>
          </a:xfrm>
          <a:prstGeom prst="roundRect">
            <a:avLst>
              <a:gd name="adj" fmla="val 5327"/>
            </a:avLst>
          </a:prstGeom>
          <a:solidFill>
            <a:schemeClr val="bg2"/>
          </a:solidFill>
          <a:ln/>
        </p:spPr>
      </p:sp>
      <p:sp>
        <p:nvSpPr>
          <p:cNvPr id="22" name="Callout 2"/>
          <p:cNvSpPr/>
          <p:nvPr/>
        </p:nvSpPr>
        <p:spPr>
          <a:xfrm>
            <a:off x="2941259" y="3918228"/>
            <a:ext cx="274320" cy="274320"/>
          </a:xfrm>
          <a:prstGeom prst="ellipse">
            <a:avLst/>
          </a:prstGeom>
          <a:solidFill>
            <a:schemeClr val="accent1"/>
          </a:solidFill>
          <a:ln w="15875">
            <a:solidFill>
              <a:srgbClr val="FFFFFF"/>
            </a:solidFill>
            <a:prstDash val="solid"/>
          </a:ln>
        </p:spPr>
      </p:sp>
      <p:sp>
        <p:nvSpPr>
          <p:cNvPr id="23" name="Callout 2 number"/>
          <p:cNvSpPr txBox="1"/>
          <p:nvPr/>
        </p:nvSpPr>
        <p:spPr>
          <a:xfrm>
            <a:off x="2941259" y="39182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4" name="Card 2 title"/>
          <p:cNvSpPr txBox="1"/>
          <p:nvPr/>
        </p:nvSpPr>
        <p:spPr>
          <a:xfrm>
            <a:off x="3325307" y="3939183"/>
            <a:ext cx="1414211" cy="241554"/>
          </a:xfrm>
          <a:prstGeom prst="rect">
            <a:avLst/>
          </a:prstGeom>
          <a:noFill/>
          <a:ln/>
        </p:spPr>
        <p:txBody>
          <a:bodyPr wrap="square" lIns="0" tIns="0" rIns="0" bIns="0" rtlCol="0" anchor="t"/>
          <a:lstStyle/>
          <a:p>
            <a:pPr algn="l" indent="0" marL="0">
              <a:buNone/>
            </a:pPr>
            <a:r>
              <a:rPr lang="en-US" sz="1500" b="1" dirty="0">
                <a:solidFill>
                  <a:schemeClr val="tx1"/>
                </a:solidFill>
              </a:rPr>
              <a:t>Login</a:t>
            </a:r>
            <a:endParaRPr lang="en-US" sz="1500" dirty="0"/>
          </a:p>
        </p:txBody>
      </p:sp>
      <p:sp>
        <p:nvSpPr>
          <p:cNvPr id="25" name="Card 2 body"/>
          <p:cNvSpPr txBox="1"/>
          <p:nvPr/>
        </p:nvSpPr>
        <p:spPr>
          <a:xfrm>
            <a:off x="2941259" y="4265700"/>
            <a:ext cx="1798259" cy="688558"/>
          </a:xfrm>
          <a:prstGeom prst="rect">
            <a:avLst/>
          </a:prstGeom>
          <a:noFill/>
          <a:ln/>
        </p:spPr>
        <p:txBody>
          <a:bodyPr wrap="square" lIns="0" tIns="0" rIns="0" bIns="0" rtlCol="0" anchor="t"/>
          <a:lstStyle/>
          <a:p>
            <a:pPr algn="l" indent="0" marL="0">
              <a:buNone/>
            </a:pPr>
            <a:r>
              <a:rPr lang="en-US" sz="1400" dirty="0">
                <a:solidFill>
                  <a:schemeClr val="tx1"/>
                </a:solidFill>
              </a:rPr>
              <a:t>The account number. Make sure it is the one you meant.</a:t>
            </a:r>
            <a:endParaRPr lang="en-US" sz="1400" dirty="0"/>
          </a:p>
        </p:txBody>
      </p:sp>
      <p:sp>
        <p:nvSpPr>
          <p:cNvPr id="26" name="Card 3"/>
          <p:cNvSpPr/>
          <p:nvPr/>
        </p:nvSpPr>
        <p:spPr>
          <a:xfrm>
            <a:off x="5059558" y="3781068"/>
            <a:ext cx="2072579" cy="1716532"/>
          </a:xfrm>
          <a:prstGeom prst="roundRect">
            <a:avLst>
              <a:gd name="adj" fmla="val 5327"/>
            </a:avLst>
          </a:prstGeom>
          <a:solidFill>
            <a:schemeClr val="bg2"/>
          </a:solidFill>
          <a:ln/>
        </p:spPr>
      </p:sp>
      <p:sp>
        <p:nvSpPr>
          <p:cNvPr id="27" name="Callout 3"/>
          <p:cNvSpPr/>
          <p:nvPr/>
        </p:nvSpPr>
        <p:spPr>
          <a:xfrm>
            <a:off x="5196718" y="3918228"/>
            <a:ext cx="274320" cy="274320"/>
          </a:xfrm>
          <a:prstGeom prst="ellipse">
            <a:avLst/>
          </a:prstGeom>
          <a:solidFill>
            <a:schemeClr val="accent1"/>
          </a:solidFill>
          <a:ln w="15875">
            <a:solidFill>
              <a:srgbClr val="FFFFFF"/>
            </a:solidFill>
            <a:prstDash val="solid"/>
          </a:ln>
        </p:spPr>
      </p:sp>
      <p:sp>
        <p:nvSpPr>
          <p:cNvPr id="28" name="Callout 3 number"/>
          <p:cNvSpPr txBox="1"/>
          <p:nvPr/>
        </p:nvSpPr>
        <p:spPr>
          <a:xfrm>
            <a:off x="5196718" y="39182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9" name="Card 3 title"/>
          <p:cNvSpPr txBox="1"/>
          <p:nvPr/>
        </p:nvSpPr>
        <p:spPr>
          <a:xfrm>
            <a:off x="5580766" y="3939183"/>
            <a:ext cx="1414211" cy="241554"/>
          </a:xfrm>
          <a:prstGeom prst="rect">
            <a:avLst/>
          </a:prstGeom>
          <a:noFill/>
          <a:ln/>
        </p:spPr>
        <p:txBody>
          <a:bodyPr wrap="square" lIns="0" tIns="0" rIns="0" bIns="0" rtlCol="0" anchor="t"/>
          <a:lstStyle/>
          <a:p>
            <a:pPr algn="l" indent="0" marL="0">
              <a:buNone/>
            </a:pPr>
            <a:r>
              <a:rPr lang="en-US" sz="1500" b="1" dirty="0">
                <a:solidFill>
                  <a:schemeClr val="tx1"/>
                </a:solidFill>
              </a:rPr>
              <a:t>Plan</a:t>
            </a:r>
            <a:endParaRPr lang="en-US" sz="1500" dirty="0"/>
          </a:p>
        </p:txBody>
      </p:sp>
      <p:sp>
        <p:nvSpPr>
          <p:cNvPr id="30" name="Card 3 body"/>
          <p:cNvSpPr txBox="1"/>
          <p:nvPr/>
        </p:nvSpPr>
        <p:spPr>
          <a:xfrm>
            <a:off x="5196718" y="4265700"/>
            <a:ext cx="1798259" cy="911982"/>
          </a:xfrm>
          <a:prstGeom prst="rect">
            <a:avLst/>
          </a:prstGeom>
          <a:noFill/>
          <a:ln/>
        </p:spPr>
        <p:txBody>
          <a:bodyPr wrap="square" lIns="0" tIns="0" rIns="0" bIns="0" rtlCol="0" anchor="t"/>
          <a:lstStyle/>
          <a:p>
            <a:pPr algn="l" indent="0" marL="0">
              <a:buNone/>
            </a:pPr>
            <a:r>
              <a:rPr lang="en-US" sz="1400" dirty="0">
                <a:solidFill>
                  <a:schemeClr val="tx1"/>
                </a:solidFill>
              </a:rPr>
              <a:t>The account type. Its name must contain Prime, Pro or Direct — that picks the leverage.</a:t>
            </a:r>
            <a:endParaRPr lang="en-US" sz="1400" dirty="0"/>
          </a:p>
        </p:txBody>
      </p:sp>
      <p:sp>
        <p:nvSpPr>
          <p:cNvPr id="31" name="Card 4"/>
          <p:cNvSpPr/>
          <p:nvPr/>
        </p:nvSpPr>
        <p:spPr>
          <a:xfrm>
            <a:off x="7315017" y="3781068"/>
            <a:ext cx="2072579" cy="1716532"/>
          </a:xfrm>
          <a:prstGeom prst="roundRect">
            <a:avLst>
              <a:gd name="adj" fmla="val 5327"/>
            </a:avLst>
          </a:prstGeom>
          <a:solidFill>
            <a:schemeClr val="bg2"/>
          </a:solidFill>
          <a:ln/>
        </p:spPr>
      </p:sp>
      <p:sp>
        <p:nvSpPr>
          <p:cNvPr id="32" name="Callout 4"/>
          <p:cNvSpPr/>
          <p:nvPr/>
        </p:nvSpPr>
        <p:spPr>
          <a:xfrm>
            <a:off x="7452177" y="3918228"/>
            <a:ext cx="274320" cy="274320"/>
          </a:xfrm>
          <a:prstGeom prst="ellipse">
            <a:avLst/>
          </a:prstGeom>
          <a:solidFill>
            <a:schemeClr val="accent1"/>
          </a:solidFill>
          <a:ln w="15875">
            <a:solidFill>
              <a:srgbClr val="FFFFFF"/>
            </a:solidFill>
            <a:prstDash val="solid"/>
          </a:ln>
        </p:spPr>
      </p:sp>
      <p:sp>
        <p:nvSpPr>
          <p:cNvPr id="33" name="Callout 4 number"/>
          <p:cNvSpPr txBox="1"/>
          <p:nvPr/>
        </p:nvSpPr>
        <p:spPr>
          <a:xfrm>
            <a:off x="7452177" y="391822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4" name="Card 4 title"/>
          <p:cNvSpPr txBox="1"/>
          <p:nvPr/>
        </p:nvSpPr>
        <p:spPr>
          <a:xfrm>
            <a:off x="7836225" y="3939183"/>
            <a:ext cx="1414211" cy="241554"/>
          </a:xfrm>
          <a:prstGeom prst="rect">
            <a:avLst/>
          </a:prstGeom>
          <a:noFill/>
          <a:ln/>
        </p:spPr>
        <p:txBody>
          <a:bodyPr wrap="square" lIns="0" tIns="0" rIns="0" bIns="0" rtlCol="0" anchor="t"/>
          <a:lstStyle/>
          <a:p>
            <a:pPr algn="l" indent="0" marL="0">
              <a:buNone/>
            </a:pPr>
            <a:r>
              <a:rPr lang="en-US" sz="1500" b="1" dirty="0">
                <a:solidFill>
                  <a:schemeClr val="tx1"/>
                </a:solidFill>
              </a:rPr>
              <a:t>Trades</a:t>
            </a:r>
            <a:endParaRPr lang="en-US" sz="1500" dirty="0"/>
          </a:p>
        </p:txBody>
      </p:sp>
      <p:sp>
        <p:nvSpPr>
          <p:cNvPr id="35" name="Card 4 body"/>
          <p:cNvSpPr txBox="1"/>
          <p:nvPr/>
        </p:nvSpPr>
        <p:spPr>
          <a:xfrm>
            <a:off x="7452177" y="4265700"/>
            <a:ext cx="1798259" cy="465135"/>
          </a:xfrm>
          <a:prstGeom prst="rect">
            <a:avLst/>
          </a:prstGeom>
          <a:noFill/>
          <a:ln/>
        </p:spPr>
        <p:txBody>
          <a:bodyPr wrap="square" lIns="0" tIns="0" rIns="0" bIns="0" rtlCol="0" anchor="t"/>
          <a:lstStyle/>
          <a:p>
            <a:pPr algn="l" indent="0" marL="0">
              <a:buNone/>
            </a:pPr>
            <a:r>
              <a:rPr lang="en-US" sz="1400" dirty="0">
                <a:solidFill>
                  <a:schemeClr val="tx1"/>
                </a:solidFill>
              </a:rPr>
              <a:t>How many trades the account has.</a:t>
            </a:r>
            <a:endParaRPr lang="en-US" sz="1400" dirty="0"/>
          </a:p>
        </p:txBody>
      </p:sp>
      <p:sp>
        <p:nvSpPr>
          <p:cNvPr id="36" name="Card 5"/>
          <p:cNvSpPr/>
          <p:nvPr/>
        </p:nvSpPr>
        <p:spPr>
          <a:xfrm>
            <a:off x="9570476" y="3781068"/>
            <a:ext cx="2072579" cy="1716532"/>
          </a:xfrm>
          <a:prstGeom prst="roundRect">
            <a:avLst>
              <a:gd name="adj" fmla="val 5327"/>
            </a:avLst>
          </a:prstGeom>
          <a:solidFill>
            <a:schemeClr val="bg2"/>
          </a:solidFill>
          <a:ln/>
        </p:spPr>
      </p:sp>
      <p:sp>
        <p:nvSpPr>
          <p:cNvPr id="37" name="Callout 5"/>
          <p:cNvSpPr/>
          <p:nvPr/>
        </p:nvSpPr>
        <p:spPr>
          <a:xfrm>
            <a:off x="9707636" y="4013478"/>
            <a:ext cx="274320" cy="274320"/>
          </a:xfrm>
          <a:prstGeom prst="ellipse">
            <a:avLst/>
          </a:prstGeom>
          <a:solidFill>
            <a:schemeClr val="accent1"/>
          </a:solidFill>
          <a:ln w="15875">
            <a:solidFill>
              <a:srgbClr val="FFFFFF"/>
            </a:solidFill>
            <a:prstDash val="solid"/>
          </a:ln>
        </p:spPr>
      </p:sp>
      <p:sp>
        <p:nvSpPr>
          <p:cNvPr id="38" name="Callout 5 number"/>
          <p:cNvSpPr txBox="1"/>
          <p:nvPr/>
        </p:nvSpPr>
        <p:spPr>
          <a:xfrm>
            <a:off x="9707636" y="401347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39" name="Card 5 title"/>
          <p:cNvSpPr txBox="1"/>
          <p:nvPr/>
        </p:nvSpPr>
        <p:spPr>
          <a:xfrm>
            <a:off x="10091684" y="3918228"/>
            <a:ext cx="1414211" cy="473964"/>
          </a:xfrm>
          <a:prstGeom prst="rect">
            <a:avLst/>
          </a:prstGeom>
          <a:noFill/>
          <a:ln/>
        </p:spPr>
        <p:txBody>
          <a:bodyPr wrap="square" lIns="0" tIns="0" rIns="0" bIns="0" rtlCol="0" anchor="t"/>
          <a:lstStyle/>
          <a:p>
            <a:pPr algn="l" indent="0" marL="0">
              <a:buNone/>
            </a:pPr>
            <a:r>
              <a:rPr lang="en-US" sz="1500" b="1" dirty="0">
                <a:solidFill>
                  <a:schemeClr val="tx1"/>
                </a:solidFill>
              </a:rPr>
              <a:t>Latest Payout Approved Date</a:t>
            </a:r>
            <a:endParaRPr lang="en-US" sz="1500" dirty="0"/>
          </a:p>
        </p:txBody>
      </p:sp>
      <p:sp>
        <p:nvSpPr>
          <p:cNvPr id="40" name="Card 5 body"/>
          <p:cNvSpPr txBox="1"/>
          <p:nvPr/>
        </p:nvSpPr>
        <p:spPr>
          <a:xfrm>
            <a:off x="9707636" y="4456200"/>
            <a:ext cx="1798259" cy="911982"/>
          </a:xfrm>
          <a:prstGeom prst="rect">
            <a:avLst/>
          </a:prstGeom>
          <a:noFill/>
          <a:ln/>
        </p:spPr>
        <p:txBody>
          <a:bodyPr wrap="square" lIns="0" tIns="0" rIns="0" bIns="0" rtlCol="0" anchor="t"/>
          <a:lstStyle/>
          <a:p>
            <a:pPr algn="l" indent="0" marL="0">
              <a:buNone/>
            </a:pPr>
            <a:r>
              <a:rPr lang="en-US" sz="1400" dirty="0">
                <a:solidFill>
                  <a:schemeClr val="tx1"/>
                </a:solidFill>
              </a:rPr>
              <a:t>When the trader's last payout was approved. “—” means no payout yet.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3 — Read the Margin summary table</a:t>
            </a:r>
            <a:endParaRPr lang="en-US" sz="2600" dirty="0"/>
          </a:p>
        </p:txBody>
      </p:sp>
      <p:sp>
        <p:nvSpPr>
          <p:cNvPr id="4" name="Frame demo01_summary"/>
          <p:cNvSpPr/>
          <p:nvPr/>
        </p:nvSpPr>
        <p:spPr>
          <a:xfrm>
            <a:off x="548640" y="1371600"/>
            <a:ext cx="7086600" cy="2127361"/>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1_summary" descr="Screenshot of the High Margin app: demo01_summary">    </p:cNvPr>
          <p:cNvPicPr>
            <a:picLocks noChangeAspect="1"/>
          </p:cNvPicPr>
          <p:nvPr/>
        </p:nvPicPr>
        <p:blipFill>
          <a:blip r:embed="rId1"/>
          <a:stretch>
            <a:fillRect/>
          </a:stretch>
        </p:blipFill>
        <p:spPr>
          <a:xfrm>
            <a:off x="548640" y="1371600"/>
            <a:ext cx="7086600" cy="2127361"/>
          </a:xfrm>
          <a:prstGeom prst="rect">
            <a:avLst/>
          </a:prstGeom>
        </p:spPr>
      </p:pic>
      <p:sp>
        <p:nvSpPr>
          <p:cNvPr id="6" name="Callout 1"/>
          <p:cNvSpPr/>
          <p:nvPr/>
        </p:nvSpPr>
        <p:spPr>
          <a:xfrm>
            <a:off x="7145822" y="1462372"/>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7145822" y="146237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4728366" y="1752466"/>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4728366" y="175246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566888" y="2842831"/>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566888" y="284283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7145822" y="3164951"/>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7145822" y="31649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graphicFrame>
        <p:nvGraphicFramePr>
          <p:cNvPr id="10" name="Key columns"/>
          <p:cNvGraphicFramePr>
            <a:graphicFrameLocks noGrp="1"/>
          </p:cNvGraphicFramePr>
          <p:nvPr>
            <p:extLst>
              <p:ext uri="{D42A27DB-BD31-4B8C-83A1-F6EECF244321}">
                <p14:modId xmlns:p14="http://schemas.microsoft.com/office/powerpoint/2010/main" val="1579011935"/>
              </p:ext>
            </p:extLst>
          </p:nvPr>
        </p:nvGraphicFramePr>
        <p:xfrm>
          <a:off x="548640" y="3773281"/>
          <a:ext cx="7086600" cy="914400"/>
        </p:xfrm>
        <a:graphic>
          <a:graphicData uri="http://schemas.openxmlformats.org/drawingml/2006/table">
            <a:tbl>
              <a:tblPr/>
              <a:tblGrid>
                <a:gridCol w="1874520"/>
                <a:gridCol w="5212080"/>
              </a:tblGrid>
              <a:tr h="317007">
                <a:tc>
                  <a:txBody>
                    <a:bodyPr/>
                    <a:lstStyle/>
                    <a:p>
                      <a:pPr algn="l" indent="0" marL="0">
                        <a:buNone/>
                      </a:pPr>
                      <a:r>
                        <a:rPr lang="en-US" sz="1300" b="1" dirty="0">
                          <a:solidFill>
                            <a:schemeClr val="bg1"/>
                          </a:solidFill>
                        </a:rPr>
                        <a:t>Column</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What it tells you</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tx2"/>
                    </a:solidFill>
                  </a:tcPr>
                </a:tc>
              </a:tr>
              <a:tr h="317007">
                <a:tc>
                  <a:txBody>
                    <a:bodyPr/>
                    <a:lstStyle/>
                    <a:p>
                      <a:pPr algn="l" indent="0" marL="0">
                        <a:buNone/>
                      </a:pPr>
                      <a:r>
                        <a:rPr lang="en-US" sz="1300" b="1" dirty="0">
                          <a:solidFill>
                            <a:schemeClr val="tx1"/>
                          </a:solidFill>
                        </a:rPr>
                        <a:t>Margin (%)</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How much of the account this one trade used.</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r>
              <a:tr h="317007">
                <a:tc>
                  <a:txBody>
                    <a:bodyPr/>
                    <a:lstStyle/>
                    <a:p>
                      <a:pPr algn="l" indent="0" marL="0">
                        <a:buNone/>
                      </a:pPr>
                      <a:r>
                        <a:rPr lang="en-US" sz="1300" b="1" dirty="0">
                          <a:solidFill>
                            <a:schemeClr val="tx1"/>
                          </a:solidFill>
                        </a:rPr>
                        <a:t>Instrument Leverage</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c>
                  <a:txBody>
                    <a:bodyPr/>
                    <a:lstStyle/>
                    <a:p>
                      <a:pPr algn="l" indent="0" marL="0">
                        <a:buNone/>
                      </a:pPr>
                      <a:r>
                        <a:rPr lang="en-US" sz="1300" dirty="0">
                          <a:solidFill>
                            <a:schemeClr val="tx1"/>
                          </a:solidFill>
                        </a:rPr>
                        <a:t>The leverage for this instrument on the account's plan.</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r>
              <a:tr h="317007">
                <a:tc>
                  <a:txBody>
                    <a:bodyPr/>
                    <a:lstStyle/>
                    <a:p>
                      <a:pPr algn="l" indent="0" marL="0">
                        <a:buNone/>
                      </a:pPr>
                      <a:r>
                        <a:rPr lang="en-US" sz="1300" b="1" dirty="0">
                          <a:solidFill>
                            <a:schemeClr val="tx1"/>
                          </a:solidFill>
                        </a:rPr>
                        <a:t>Overlaps</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How many other trades were open at the same time.</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r>
              <a:tr h="317007">
                <a:tc>
                  <a:txBody>
                    <a:bodyPr/>
                    <a:lstStyle/>
                    <a:p>
                      <a:pPr algn="l" indent="0" marL="0">
                        <a:buNone/>
                      </a:pPr>
                      <a:r>
                        <a:rPr lang="en-US" sz="1300" b="1" dirty="0">
                          <a:solidFill>
                            <a:schemeClr val="tx1"/>
                          </a:solidFill>
                        </a:rPr>
                        <a:t>Overlapping Trades</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c>
                  <a:txBody>
                    <a:bodyPr/>
                    <a:lstStyle/>
                    <a:p>
                      <a:pPr algn="l" indent="0" marL="0">
                        <a:buNone/>
                      </a:pPr>
                      <a:r>
                        <a:rPr lang="en-US" sz="1300" dirty="0">
                          <a:solidFill>
                            <a:schemeClr val="tx1"/>
                          </a:solidFill>
                        </a:rPr>
                        <a:t>The IDs of those trades.</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rgbClr val="F5F7FA"/>
                    </a:solidFill>
                  </a:tcPr>
                </a:tc>
              </a:tr>
              <a:tr h="522458">
                <a:tc>
                  <a:txBody>
                    <a:bodyPr/>
                    <a:lstStyle/>
                    <a:p>
                      <a:pPr algn="l" indent="0" marL="0">
                        <a:buNone/>
                      </a:pPr>
                      <a:r>
                        <a:rPr lang="en-US" sz="1300" b="1" dirty="0">
                          <a:solidFill>
                            <a:schemeClr val="tx1"/>
                          </a:solidFill>
                        </a:rPr>
                        <a:t>Combined Margin %</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This trade plus the trades open with it, as % of the account. “None” = no overlap. Scroll right to see it.</a:t>
                      </a:r>
                      <a:endParaRPr lang="en-US" sz="1200" dirty="0"/>
                    </a:p>
                  </a:txBody>
                  <a:tcPr marL="73152" marR="73152" marT="45720" marB="45720" anchor="t">
                    <a:lnL w="9525" cap="flat" cmpd="sng" algn="ctr">
                      <a:solidFill>
                        <a:srgbClr val="D0D7DF"/>
                      </a:solidFill>
                      <a:prstDash val="solid"/>
                      <a:round/>
                      <a:headEnd type="none" w="med" len="med"/>
                      <a:tailEnd type="none" w="med" len="med"/>
                    </a:lnL>
                    <a:lnR w="9525" cap="flat" cmpd="sng" algn="ctr">
                      <a:solidFill>
                        <a:srgbClr val="D0D7DF"/>
                      </a:solidFill>
                      <a:prstDash val="solid"/>
                      <a:round/>
                      <a:headEnd type="none" w="med" len="med"/>
                      <a:tailEnd type="none" w="med" len="med"/>
                    </a:lnR>
                    <a:lnT w="9525" cap="flat" cmpd="sng" algn="ctr">
                      <a:solidFill>
                        <a:srgbClr val="D0D7DF"/>
                      </a:solidFill>
                      <a:prstDash val="solid"/>
                      <a:round/>
                      <a:headEnd type="none" w="med" len="med"/>
                      <a:tailEnd type="none" w="med" len="med"/>
                    </a:lnT>
                    <a:lnB w="9525" cap="flat" cmpd="sng" algn="ctr">
                      <a:solidFill>
                        <a:srgbClr val="D0D7DF"/>
                      </a:solidFill>
                      <a:prstDash val="solid"/>
                      <a:round/>
                      <a:headEnd type="none" w="med" len="med"/>
                      <a:tailEnd type="none" w="med" len="med"/>
                    </a:lnB>
                    <a:solidFill>
                      <a:schemeClr val="bg1"/>
                    </a:solidFill>
                  </a:tcPr>
                </a:tc>
              </a:tr>
            </a:tbl>
          </a:graphicData>
        </a:graphic>
      </p:graphicFrame>
      <p:sp>
        <p:nvSpPr>
          <p:cNvPr id="15"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Heading</a:t>
            </a:r>
            <a:endParaRPr lang="en-US" sz="1500" dirty="0"/>
          </a:p>
          <a:p>
            <a:pPr algn="l" indent="0" marL="0">
              <a:buNone/>
            </a:pPr>
            <a:r>
              <a:rPr lang="en-US" sz="1400" dirty="0">
                <a:solidFill>
                  <a:schemeClr val="tx1"/>
                </a:solidFill>
              </a:rPr>
              <a:t>How many trades, and how many are over 70%. Both counts 0 = all fine.</a:t>
            </a:r>
            <a:endParaRPr lang="en-US" sz="1500" dirty="0"/>
          </a:p>
        </p:txBody>
      </p:sp>
      <p:sp>
        <p:nvSpPr>
          <p:cNvPr id="16"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17"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Callout text 2"/>
          <p:cNvSpPr txBox="1"/>
          <p:nvPr/>
        </p:nvSpPr>
        <p:spPr>
          <a:xfrm>
            <a:off x="8321040" y="233087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Highlight rule</a:t>
            </a:r>
            <a:endParaRPr lang="en-US" sz="1500" dirty="0"/>
          </a:p>
          <a:p>
            <a:pPr algn="l" indent="0" marL="0">
              <a:buNone/>
            </a:pPr>
            <a:r>
              <a:rPr lang="en-US" sz="1400" dirty="0">
                <a:solidFill>
                  <a:schemeClr val="tx1"/>
                </a:solidFill>
              </a:rPr>
              <a:t>Explains when a row turns yellow and counts the yellow rows.</a:t>
            </a:r>
            <a:endParaRPr lang="en-US" sz="1500" dirty="0"/>
          </a:p>
        </p:txBody>
      </p:sp>
      <p:sp>
        <p:nvSpPr>
          <p:cNvPr id="19" name="Callout 2"/>
          <p:cNvSpPr/>
          <p:nvPr/>
        </p:nvSpPr>
        <p:spPr>
          <a:xfrm>
            <a:off x="7909560" y="2335451"/>
            <a:ext cx="274320" cy="274320"/>
          </a:xfrm>
          <a:prstGeom prst="ellipse">
            <a:avLst/>
          </a:prstGeom>
          <a:solidFill>
            <a:schemeClr val="accent1"/>
          </a:solidFill>
          <a:ln w="15875">
            <a:solidFill>
              <a:srgbClr val="FFFFFF"/>
            </a:solidFill>
            <a:prstDash val="solid"/>
          </a:ln>
        </p:spPr>
      </p:sp>
      <p:sp>
        <p:nvSpPr>
          <p:cNvPr id="20" name="Callout 2 number"/>
          <p:cNvSpPr txBox="1"/>
          <p:nvPr/>
        </p:nvSpPr>
        <p:spPr>
          <a:xfrm>
            <a:off x="7909560" y="23354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Callout text 3"/>
          <p:cNvSpPr txBox="1"/>
          <p:nvPr/>
        </p:nvSpPr>
        <p:spPr>
          <a:xfrm>
            <a:off x="8321040" y="324443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Tick boxes</a:t>
            </a:r>
            <a:endParaRPr lang="en-US" sz="1500" dirty="0"/>
          </a:p>
          <a:p>
            <a:pPr algn="l" indent="0" marL="0">
              <a:buNone/>
            </a:pPr>
            <a:r>
              <a:rPr lang="en-US" sz="1400" dirty="0">
                <a:solidFill>
                  <a:schemeClr val="tx1"/>
                </a:solidFill>
              </a:rPr>
              <a:t>Tick the rows you want to download (see slide 17).</a:t>
            </a:r>
            <a:endParaRPr lang="en-US" sz="1500" dirty="0"/>
          </a:p>
        </p:txBody>
      </p:sp>
      <p:sp>
        <p:nvSpPr>
          <p:cNvPr id="22" name="Callout 3"/>
          <p:cNvSpPr/>
          <p:nvPr/>
        </p:nvSpPr>
        <p:spPr>
          <a:xfrm>
            <a:off x="7909560" y="3249011"/>
            <a:ext cx="274320" cy="274320"/>
          </a:xfrm>
          <a:prstGeom prst="ellipse">
            <a:avLst/>
          </a:prstGeom>
          <a:solidFill>
            <a:schemeClr val="accent1"/>
          </a:solidFill>
          <a:ln w="15875">
            <a:solidFill>
              <a:srgbClr val="FFFFFF"/>
            </a:solidFill>
            <a:prstDash val="solid"/>
          </a:ln>
        </p:spPr>
      </p:sp>
      <p:sp>
        <p:nvSpPr>
          <p:cNvPr id="23" name="Callout 3 number"/>
          <p:cNvSpPr txBox="1"/>
          <p:nvPr/>
        </p:nvSpPr>
        <p:spPr>
          <a:xfrm>
            <a:off x="7909560" y="324901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Callout text 4"/>
          <p:cNvSpPr txBox="1"/>
          <p:nvPr/>
        </p:nvSpPr>
        <p:spPr>
          <a:xfrm>
            <a:off x="8321040" y="4157998"/>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Download buttons</a:t>
            </a:r>
            <a:endParaRPr lang="en-US" sz="1500" dirty="0"/>
          </a:p>
          <a:p>
            <a:pPr algn="l" indent="0" marL="0">
              <a:buNone/>
            </a:pPr>
            <a:r>
              <a:rPr lang="en-US" sz="1400" dirty="0">
                <a:solidFill>
                  <a:schemeClr val="tx1"/>
                </a:solidFill>
              </a:rPr>
              <a:t>Save the rows as a CSV file you can open in Excel.</a:t>
            </a:r>
            <a:endParaRPr lang="en-US" sz="1500" dirty="0"/>
          </a:p>
        </p:txBody>
      </p:sp>
      <p:sp>
        <p:nvSpPr>
          <p:cNvPr id="25" name="Callout 4"/>
          <p:cNvSpPr/>
          <p:nvPr/>
        </p:nvSpPr>
        <p:spPr>
          <a:xfrm>
            <a:off x="7909560" y="4162570"/>
            <a:ext cx="274320" cy="274320"/>
          </a:xfrm>
          <a:prstGeom prst="ellipse">
            <a:avLst/>
          </a:prstGeom>
          <a:solidFill>
            <a:schemeClr val="accent1"/>
          </a:solidFill>
          <a:ln w="15875">
            <a:solidFill>
              <a:srgbClr val="FFFFFF"/>
            </a:solidFill>
            <a:prstDash val="solid"/>
          </a:ln>
        </p:spPr>
      </p:sp>
      <p:sp>
        <p:nvSpPr>
          <p:cNvPr id="26" name="Callout 4 number"/>
          <p:cNvSpPr txBox="1"/>
          <p:nvPr/>
        </p:nvSpPr>
        <p:spPr>
          <a:xfrm>
            <a:off x="7909560" y="416257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PART 1  ·  STEP 4</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Step 4 — The Trades table has every detail</a:t>
            </a:r>
            <a:endParaRPr lang="en-US" sz="2600" dirty="0"/>
          </a:p>
        </p:txBody>
      </p:sp>
      <p:sp>
        <p:nvSpPr>
          <p:cNvPr id="4" name="Frame trades_left"/>
          <p:cNvSpPr/>
          <p:nvPr/>
        </p:nvSpPr>
        <p:spPr>
          <a:xfrm>
            <a:off x="548640" y="1783080"/>
            <a:ext cx="7086600" cy="118110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trades_left" descr="Screenshot of the High Margin app: trades_left">    </p:cNvPr>
          <p:cNvPicPr>
            <a:picLocks noChangeAspect="1"/>
          </p:cNvPicPr>
          <p:nvPr/>
        </p:nvPicPr>
        <p:blipFill>
          <a:blip r:embed="rId1"/>
          <a:stretch>
            <a:fillRect/>
          </a:stretch>
        </p:blipFill>
        <p:spPr>
          <a:xfrm>
            <a:off x="548640" y="1783080"/>
            <a:ext cx="7086600" cy="1181100"/>
          </a:xfrm>
          <a:prstGeom prst="rect">
            <a:avLst/>
          </a:prstGeom>
        </p:spPr>
      </p:pic>
      <p:sp>
        <p:nvSpPr>
          <p:cNvPr id="6" name="Frame trades_right"/>
          <p:cNvSpPr/>
          <p:nvPr/>
        </p:nvSpPr>
        <p:spPr>
          <a:xfrm>
            <a:off x="548640" y="3639312"/>
            <a:ext cx="7086600" cy="118110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7" name="Screenshot trades_right" descr="Screenshot of the High Margin app: trades_right">    </p:cNvPr>
          <p:cNvPicPr>
            <a:picLocks noChangeAspect="1"/>
          </p:cNvPicPr>
          <p:nvPr/>
        </p:nvPicPr>
        <p:blipFill>
          <a:blip r:embed="rId2"/>
          <a:stretch>
            <a:fillRect/>
          </a:stretch>
        </p:blipFill>
        <p:spPr>
          <a:xfrm>
            <a:off x="548640" y="3639312"/>
            <a:ext cx="7086600" cy="1181100"/>
          </a:xfrm>
          <a:prstGeom prst="rect">
            <a:avLst/>
          </a:prstGeom>
        </p:spPr>
      </p:pic>
      <p:sp>
        <p:nvSpPr>
          <p:cNvPr id="8" name="Callout 1"/>
          <p:cNvSpPr/>
          <p:nvPr/>
        </p:nvSpPr>
        <p:spPr>
          <a:xfrm>
            <a:off x="1675464" y="1426464"/>
            <a:ext cx="274320" cy="274320"/>
          </a:xfrm>
          <a:prstGeom prst="ellipse">
            <a:avLst/>
          </a:prstGeom>
          <a:solidFill>
            <a:schemeClr val="accent1"/>
          </a:solidFill>
          <a:ln w="15875">
            <a:solidFill>
              <a:srgbClr val="FFFFFF"/>
            </a:solidFill>
            <a:prstDash val="solid"/>
          </a:ln>
        </p:spPr>
      </p:sp>
      <p:sp>
        <p:nvSpPr>
          <p:cNvPr id="9" name="Callout 1 number"/>
          <p:cNvSpPr txBox="1"/>
          <p:nvPr/>
        </p:nvSpPr>
        <p:spPr>
          <a:xfrm>
            <a:off x="1675464" y="142646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Shape 6"/>
          <p:cNvSpPr/>
          <p:nvPr/>
        </p:nvSpPr>
        <p:spPr>
          <a:xfrm>
            <a:off x="1812624" y="1700784"/>
            <a:ext cx="0" cy="100584"/>
          </a:xfrm>
          <a:prstGeom prst="line">
            <a:avLst/>
          </a:prstGeom>
          <a:noFill/>
          <a:ln w="19050">
            <a:solidFill>
              <a:schemeClr val="accent1"/>
            </a:solidFill>
            <a:prstDash val="solid"/>
          </a:ln>
        </p:spPr>
      </p:sp>
      <p:sp>
        <p:nvSpPr>
          <p:cNvPr id="11" name="Callout 2"/>
          <p:cNvSpPr/>
          <p:nvPr/>
        </p:nvSpPr>
        <p:spPr>
          <a:xfrm>
            <a:off x="5360358" y="1426464"/>
            <a:ext cx="274320" cy="274320"/>
          </a:xfrm>
          <a:prstGeom prst="ellipse">
            <a:avLst/>
          </a:prstGeom>
          <a:solidFill>
            <a:schemeClr val="accent1"/>
          </a:solidFill>
          <a:ln w="15875">
            <a:solidFill>
              <a:srgbClr val="FFFFFF"/>
            </a:solidFill>
            <a:prstDash val="solid"/>
          </a:ln>
        </p:spPr>
      </p:sp>
      <p:sp>
        <p:nvSpPr>
          <p:cNvPr id="12" name="Callout 2 number"/>
          <p:cNvSpPr txBox="1"/>
          <p:nvPr/>
        </p:nvSpPr>
        <p:spPr>
          <a:xfrm>
            <a:off x="5360358" y="142646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3" name="Shape 9"/>
          <p:cNvSpPr/>
          <p:nvPr/>
        </p:nvSpPr>
        <p:spPr>
          <a:xfrm>
            <a:off x="5497518" y="1700784"/>
            <a:ext cx="0" cy="100584"/>
          </a:xfrm>
          <a:prstGeom prst="line">
            <a:avLst/>
          </a:prstGeom>
          <a:noFill/>
          <a:ln w="19050">
            <a:solidFill>
              <a:schemeClr val="accent1"/>
            </a:solidFill>
            <a:prstDash val="solid"/>
          </a:ln>
        </p:spPr>
      </p:sp>
      <p:sp>
        <p:nvSpPr>
          <p:cNvPr id="14" name="Callout 3"/>
          <p:cNvSpPr/>
          <p:nvPr/>
        </p:nvSpPr>
        <p:spPr>
          <a:xfrm>
            <a:off x="6185747" y="1426464"/>
            <a:ext cx="274320" cy="274320"/>
          </a:xfrm>
          <a:prstGeom prst="ellipse">
            <a:avLst/>
          </a:prstGeom>
          <a:solidFill>
            <a:schemeClr val="accent1"/>
          </a:solidFill>
          <a:ln w="15875">
            <a:solidFill>
              <a:srgbClr val="FFFFFF"/>
            </a:solidFill>
            <a:prstDash val="solid"/>
          </a:ln>
        </p:spPr>
      </p:sp>
      <p:sp>
        <p:nvSpPr>
          <p:cNvPr id="15" name="Callout 3 number"/>
          <p:cNvSpPr txBox="1"/>
          <p:nvPr/>
        </p:nvSpPr>
        <p:spPr>
          <a:xfrm>
            <a:off x="6185747" y="142646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6" name="Shape 12"/>
          <p:cNvSpPr/>
          <p:nvPr/>
        </p:nvSpPr>
        <p:spPr>
          <a:xfrm>
            <a:off x="6322907" y="1700784"/>
            <a:ext cx="0" cy="100584"/>
          </a:xfrm>
          <a:prstGeom prst="line">
            <a:avLst/>
          </a:prstGeom>
          <a:noFill/>
          <a:ln w="19050">
            <a:solidFill>
              <a:schemeClr val="accent1"/>
            </a:solidFill>
            <a:prstDash val="solid"/>
          </a:ln>
        </p:spPr>
      </p:sp>
      <p:sp>
        <p:nvSpPr>
          <p:cNvPr id="17" name="Callout 4"/>
          <p:cNvSpPr/>
          <p:nvPr/>
        </p:nvSpPr>
        <p:spPr>
          <a:xfrm>
            <a:off x="3612883" y="3282696"/>
            <a:ext cx="274320" cy="274320"/>
          </a:xfrm>
          <a:prstGeom prst="ellipse">
            <a:avLst/>
          </a:prstGeom>
          <a:solidFill>
            <a:schemeClr val="accent1"/>
          </a:solidFill>
          <a:ln w="15875">
            <a:solidFill>
              <a:srgbClr val="FFFFFF"/>
            </a:solidFill>
            <a:prstDash val="solid"/>
          </a:ln>
        </p:spPr>
      </p:sp>
      <p:sp>
        <p:nvSpPr>
          <p:cNvPr id="18" name="Callout 4 number"/>
          <p:cNvSpPr txBox="1"/>
          <p:nvPr/>
        </p:nvSpPr>
        <p:spPr>
          <a:xfrm>
            <a:off x="3612883"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9" name="Shape 15"/>
          <p:cNvSpPr/>
          <p:nvPr/>
        </p:nvSpPr>
        <p:spPr>
          <a:xfrm>
            <a:off x="3750043" y="3557016"/>
            <a:ext cx="0" cy="100584"/>
          </a:xfrm>
          <a:prstGeom prst="line">
            <a:avLst/>
          </a:prstGeom>
          <a:noFill/>
          <a:ln w="19050">
            <a:solidFill>
              <a:schemeClr val="accent1"/>
            </a:solidFill>
            <a:prstDash val="solid"/>
          </a:ln>
        </p:spPr>
      </p:sp>
      <p:sp>
        <p:nvSpPr>
          <p:cNvPr id="20" name="Callout 5"/>
          <p:cNvSpPr/>
          <p:nvPr/>
        </p:nvSpPr>
        <p:spPr>
          <a:xfrm>
            <a:off x="4828518" y="3282696"/>
            <a:ext cx="274320" cy="274320"/>
          </a:xfrm>
          <a:prstGeom prst="ellipse">
            <a:avLst/>
          </a:prstGeom>
          <a:solidFill>
            <a:schemeClr val="accent1"/>
          </a:solidFill>
          <a:ln w="15875">
            <a:solidFill>
              <a:srgbClr val="FFFFFF"/>
            </a:solidFill>
            <a:prstDash val="solid"/>
          </a:ln>
        </p:spPr>
      </p:sp>
      <p:sp>
        <p:nvSpPr>
          <p:cNvPr id="21" name="Callout 5 number"/>
          <p:cNvSpPr txBox="1"/>
          <p:nvPr/>
        </p:nvSpPr>
        <p:spPr>
          <a:xfrm>
            <a:off x="4828518"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2" name="Shape 18"/>
          <p:cNvSpPr/>
          <p:nvPr/>
        </p:nvSpPr>
        <p:spPr>
          <a:xfrm>
            <a:off x="4965678" y="3557016"/>
            <a:ext cx="0" cy="100584"/>
          </a:xfrm>
          <a:prstGeom prst="line">
            <a:avLst/>
          </a:prstGeom>
          <a:noFill/>
          <a:ln w="19050">
            <a:solidFill>
              <a:schemeClr val="accent1"/>
            </a:solidFill>
            <a:prstDash val="solid"/>
          </a:ln>
        </p:spPr>
      </p:sp>
      <p:sp>
        <p:nvSpPr>
          <p:cNvPr id="23" name="Callout 5"/>
          <p:cNvSpPr/>
          <p:nvPr/>
        </p:nvSpPr>
        <p:spPr>
          <a:xfrm>
            <a:off x="6797018" y="3282696"/>
            <a:ext cx="274320" cy="274320"/>
          </a:xfrm>
          <a:prstGeom prst="ellipse">
            <a:avLst/>
          </a:prstGeom>
          <a:solidFill>
            <a:schemeClr val="accent1"/>
          </a:solidFill>
          <a:ln w="15875">
            <a:solidFill>
              <a:srgbClr val="FFFFFF"/>
            </a:solidFill>
            <a:prstDash val="solid"/>
          </a:ln>
        </p:spPr>
      </p:sp>
      <p:sp>
        <p:nvSpPr>
          <p:cNvPr id="24" name="Callout 5 number"/>
          <p:cNvSpPr txBox="1"/>
          <p:nvPr/>
        </p:nvSpPr>
        <p:spPr>
          <a:xfrm>
            <a:off x="6797018"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5" name="Shape 21"/>
          <p:cNvSpPr/>
          <p:nvPr/>
        </p:nvSpPr>
        <p:spPr>
          <a:xfrm>
            <a:off x="6934178" y="3557016"/>
            <a:ext cx="0" cy="100584"/>
          </a:xfrm>
          <a:prstGeom prst="line">
            <a:avLst/>
          </a:prstGeom>
          <a:noFill/>
          <a:ln w="19050">
            <a:solidFill>
              <a:schemeClr val="accent1"/>
            </a:solidFill>
            <a:prstDash val="solid"/>
          </a:ln>
        </p:spPr>
      </p:sp>
      <p:sp>
        <p:nvSpPr>
          <p:cNvPr id="26" name="Callout 6"/>
          <p:cNvSpPr/>
          <p:nvPr/>
        </p:nvSpPr>
        <p:spPr>
          <a:xfrm>
            <a:off x="5636639" y="3282696"/>
            <a:ext cx="274320" cy="274320"/>
          </a:xfrm>
          <a:prstGeom prst="ellipse">
            <a:avLst/>
          </a:prstGeom>
          <a:solidFill>
            <a:schemeClr val="accent1"/>
          </a:solidFill>
          <a:ln w="15875">
            <a:solidFill>
              <a:srgbClr val="FFFFFF"/>
            </a:solidFill>
            <a:prstDash val="solid"/>
          </a:ln>
        </p:spPr>
      </p:sp>
      <p:sp>
        <p:nvSpPr>
          <p:cNvPr id="27" name="Callout 6 number"/>
          <p:cNvSpPr txBox="1"/>
          <p:nvPr/>
        </p:nvSpPr>
        <p:spPr>
          <a:xfrm>
            <a:off x="5636639" y="328269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8" name="Shape 24"/>
          <p:cNvSpPr/>
          <p:nvPr/>
        </p:nvSpPr>
        <p:spPr>
          <a:xfrm>
            <a:off x="5773799" y="3557016"/>
            <a:ext cx="0" cy="100584"/>
          </a:xfrm>
          <a:prstGeom prst="line">
            <a:avLst/>
          </a:prstGeom>
          <a:noFill/>
          <a:ln w="19050">
            <a:solidFill>
              <a:schemeClr val="accent1"/>
            </a:solidFill>
            <a:prstDash val="solid"/>
          </a:ln>
        </p:spPr>
      </p:sp>
      <p:sp>
        <p:nvSpPr>
          <p:cNvPr id="29" name="Text 25"/>
          <p:cNvSpPr txBox="1"/>
          <p:nvPr/>
        </p:nvSpPr>
        <p:spPr>
          <a:xfrm>
            <a:off x="548640" y="4957572"/>
            <a:ext cx="7086600" cy="401300"/>
          </a:xfrm>
          <a:prstGeom prst="rect">
            <a:avLst/>
          </a:prstGeom>
          <a:noFill/>
          <a:ln/>
        </p:spPr>
        <p:txBody>
          <a:bodyPr wrap="square" lIns="0" tIns="0" rIns="0" bIns="0" rtlCol="0" anchor="t"/>
          <a:lstStyle/>
          <a:p>
            <a:pPr algn="l" indent="0" marL="0">
              <a:buNone/>
            </a:pPr>
            <a:r>
              <a:rPr lang="en-US" sz="1200" dirty="0">
                <a:solidFill>
                  <a:schemeClr val="accent6"/>
                </a:solidFill>
              </a:rPr>
              <a:t>Top: left side of the table. Bottom: the same table scrolled right. To scroll sideways, hover over the table and use Shift + mouse wheel.</a:t>
            </a:r>
            <a:endParaRPr lang="en-US" sz="1200" dirty="0"/>
          </a:p>
        </p:txBody>
      </p:sp>
      <p:sp>
        <p:nvSpPr>
          <p:cNvPr id="30"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Asset Class</a:t>
            </a:r>
            <a:endParaRPr lang="en-US" sz="1500" dirty="0"/>
          </a:p>
          <a:p>
            <a:pPr algn="l" indent="0" marL="0">
              <a:buNone/>
            </a:pPr>
            <a:r>
              <a:rPr lang="en-US" sz="1400" dirty="0">
                <a:solidFill>
                  <a:schemeClr val="tx1"/>
                </a:solidFill>
              </a:rPr>
              <a:t>The type of instrument: currencies, metals, indices…</a:t>
            </a:r>
            <a:endParaRPr lang="en-US" sz="1500" dirty="0"/>
          </a:p>
        </p:txBody>
      </p:sp>
      <p:sp>
        <p:nvSpPr>
          <p:cNvPr id="31"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32"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33" name="Callout text 2"/>
          <p:cNvSpPr txBox="1"/>
          <p:nvPr/>
        </p:nvSpPr>
        <p:spPr>
          <a:xfrm>
            <a:off x="8321040" y="2294303"/>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Profit · Commission · Swap</a:t>
            </a:r>
            <a:endParaRPr lang="en-US" sz="1500" dirty="0"/>
          </a:p>
          <a:p>
            <a:pPr algn="l" indent="0" marL="0">
              <a:buNone/>
            </a:pPr>
            <a:r>
              <a:rPr lang="en-US" sz="1400" dirty="0">
                <a:solidFill>
                  <a:schemeClr val="tx1"/>
                </a:solidFill>
              </a:rPr>
              <a:t>The trade's result and its fees.</a:t>
            </a:r>
            <a:endParaRPr lang="en-US" sz="1500" dirty="0"/>
          </a:p>
        </p:txBody>
      </p:sp>
      <p:sp>
        <p:nvSpPr>
          <p:cNvPr id="34" name="Callout 2"/>
          <p:cNvSpPr/>
          <p:nvPr/>
        </p:nvSpPr>
        <p:spPr>
          <a:xfrm>
            <a:off x="7909560" y="2298875"/>
            <a:ext cx="274320" cy="274320"/>
          </a:xfrm>
          <a:prstGeom prst="ellipse">
            <a:avLst/>
          </a:prstGeom>
          <a:solidFill>
            <a:schemeClr val="accent1"/>
          </a:solidFill>
          <a:ln w="15875">
            <a:solidFill>
              <a:srgbClr val="FFFFFF"/>
            </a:solidFill>
            <a:prstDash val="solid"/>
          </a:ln>
        </p:spPr>
      </p:sp>
      <p:sp>
        <p:nvSpPr>
          <p:cNvPr id="35" name="Callout 2 number"/>
          <p:cNvSpPr txBox="1"/>
          <p:nvPr/>
        </p:nvSpPr>
        <p:spPr>
          <a:xfrm>
            <a:off x="7909560" y="229887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36" name="Callout text 3"/>
          <p:cNvSpPr txBox="1"/>
          <p:nvPr/>
        </p:nvSpPr>
        <p:spPr>
          <a:xfrm>
            <a:off x="8321040" y="2947863"/>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Plan</a:t>
            </a:r>
            <a:endParaRPr lang="en-US" sz="1500" dirty="0"/>
          </a:p>
          <a:p>
            <a:pPr algn="l" indent="0" marL="0">
              <a:buNone/>
            </a:pPr>
            <a:r>
              <a:rPr lang="en-US" sz="1400" dirty="0">
                <a:solidFill>
                  <a:schemeClr val="tx1"/>
                </a:solidFill>
              </a:rPr>
              <a:t>The account plan used to pick the leverage.</a:t>
            </a:r>
            <a:endParaRPr lang="en-US" sz="1500" dirty="0"/>
          </a:p>
        </p:txBody>
      </p:sp>
      <p:sp>
        <p:nvSpPr>
          <p:cNvPr id="37" name="Callout 3"/>
          <p:cNvSpPr/>
          <p:nvPr/>
        </p:nvSpPr>
        <p:spPr>
          <a:xfrm>
            <a:off x="7909560" y="2952435"/>
            <a:ext cx="274320" cy="274320"/>
          </a:xfrm>
          <a:prstGeom prst="ellipse">
            <a:avLst/>
          </a:prstGeom>
          <a:solidFill>
            <a:schemeClr val="accent1"/>
          </a:solidFill>
          <a:ln w="15875">
            <a:solidFill>
              <a:srgbClr val="FFFFFF"/>
            </a:solidFill>
            <a:prstDash val="solid"/>
          </a:ln>
        </p:spPr>
      </p:sp>
      <p:sp>
        <p:nvSpPr>
          <p:cNvPr id="38" name="Callout 3 number"/>
          <p:cNvSpPr txBox="1"/>
          <p:nvPr/>
        </p:nvSpPr>
        <p:spPr>
          <a:xfrm>
            <a:off x="7909560" y="295243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39" name="Callout text 4"/>
          <p:cNvSpPr txBox="1"/>
          <p:nvPr/>
        </p:nvSpPr>
        <p:spPr>
          <a:xfrm>
            <a:off x="8321040" y="3601423"/>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Margin and Margin %</a:t>
            </a:r>
            <a:endParaRPr lang="en-US" sz="1500" dirty="0"/>
          </a:p>
          <a:p>
            <a:pPr algn="l" indent="0" marL="0">
              <a:buNone/>
            </a:pPr>
            <a:r>
              <a:rPr lang="en-US" sz="1400" dirty="0">
                <a:solidFill>
                  <a:schemeClr val="tx1"/>
                </a:solidFill>
              </a:rPr>
              <a:t>The margin as money, and as % of the account.</a:t>
            </a:r>
            <a:endParaRPr lang="en-US" sz="1500" dirty="0"/>
          </a:p>
        </p:txBody>
      </p:sp>
      <p:sp>
        <p:nvSpPr>
          <p:cNvPr id="40" name="Callout 4"/>
          <p:cNvSpPr/>
          <p:nvPr/>
        </p:nvSpPr>
        <p:spPr>
          <a:xfrm>
            <a:off x="7909560" y="3605995"/>
            <a:ext cx="274320" cy="274320"/>
          </a:xfrm>
          <a:prstGeom prst="ellipse">
            <a:avLst/>
          </a:prstGeom>
          <a:solidFill>
            <a:schemeClr val="accent1"/>
          </a:solidFill>
          <a:ln w="15875">
            <a:solidFill>
              <a:srgbClr val="FFFFFF"/>
            </a:solidFill>
            <a:prstDash val="solid"/>
          </a:ln>
        </p:spPr>
      </p:sp>
      <p:sp>
        <p:nvSpPr>
          <p:cNvPr id="41" name="Callout 4 number"/>
          <p:cNvSpPr txBox="1"/>
          <p:nvPr/>
        </p:nvSpPr>
        <p:spPr>
          <a:xfrm>
            <a:off x="7909560" y="360599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42" name="Callout text 5"/>
          <p:cNvSpPr txBox="1"/>
          <p:nvPr/>
        </p:nvSpPr>
        <p:spPr>
          <a:xfrm>
            <a:off x="8321040" y="4478406"/>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Combined columns</a:t>
            </a:r>
            <a:endParaRPr lang="en-US" sz="1500" dirty="0"/>
          </a:p>
          <a:p>
            <a:pPr algn="l" indent="0" marL="0">
              <a:buNone/>
            </a:pPr>
            <a:r>
              <a:rPr lang="en-US" sz="1400" dirty="0">
                <a:solidFill>
                  <a:schemeClr val="tx1"/>
                </a:solidFill>
              </a:rPr>
              <a:t>“None” simply means no other trade was open at the same time.</a:t>
            </a:r>
            <a:endParaRPr lang="en-US" sz="1500" dirty="0"/>
          </a:p>
        </p:txBody>
      </p:sp>
      <p:sp>
        <p:nvSpPr>
          <p:cNvPr id="43" name="Callout 5"/>
          <p:cNvSpPr/>
          <p:nvPr/>
        </p:nvSpPr>
        <p:spPr>
          <a:xfrm>
            <a:off x="7909560" y="4482978"/>
            <a:ext cx="274320" cy="274320"/>
          </a:xfrm>
          <a:prstGeom prst="ellipse">
            <a:avLst/>
          </a:prstGeom>
          <a:solidFill>
            <a:schemeClr val="accent1"/>
          </a:solidFill>
          <a:ln w="15875">
            <a:solidFill>
              <a:srgbClr val="FFFFFF"/>
            </a:solidFill>
            <a:prstDash val="solid"/>
          </a:ln>
        </p:spPr>
      </p:sp>
      <p:sp>
        <p:nvSpPr>
          <p:cNvPr id="44" name="Callout 5 number"/>
          <p:cNvSpPr txBox="1"/>
          <p:nvPr/>
        </p:nvSpPr>
        <p:spPr>
          <a:xfrm>
            <a:off x="7909560" y="4482978"/>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45" name="Callout text 6"/>
          <p:cNvSpPr txBox="1"/>
          <p:nvPr/>
        </p:nvSpPr>
        <p:spPr>
          <a:xfrm>
            <a:off x="8321040" y="535538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Notes</a:t>
            </a:r>
            <a:endParaRPr lang="en-US" sz="1500" dirty="0"/>
          </a:p>
          <a:p>
            <a:pPr algn="l" indent="0" marL="0">
              <a:buNone/>
            </a:pPr>
            <a:r>
              <a:rPr lang="en-US" sz="1400" dirty="0">
                <a:solidFill>
                  <a:schemeClr val="tx1"/>
                </a:solidFill>
              </a:rPr>
              <a:t>Plain-word explanations, e.g. “Overlaps with #5102”, or why a margin is missing.</a:t>
            </a:r>
            <a:endParaRPr lang="en-US" sz="1500" dirty="0"/>
          </a:p>
        </p:txBody>
      </p:sp>
      <p:sp>
        <p:nvSpPr>
          <p:cNvPr id="46" name="Callout 6"/>
          <p:cNvSpPr/>
          <p:nvPr/>
        </p:nvSpPr>
        <p:spPr>
          <a:xfrm>
            <a:off x="7909560" y="5359961"/>
            <a:ext cx="274320" cy="274320"/>
          </a:xfrm>
          <a:prstGeom prst="ellipse">
            <a:avLst/>
          </a:prstGeom>
          <a:solidFill>
            <a:schemeClr val="accent1"/>
          </a:solidFill>
          <a:ln w="15875">
            <a:solidFill>
              <a:srgbClr val="FFFFFF"/>
            </a:solidFill>
            <a:prstDash val="solid"/>
          </a:ln>
        </p:spPr>
      </p:sp>
      <p:sp>
        <p:nvSpPr>
          <p:cNvPr id="47" name="Callout 6 number"/>
          <p:cNvSpPr txBox="1"/>
          <p:nvPr/>
        </p:nvSpPr>
        <p:spPr>
          <a:xfrm>
            <a:off x="7909560" y="535996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22960" y="2286000"/>
            <a:ext cx="7315200" cy="365760"/>
          </a:xfrm>
          <a:prstGeom prst="rect">
            <a:avLst/>
          </a:prstGeom>
          <a:noFill/>
          <a:ln/>
        </p:spPr>
        <p:txBody>
          <a:bodyPr wrap="square" lIns="0" tIns="0" rIns="0" bIns="0" rtlCol="0" anchor="t"/>
          <a:lstStyle/>
          <a:p>
            <a:pPr indent="0" marL="0">
              <a:buNone/>
            </a:pPr>
            <a:r>
              <a:rPr lang="en-US" sz="1600" b="1" dirty="0">
                <a:solidFill>
                  <a:schemeClr val="accent1"/>
                </a:solidFill>
              </a:rPr>
              <a:t>PART 2</a:t>
            </a:r>
            <a:endParaRPr lang="en-US" sz="1600" dirty="0"/>
          </a:p>
        </p:txBody>
      </p:sp>
      <p:sp>
        <p:nvSpPr>
          <p:cNvPr id="3" name="Text 0"/>
          <p:cNvSpPr/>
          <p:nvPr>
            <p:ph idx="101" type="title" hasCustomPrompt="1"/>
          </p:nvPr>
        </p:nvSpPr>
        <p:spPr>
          <a:xfrm>
            <a:off x="822960" y="2697480"/>
            <a:ext cx="7315200" cy="1005840"/>
          </a:xfrm>
          <a:prstGeom prst="rect">
            <a:avLst/>
          </a:prstGeom>
          <a:noFill/>
          <a:ln/>
        </p:spPr>
        <p:txBody>
          <a:bodyPr wrap="square" lIns="0" tIns="0" rIns="0" bIns="0" rtlCol="0" anchor="t"/>
          <a:lstStyle/>
          <a:p>
            <a:pPr algn="l" indent="0" marL="0">
              <a:buNone/>
            </a:pPr>
            <a:r>
              <a:rPr lang="en-US" sz="4800" b="1" dirty="0">
                <a:solidFill>
                  <a:schemeClr val="bg1"/>
                </a:solidFill>
              </a:rPr>
              <a:t>What results look like</a:t>
            </a:r>
            <a:endParaRPr lang="en-US" sz="4800" dirty="0"/>
          </a:p>
        </p:txBody>
      </p:sp>
      <p:sp>
        <p:nvSpPr>
          <p:cNvPr id="4" name="Part number"/>
          <p:cNvSpPr txBox="1"/>
          <p:nvPr/>
        </p:nvSpPr>
        <p:spPr>
          <a:xfrm>
            <a:off x="7315200" y="1097280"/>
            <a:ext cx="4343400" cy="3566160"/>
          </a:xfrm>
          <a:prstGeom prst="rect">
            <a:avLst/>
          </a:prstGeom>
          <a:noFill/>
          <a:ln/>
        </p:spPr>
        <p:txBody>
          <a:bodyPr wrap="square" lIns="0" tIns="0" rIns="0" bIns="0" rtlCol="0" anchor="ctr"/>
          <a:lstStyle/>
          <a:p>
            <a:pPr algn="r" indent="0" marL="0">
              <a:buNone/>
            </a:pPr>
            <a:r>
              <a:rPr lang="en-US" sz="23000" b="1" dirty="0">
                <a:solidFill>
                  <a:srgbClr val="21466F"/>
                </a:solidFill>
                <a:latin typeface="+mj-lt" pitchFamily="34" charset="0"/>
                <a:ea typeface="+mj-lt" pitchFamily="34" charset="-122"/>
                <a:cs typeface="+mj-lt" pitchFamily="34" charset="-120"/>
              </a:rPr>
              <a:t>02</a:t>
            </a:r>
            <a:endParaRPr lang="en-US" sz="23000" dirty="0"/>
          </a:p>
        </p:txBody>
      </p:sp>
      <p:sp>
        <p:nvSpPr>
          <p:cNvPr id="5" name="Part subtitle"/>
          <p:cNvSpPr txBox="1"/>
          <p:nvPr/>
        </p:nvSpPr>
        <p:spPr>
          <a:xfrm>
            <a:off x="822960" y="3840480"/>
            <a:ext cx="7772400" cy="337464"/>
          </a:xfrm>
          <a:prstGeom prst="rect">
            <a:avLst/>
          </a:prstGeom>
          <a:noFill/>
          <a:ln/>
        </p:spPr>
        <p:txBody>
          <a:bodyPr wrap="square" lIns="0" tIns="0" rIns="0" bIns="0" rtlCol="0" anchor="t"/>
          <a:lstStyle/>
          <a:p>
            <a:pPr algn="l" indent="0" marL="0">
              <a:buNone/>
            </a:pPr>
            <a:r>
              <a:rPr lang="en-US" sz="2000" dirty="0">
                <a:solidFill>
                  <a:srgbClr val="C9D6E3"/>
                </a:solidFill>
              </a:rPr>
              <a:t>Four examples, each using a sample account</a:t>
            </a:r>
            <a:endParaRPr lang="en-US" sz="2000" dirty="0"/>
          </a:p>
        </p:txBody>
      </p:sp>
      <p:sp>
        <p:nvSpPr>
          <p:cNvPr id="6" name="Part contents"/>
          <p:cNvSpPr txBox="1"/>
          <p:nvPr/>
        </p:nvSpPr>
        <p:spPr>
          <a:xfrm>
            <a:off x="822960" y="5257800"/>
            <a:ext cx="10515600" cy="241711"/>
          </a:xfrm>
          <a:prstGeom prst="rect">
            <a:avLst/>
          </a:prstGeom>
          <a:noFill/>
          <a:ln/>
        </p:spPr>
        <p:txBody>
          <a:bodyPr wrap="square" lIns="0" tIns="0" rIns="0" bIns="0" rtlCol="0" anchor="t"/>
          <a:lstStyle/>
          <a:p>
            <a:pPr algn="l" indent="0" marL="0">
              <a:buNone/>
            </a:pPr>
            <a:r>
              <a:rPr lang="en-US" sz="1400" b="1" dirty="0">
                <a:solidFill>
                  <a:schemeClr val="accent1"/>
                </a:solidFill>
              </a:rPr>
              <a:t>Inside:  </a:t>
            </a:r>
            <a:r>
              <a:rPr lang="en-US" sz="1400" dirty="0">
                <a:solidFill>
                  <a:srgbClr val="9FB2C6"/>
                </a:solidFill>
              </a:rPr>
              <a:t>Wrong login ·   One trade over 70% ·   Trades open together ·   No trades ·   Downloading rows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1  ·  LOGIN ABC123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Wrong Login ID — you get a red error box</a:t>
            </a:r>
            <a:endParaRPr lang="en-US" sz="2600" dirty="0"/>
          </a:p>
        </p:txBody>
      </p:sp>
      <p:sp>
        <p:nvSpPr>
          <p:cNvPr id="4" name="Frame invalid_crop"/>
          <p:cNvSpPr/>
          <p:nvPr/>
        </p:nvSpPr>
        <p:spPr>
          <a:xfrm>
            <a:off x="548640" y="1371600"/>
            <a:ext cx="11094415" cy="2027488"/>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invalid_crop" descr="Screenshot of the High Margin app: invalid_crop">    </p:cNvPr>
          <p:cNvPicPr>
            <a:picLocks noChangeAspect="1"/>
          </p:cNvPicPr>
          <p:nvPr/>
        </p:nvPicPr>
        <p:blipFill>
          <a:blip r:embed="rId1"/>
          <a:stretch>
            <a:fillRect/>
          </a:stretch>
        </p:blipFill>
        <p:spPr>
          <a:xfrm>
            <a:off x="548640" y="1371600"/>
            <a:ext cx="11094415" cy="2027488"/>
          </a:xfrm>
          <a:prstGeom prst="rect">
            <a:avLst/>
          </a:prstGeom>
        </p:spPr>
      </p:pic>
      <p:sp>
        <p:nvSpPr>
          <p:cNvPr id="6" name="Callout 1"/>
          <p:cNvSpPr/>
          <p:nvPr/>
        </p:nvSpPr>
        <p:spPr>
          <a:xfrm>
            <a:off x="10846286" y="1602091"/>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10846286" y="160209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1008485" y="2791551"/>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1008485" y="27915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rd 1"/>
          <p:cNvSpPr/>
          <p:nvPr/>
        </p:nvSpPr>
        <p:spPr>
          <a:xfrm>
            <a:off x="548640" y="3719128"/>
            <a:ext cx="3545738" cy="1363980"/>
          </a:xfrm>
          <a:prstGeom prst="roundRect">
            <a:avLst>
              <a:gd name="adj" fmla="val 6704"/>
            </a:avLst>
          </a:prstGeom>
          <a:solidFill>
            <a:schemeClr val="bg2"/>
          </a:solidFill>
          <a:ln/>
        </p:spPr>
      </p:sp>
      <p:sp>
        <p:nvSpPr>
          <p:cNvPr id="11" name="Callout 1"/>
          <p:cNvSpPr/>
          <p:nvPr/>
        </p:nvSpPr>
        <p:spPr>
          <a:xfrm>
            <a:off x="713232" y="3883720"/>
            <a:ext cx="274320" cy="274320"/>
          </a:xfrm>
          <a:prstGeom prst="ellipse">
            <a:avLst/>
          </a:prstGeom>
          <a:solidFill>
            <a:schemeClr val="accent1"/>
          </a:solidFill>
          <a:ln w="15875">
            <a:solidFill>
              <a:srgbClr val="FFFFFF"/>
            </a:solidFill>
            <a:prstDash val="solid"/>
          </a:ln>
        </p:spPr>
      </p:sp>
      <p:sp>
        <p:nvSpPr>
          <p:cNvPr id="12" name="Callout 1 number"/>
          <p:cNvSpPr txBox="1"/>
          <p:nvPr/>
        </p:nvSpPr>
        <p:spPr>
          <a:xfrm>
            <a:off x="713232" y="388372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3" name="Card 1 title"/>
          <p:cNvSpPr txBox="1"/>
          <p:nvPr/>
        </p:nvSpPr>
        <p:spPr>
          <a:xfrm>
            <a:off x="1097280" y="3904675"/>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What you typed</a:t>
            </a:r>
            <a:endParaRPr lang="en-US" sz="1500" dirty="0"/>
          </a:p>
        </p:txBody>
      </p:sp>
      <p:sp>
        <p:nvSpPr>
          <p:cNvPr id="14" name="Card 1 body"/>
          <p:cNvSpPr txBox="1"/>
          <p:nvPr/>
        </p:nvSpPr>
        <p:spPr>
          <a:xfrm>
            <a:off x="713232" y="4231192"/>
            <a:ext cx="3216554" cy="465135"/>
          </a:xfrm>
          <a:prstGeom prst="rect">
            <a:avLst/>
          </a:prstGeom>
          <a:noFill/>
          <a:ln/>
        </p:spPr>
        <p:txBody>
          <a:bodyPr wrap="square" lIns="0" tIns="0" rIns="0" bIns="0" rtlCol="0" anchor="t"/>
          <a:lstStyle/>
          <a:p>
            <a:pPr algn="l" indent="0" marL="0">
              <a:buNone/>
            </a:pPr>
            <a:r>
              <a:rPr lang="en-US" sz="1400" dirty="0">
                <a:solidFill>
                  <a:schemeClr val="tx1"/>
                </a:solidFill>
              </a:rPr>
              <a:t>The Login ID that was sent. “ABC123” is not a valid login number.</a:t>
            </a:r>
            <a:endParaRPr lang="en-US" sz="1400" dirty="0"/>
          </a:p>
        </p:txBody>
      </p:sp>
      <p:sp>
        <p:nvSpPr>
          <p:cNvPr id="15" name="Card 2"/>
          <p:cNvSpPr/>
          <p:nvPr/>
        </p:nvSpPr>
        <p:spPr>
          <a:xfrm>
            <a:off x="4322978" y="3719128"/>
            <a:ext cx="3545738" cy="1363980"/>
          </a:xfrm>
          <a:prstGeom prst="roundRect">
            <a:avLst>
              <a:gd name="adj" fmla="val 6704"/>
            </a:avLst>
          </a:prstGeom>
          <a:solidFill>
            <a:schemeClr val="bg2"/>
          </a:solidFill>
          <a:ln/>
        </p:spPr>
      </p:sp>
      <p:sp>
        <p:nvSpPr>
          <p:cNvPr id="16" name="Callout 2"/>
          <p:cNvSpPr/>
          <p:nvPr/>
        </p:nvSpPr>
        <p:spPr>
          <a:xfrm>
            <a:off x="4487570" y="3883720"/>
            <a:ext cx="274320" cy="274320"/>
          </a:xfrm>
          <a:prstGeom prst="ellipse">
            <a:avLst/>
          </a:prstGeom>
          <a:solidFill>
            <a:schemeClr val="accent1"/>
          </a:solidFill>
          <a:ln w="15875">
            <a:solidFill>
              <a:srgbClr val="FFFFFF"/>
            </a:solidFill>
            <a:prstDash val="solid"/>
          </a:ln>
        </p:spPr>
      </p:sp>
      <p:sp>
        <p:nvSpPr>
          <p:cNvPr id="17" name="Callout 2 number"/>
          <p:cNvSpPr txBox="1"/>
          <p:nvPr/>
        </p:nvSpPr>
        <p:spPr>
          <a:xfrm>
            <a:off x="4487570" y="388372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8" name="Card 2 title"/>
          <p:cNvSpPr txBox="1"/>
          <p:nvPr/>
        </p:nvSpPr>
        <p:spPr>
          <a:xfrm>
            <a:off x="4871618" y="3904675"/>
            <a:ext cx="2832506" cy="241554"/>
          </a:xfrm>
          <a:prstGeom prst="rect">
            <a:avLst/>
          </a:prstGeom>
          <a:noFill/>
          <a:ln/>
        </p:spPr>
        <p:txBody>
          <a:bodyPr wrap="square" lIns="0" tIns="0" rIns="0" bIns="0" rtlCol="0" anchor="t"/>
          <a:lstStyle/>
          <a:p>
            <a:pPr algn="l" indent="0" marL="0">
              <a:buNone/>
            </a:pPr>
            <a:r>
              <a:rPr lang="en-US" sz="1500" b="1" dirty="0">
                <a:solidFill>
                  <a:schemeClr val="tx1"/>
                </a:solidFill>
              </a:rPr>
              <a:t>Red error box</a:t>
            </a:r>
            <a:endParaRPr lang="en-US" sz="1500" dirty="0"/>
          </a:p>
        </p:txBody>
      </p:sp>
      <p:sp>
        <p:nvSpPr>
          <p:cNvPr id="19" name="Card 2 body"/>
          <p:cNvSpPr txBox="1"/>
          <p:nvPr/>
        </p:nvSpPr>
        <p:spPr>
          <a:xfrm>
            <a:off x="4487570" y="423119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Red means the app stopped. Read the end of the message: “The value 'ABC123' is not valid.”</a:t>
            </a:r>
            <a:endParaRPr lang="en-US" sz="1400" dirty="0"/>
          </a:p>
        </p:txBody>
      </p:sp>
      <p:sp>
        <p:nvSpPr>
          <p:cNvPr id="20" name="Card 3"/>
          <p:cNvSpPr/>
          <p:nvPr/>
        </p:nvSpPr>
        <p:spPr>
          <a:xfrm>
            <a:off x="8097317" y="3719128"/>
            <a:ext cx="3545738" cy="1363980"/>
          </a:xfrm>
          <a:prstGeom prst="roundRect">
            <a:avLst>
              <a:gd name="adj" fmla="val 6704"/>
            </a:avLst>
          </a:prstGeom>
          <a:solidFill>
            <a:schemeClr val="bg2"/>
          </a:solidFill>
          <a:ln/>
        </p:spPr>
      </p:sp>
      <p:sp>
        <p:nvSpPr>
          <p:cNvPr id="21" name="Card 3 title"/>
          <p:cNvSpPr txBox="1"/>
          <p:nvPr/>
        </p:nvSpPr>
        <p:spPr>
          <a:xfrm>
            <a:off x="8261909" y="3883720"/>
            <a:ext cx="3216554" cy="241554"/>
          </a:xfrm>
          <a:prstGeom prst="rect">
            <a:avLst/>
          </a:prstGeom>
          <a:noFill/>
          <a:ln/>
        </p:spPr>
        <p:txBody>
          <a:bodyPr wrap="square" lIns="0" tIns="0" rIns="0" bIns="0" rtlCol="0" anchor="t"/>
          <a:lstStyle/>
          <a:p>
            <a:pPr algn="l" indent="0" marL="0">
              <a:buNone/>
            </a:pPr>
            <a:r>
              <a:rPr lang="en-US" sz="1500" b="1" dirty="0">
                <a:solidFill>
                  <a:schemeClr val="tx1"/>
                </a:solidFill>
              </a:rPr>
              <a:t>What to do</a:t>
            </a:r>
            <a:endParaRPr lang="en-US" sz="1500" dirty="0"/>
          </a:p>
        </p:txBody>
      </p:sp>
      <p:sp>
        <p:nvSpPr>
          <p:cNvPr id="22" name="Card 3 body"/>
          <p:cNvSpPr txBox="1"/>
          <p:nvPr/>
        </p:nvSpPr>
        <p:spPr>
          <a:xfrm>
            <a:off x="8261909" y="4189282"/>
            <a:ext cx="3216554" cy="688558"/>
          </a:xfrm>
          <a:prstGeom prst="rect">
            <a:avLst/>
          </a:prstGeom>
          <a:noFill/>
          <a:ln/>
        </p:spPr>
        <p:txBody>
          <a:bodyPr wrap="square" lIns="0" tIns="0" rIns="0" bIns="0" rtlCol="0" anchor="t"/>
          <a:lstStyle/>
          <a:p>
            <a:pPr algn="l" indent="0" marL="0">
              <a:buNone/>
            </a:pPr>
            <a:r>
              <a:rPr lang="en-US" sz="1400" dirty="0">
                <a:solidFill>
                  <a:schemeClr val="tx1"/>
                </a:solidFill>
              </a:rPr>
              <a:t>Check the number and try again. If a correct number still fails, wait a few minutes, retry, then ask the Data team.</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2  ·  LOGIN DEMO-02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One trade uses more than 70% — its row turns yellow</a:t>
            </a:r>
            <a:endParaRPr lang="en-US" sz="2600" dirty="0"/>
          </a:p>
        </p:txBody>
      </p:sp>
      <p:sp>
        <p:nvSpPr>
          <p:cNvPr id="4" name="Frame demo02_summary"/>
          <p:cNvSpPr/>
          <p:nvPr/>
        </p:nvSpPr>
        <p:spPr>
          <a:xfrm>
            <a:off x="548640" y="1371600"/>
            <a:ext cx="7086600" cy="1474648"/>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2_summary" descr="Screenshot of the High Margin app: demo02_summary">    </p:cNvPr>
          <p:cNvPicPr>
            <a:picLocks noChangeAspect="1"/>
          </p:cNvPicPr>
          <p:nvPr/>
        </p:nvPicPr>
        <p:blipFill>
          <a:blip r:embed="rId1"/>
          <a:stretch>
            <a:fillRect/>
          </a:stretch>
        </p:blipFill>
        <p:spPr>
          <a:xfrm>
            <a:off x="548640" y="1371600"/>
            <a:ext cx="7086600" cy="1474648"/>
          </a:xfrm>
          <a:prstGeom prst="rect">
            <a:avLst/>
          </a:prstGeom>
        </p:spPr>
      </p:pic>
      <p:sp>
        <p:nvSpPr>
          <p:cNvPr id="6" name="Callout 1"/>
          <p:cNvSpPr/>
          <p:nvPr/>
        </p:nvSpPr>
        <p:spPr>
          <a:xfrm>
            <a:off x="7145822" y="1462372"/>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7145822" y="146237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4728366" y="1752466"/>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4728366" y="175246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7145822" y="2298903"/>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7145822" y="229890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Bar panel"/>
          <p:cNvSpPr/>
          <p:nvPr/>
        </p:nvSpPr>
        <p:spPr>
          <a:xfrm>
            <a:off x="548640" y="3120568"/>
            <a:ext cx="7086600" cy="3143072"/>
          </a:xfrm>
          <a:prstGeom prst="roundRect">
            <a:avLst>
              <a:gd name="adj" fmla="val 2909"/>
            </a:avLst>
          </a:prstGeom>
          <a:solidFill>
            <a:schemeClr val="bg2"/>
          </a:solidFill>
          <a:ln/>
        </p:spPr>
      </p:sp>
      <p:sp>
        <p:nvSpPr>
          <p:cNvPr id="13" name="Text 10"/>
          <p:cNvSpPr txBox="1"/>
          <p:nvPr/>
        </p:nvSpPr>
        <p:spPr>
          <a:xfrm>
            <a:off x="777240" y="3285160"/>
            <a:ext cx="5486400" cy="241711"/>
          </a:xfrm>
          <a:prstGeom prst="rect">
            <a:avLst/>
          </a:prstGeom>
          <a:noFill/>
          <a:ln/>
        </p:spPr>
        <p:txBody>
          <a:bodyPr wrap="square" lIns="0" tIns="0" rIns="0" bIns="0" rtlCol="0" anchor="t"/>
          <a:lstStyle/>
          <a:p>
            <a:pPr algn="l" indent="0" marL="0">
              <a:buNone/>
            </a:pPr>
            <a:r>
              <a:rPr lang="en-US" sz="1400" b="1" dirty="0">
                <a:solidFill>
                  <a:schemeClr val="tx1"/>
                </a:solidFill>
              </a:rPr>
              <a:t>How much of the account each trade used</a:t>
            </a:r>
            <a:endParaRPr lang="en-US" sz="1400" dirty="0"/>
          </a:p>
        </p:txBody>
      </p:sp>
      <p:sp>
        <p:nvSpPr>
          <p:cNvPr id="14" name="Text 11"/>
          <p:cNvSpPr txBox="1"/>
          <p:nvPr/>
        </p:nvSpPr>
        <p:spPr>
          <a:xfrm>
            <a:off x="777240" y="3687496"/>
            <a:ext cx="1325880" cy="310896"/>
          </a:xfrm>
          <a:prstGeom prst="rect">
            <a:avLst/>
          </a:prstGeom>
          <a:noFill/>
          <a:ln/>
        </p:spPr>
        <p:txBody>
          <a:bodyPr wrap="square" lIns="0" tIns="0" rIns="0" bIns="0" rtlCol="0" anchor="ctr"/>
          <a:lstStyle/>
          <a:p>
            <a:pPr algn="l" indent="0" marL="0">
              <a:buNone/>
            </a:pPr>
            <a:r>
              <a:rPr lang="en-US" sz="1300" dirty="0">
                <a:solidFill>
                  <a:schemeClr val="tx1"/>
                </a:solidFill>
              </a:rPr>
              <a:t>6201 EURUSD</a:t>
            </a:r>
            <a:endParaRPr lang="en-US" sz="1300" dirty="0"/>
          </a:p>
        </p:txBody>
      </p:sp>
      <p:sp>
        <p:nvSpPr>
          <p:cNvPr id="15" name="Bar 6201 EURUSD"/>
          <p:cNvSpPr/>
          <p:nvPr/>
        </p:nvSpPr>
        <p:spPr>
          <a:xfrm>
            <a:off x="2148840" y="3687496"/>
            <a:ext cx="499637" cy="310896"/>
          </a:xfrm>
          <a:prstGeom prst="rect">
            <a:avLst/>
          </a:prstGeom>
          <a:solidFill>
            <a:srgbClr val="C5CED8"/>
          </a:solidFill>
          <a:ln/>
        </p:spPr>
      </p:sp>
      <p:sp>
        <p:nvSpPr>
          <p:cNvPr id="16" name="Text 13"/>
          <p:cNvSpPr txBox="1"/>
          <p:nvPr/>
        </p:nvSpPr>
        <p:spPr>
          <a:xfrm>
            <a:off x="2721629" y="3687496"/>
            <a:ext cx="822960" cy="310896"/>
          </a:xfrm>
          <a:prstGeom prst="rect">
            <a:avLst/>
          </a:prstGeom>
          <a:noFill/>
          <a:ln/>
        </p:spPr>
        <p:txBody>
          <a:bodyPr wrap="square" lIns="0" tIns="0" rIns="0" bIns="0" rtlCol="0" anchor="ctr"/>
          <a:lstStyle/>
          <a:p>
            <a:pPr algn="l" indent="0" marL="0">
              <a:buNone/>
            </a:pPr>
            <a:r>
              <a:rPr lang="en-US" sz="1300" dirty="0">
                <a:solidFill>
                  <a:schemeClr val="tx1"/>
                </a:solidFill>
              </a:rPr>
              <a:t>10.82%</a:t>
            </a:r>
            <a:endParaRPr lang="en-US" sz="1300" dirty="0"/>
          </a:p>
        </p:txBody>
      </p:sp>
      <p:sp>
        <p:nvSpPr>
          <p:cNvPr id="17" name="Text 14"/>
          <p:cNvSpPr txBox="1"/>
          <p:nvPr/>
        </p:nvSpPr>
        <p:spPr>
          <a:xfrm>
            <a:off x="777240" y="4144696"/>
            <a:ext cx="1325880" cy="310896"/>
          </a:xfrm>
          <a:prstGeom prst="rect">
            <a:avLst/>
          </a:prstGeom>
          <a:noFill/>
          <a:ln/>
        </p:spPr>
        <p:txBody>
          <a:bodyPr wrap="square" lIns="0" tIns="0" rIns="0" bIns="0" rtlCol="0" anchor="ctr"/>
          <a:lstStyle/>
          <a:p>
            <a:pPr algn="l" indent="0" marL="0">
              <a:buNone/>
            </a:pPr>
            <a:r>
              <a:rPr lang="en-US" sz="1300" b="1" dirty="0">
                <a:solidFill>
                  <a:schemeClr val="tx1"/>
                </a:solidFill>
              </a:rPr>
              <a:t>6202 XAUUSD</a:t>
            </a:r>
            <a:endParaRPr lang="en-US" sz="1300" dirty="0"/>
          </a:p>
        </p:txBody>
      </p:sp>
      <p:sp>
        <p:nvSpPr>
          <p:cNvPr id="18" name="Bar 6202 XAUUSD"/>
          <p:cNvSpPr/>
          <p:nvPr/>
        </p:nvSpPr>
        <p:spPr>
          <a:xfrm>
            <a:off x="2148840" y="4144696"/>
            <a:ext cx="3324758" cy="310896"/>
          </a:xfrm>
          <a:prstGeom prst="rect">
            <a:avLst/>
          </a:prstGeom>
          <a:solidFill>
            <a:schemeClr val="accent2"/>
          </a:solidFill>
          <a:ln w="15875">
            <a:solidFill>
              <a:schemeClr val="accent1"/>
            </a:solidFill>
            <a:prstDash val="solid"/>
          </a:ln>
        </p:spPr>
      </p:sp>
      <p:sp>
        <p:nvSpPr>
          <p:cNvPr id="19" name="Text 16"/>
          <p:cNvSpPr txBox="1"/>
          <p:nvPr/>
        </p:nvSpPr>
        <p:spPr>
          <a:xfrm>
            <a:off x="5546750" y="4144696"/>
            <a:ext cx="822960" cy="310896"/>
          </a:xfrm>
          <a:prstGeom prst="rect">
            <a:avLst/>
          </a:prstGeom>
          <a:noFill/>
          <a:ln/>
        </p:spPr>
        <p:txBody>
          <a:bodyPr wrap="square" lIns="0" tIns="0" rIns="0" bIns="0" rtlCol="0" anchor="ctr"/>
          <a:lstStyle/>
          <a:p>
            <a:pPr algn="l" indent="0" marL="0">
              <a:buNone/>
            </a:pPr>
            <a:r>
              <a:rPr lang="en-US" sz="1300" b="1" dirty="0">
                <a:solidFill>
                  <a:schemeClr val="tx1"/>
                </a:solidFill>
              </a:rPr>
              <a:t>72.00%</a:t>
            </a:r>
            <a:endParaRPr lang="en-US" sz="1300" dirty="0"/>
          </a:p>
        </p:txBody>
      </p:sp>
      <p:sp>
        <p:nvSpPr>
          <p:cNvPr id="20" name="Text 17"/>
          <p:cNvSpPr txBox="1"/>
          <p:nvPr/>
        </p:nvSpPr>
        <p:spPr>
          <a:xfrm>
            <a:off x="777240" y="4601896"/>
            <a:ext cx="1325880" cy="310896"/>
          </a:xfrm>
          <a:prstGeom prst="rect">
            <a:avLst/>
          </a:prstGeom>
          <a:noFill/>
          <a:ln/>
        </p:spPr>
        <p:txBody>
          <a:bodyPr wrap="square" lIns="0" tIns="0" rIns="0" bIns="0" rtlCol="0" anchor="ctr"/>
          <a:lstStyle/>
          <a:p>
            <a:pPr algn="l" indent="0" marL="0">
              <a:buNone/>
            </a:pPr>
            <a:r>
              <a:rPr lang="en-US" sz="1300" dirty="0">
                <a:solidFill>
                  <a:schemeClr val="tx1"/>
                </a:solidFill>
              </a:rPr>
              <a:t>6203 GBPUSD</a:t>
            </a:r>
            <a:endParaRPr lang="en-US" sz="1300" dirty="0"/>
          </a:p>
        </p:txBody>
      </p:sp>
      <p:sp>
        <p:nvSpPr>
          <p:cNvPr id="21" name="Bar 6203 GBPUSD"/>
          <p:cNvSpPr/>
          <p:nvPr/>
        </p:nvSpPr>
        <p:spPr>
          <a:xfrm>
            <a:off x="2148840" y="4601896"/>
            <a:ext cx="480705" cy="310896"/>
          </a:xfrm>
          <a:prstGeom prst="rect">
            <a:avLst/>
          </a:prstGeom>
          <a:solidFill>
            <a:srgbClr val="C5CED8"/>
          </a:solidFill>
          <a:ln/>
        </p:spPr>
      </p:sp>
      <p:sp>
        <p:nvSpPr>
          <p:cNvPr id="22" name="Text 19"/>
          <p:cNvSpPr txBox="1"/>
          <p:nvPr/>
        </p:nvSpPr>
        <p:spPr>
          <a:xfrm>
            <a:off x="2702697" y="4601896"/>
            <a:ext cx="822960" cy="310896"/>
          </a:xfrm>
          <a:prstGeom prst="rect">
            <a:avLst/>
          </a:prstGeom>
          <a:noFill/>
          <a:ln/>
        </p:spPr>
        <p:txBody>
          <a:bodyPr wrap="square" lIns="0" tIns="0" rIns="0" bIns="0" rtlCol="0" anchor="ctr"/>
          <a:lstStyle/>
          <a:p>
            <a:pPr algn="l" indent="0" marL="0">
              <a:buNone/>
            </a:pPr>
            <a:r>
              <a:rPr lang="en-US" sz="1300" dirty="0">
                <a:solidFill>
                  <a:schemeClr val="tx1"/>
                </a:solidFill>
              </a:rPr>
              <a:t>10.41%</a:t>
            </a:r>
            <a:endParaRPr lang="en-US" sz="1300" dirty="0"/>
          </a:p>
        </p:txBody>
      </p:sp>
      <p:sp>
        <p:nvSpPr>
          <p:cNvPr id="23" name="Shape 20"/>
          <p:cNvSpPr/>
          <p:nvPr/>
        </p:nvSpPr>
        <p:spPr>
          <a:xfrm>
            <a:off x="5381244" y="3577768"/>
            <a:ext cx="0" cy="1481328"/>
          </a:xfrm>
          <a:prstGeom prst="line">
            <a:avLst/>
          </a:prstGeom>
          <a:noFill/>
          <a:ln w="22225">
            <a:solidFill>
              <a:schemeClr val="accent3"/>
            </a:solidFill>
            <a:prstDash val="dash"/>
          </a:ln>
        </p:spPr>
      </p:sp>
      <p:sp>
        <p:nvSpPr>
          <p:cNvPr id="24" name="Text 21"/>
          <p:cNvSpPr txBox="1"/>
          <p:nvPr/>
        </p:nvSpPr>
        <p:spPr>
          <a:xfrm>
            <a:off x="4832604" y="5077384"/>
            <a:ext cx="1097280" cy="209794"/>
          </a:xfrm>
          <a:prstGeom prst="rect">
            <a:avLst/>
          </a:prstGeom>
          <a:noFill/>
          <a:ln/>
        </p:spPr>
        <p:txBody>
          <a:bodyPr wrap="square" lIns="0" tIns="0" rIns="0" bIns="0" rtlCol="0" anchor="t"/>
          <a:lstStyle/>
          <a:p>
            <a:pPr algn="ctr" indent="0" marL="0">
              <a:buNone/>
            </a:pPr>
            <a:r>
              <a:rPr lang="en-US" sz="1200" b="1" dirty="0">
                <a:solidFill>
                  <a:schemeClr val="accent3"/>
                </a:solidFill>
              </a:rPr>
              <a:t>70% line</a:t>
            </a:r>
            <a:endParaRPr lang="en-US" sz="1200" dirty="0"/>
          </a:p>
        </p:txBody>
      </p:sp>
      <p:sp>
        <p:nvSpPr>
          <p:cNvPr id="25" name="Bar explanation"/>
          <p:cNvSpPr txBox="1"/>
          <p:nvPr/>
        </p:nvSpPr>
        <p:spPr>
          <a:xfrm>
            <a:off x="777240" y="5406568"/>
            <a:ext cx="6629400" cy="465135"/>
          </a:xfrm>
          <a:prstGeom prst="rect">
            <a:avLst/>
          </a:prstGeom>
          <a:noFill/>
          <a:ln/>
        </p:spPr>
        <p:txBody>
          <a:bodyPr wrap="square" lIns="0" tIns="0" rIns="0" bIns="0" rtlCol="0" anchor="t"/>
          <a:lstStyle/>
          <a:p>
            <a:pPr algn="l" indent="0" marL="0">
              <a:buNone/>
            </a:pPr>
            <a:r>
              <a:rPr lang="en-US" sz="1400" dirty="0">
                <a:solidFill>
                  <a:schemeClr val="tx1"/>
                </a:solidFill>
              </a:rPr>
              <a:t>Trade 6202 tied up 7,200 of a 10,000 account = 72%. That is more than 70%, so it is yellow — even though no other trade was open at the same time.</a:t>
            </a:r>
            <a:endParaRPr lang="en-US" sz="1400" dirty="0"/>
          </a:p>
        </p:txBody>
      </p:sp>
      <p:sp>
        <p:nvSpPr>
          <p:cNvPr id="26"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Heading</a:t>
            </a:r>
            <a:endParaRPr lang="en-US" sz="1500" dirty="0"/>
          </a:p>
          <a:p>
            <a:pPr algn="l" indent="0" marL="0">
              <a:buNone/>
            </a:pPr>
            <a:r>
              <a:rPr lang="en-US" sz="1400" dirty="0">
                <a:solidFill>
                  <a:schemeClr val="tx1"/>
                </a:solidFill>
              </a:rPr>
              <a:t>“1 own margin above 70%” = one trade is over the line by itself.</a:t>
            </a:r>
            <a:endParaRPr lang="en-US" sz="1500" dirty="0"/>
          </a:p>
        </p:txBody>
      </p:sp>
      <p:sp>
        <p:nvSpPr>
          <p:cNvPr id="27"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28"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9" name="Callout text 2"/>
          <p:cNvSpPr txBox="1"/>
          <p:nvPr/>
        </p:nvSpPr>
        <p:spPr>
          <a:xfrm>
            <a:off x="8321040" y="2330879"/>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Caption</a:t>
            </a:r>
            <a:endParaRPr lang="en-US" sz="1500" dirty="0"/>
          </a:p>
          <a:p>
            <a:pPr algn="l" indent="0" marL="0">
              <a:buNone/>
            </a:pPr>
            <a:r>
              <a:rPr lang="en-US" sz="1400" dirty="0">
                <a:solidFill>
                  <a:schemeClr val="tx1"/>
                </a:solidFill>
              </a:rPr>
              <a:t>“1 row(s) highlighted in total.”</a:t>
            </a:r>
            <a:endParaRPr lang="en-US" sz="1500" dirty="0"/>
          </a:p>
        </p:txBody>
      </p:sp>
      <p:sp>
        <p:nvSpPr>
          <p:cNvPr id="30" name="Callout 2"/>
          <p:cNvSpPr/>
          <p:nvPr/>
        </p:nvSpPr>
        <p:spPr>
          <a:xfrm>
            <a:off x="7909560" y="2335451"/>
            <a:ext cx="274320" cy="274320"/>
          </a:xfrm>
          <a:prstGeom prst="ellipse">
            <a:avLst/>
          </a:prstGeom>
          <a:solidFill>
            <a:schemeClr val="accent1"/>
          </a:solidFill>
          <a:ln w="15875">
            <a:solidFill>
              <a:srgbClr val="FFFFFF"/>
            </a:solidFill>
            <a:prstDash val="solid"/>
          </a:ln>
        </p:spPr>
      </p:sp>
      <p:sp>
        <p:nvSpPr>
          <p:cNvPr id="31" name="Callout 2 number"/>
          <p:cNvSpPr txBox="1"/>
          <p:nvPr/>
        </p:nvSpPr>
        <p:spPr>
          <a:xfrm>
            <a:off x="7909560" y="233545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32" name="Callout text 3"/>
          <p:cNvSpPr txBox="1"/>
          <p:nvPr/>
        </p:nvSpPr>
        <p:spPr>
          <a:xfrm>
            <a:off x="8321040" y="3021015"/>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Yellow row</a:t>
            </a:r>
            <a:endParaRPr lang="en-US" sz="1500" dirty="0"/>
          </a:p>
          <a:p>
            <a:pPr algn="l" indent="0" marL="0">
              <a:buNone/>
            </a:pPr>
            <a:r>
              <a:rPr lang="en-US" sz="1400" dirty="0">
                <a:solidFill>
                  <a:schemeClr val="tx1"/>
                </a:solidFill>
              </a:rPr>
              <a:t>Trade 6202 (gold) used 72.00% of the account. It is yellow in the Trades table too.</a:t>
            </a:r>
            <a:endParaRPr lang="en-US" sz="1500" dirty="0"/>
          </a:p>
        </p:txBody>
      </p:sp>
      <p:sp>
        <p:nvSpPr>
          <p:cNvPr id="33" name="Callout 3"/>
          <p:cNvSpPr/>
          <p:nvPr/>
        </p:nvSpPr>
        <p:spPr>
          <a:xfrm>
            <a:off x="7909560" y="3025587"/>
            <a:ext cx="274320" cy="274320"/>
          </a:xfrm>
          <a:prstGeom prst="ellipse">
            <a:avLst/>
          </a:prstGeom>
          <a:solidFill>
            <a:schemeClr val="accent1"/>
          </a:solidFill>
          <a:ln w="15875">
            <a:solidFill>
              <a:srgbClr val="FFFFFF"/>
            </a:solidFill>
            <a:prstDash val="solid"/>
          </a:ln>
        </p:spPr>
      </p:sp>
      <p:sp>
        <p:nvSpPr>
          <p:cNvPr id="34" name="Callout 3 number"/>
          <p:cNvSpPr txBox="1"/>
          <p:nvPr/>
        </p:nvSpPr>
        <p:spPr>
          <a:xfrm>
            <a:off x="7909560" y="3025587"/>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3  ·  LOGIN DEMO-03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Trades open at the same time are added together</a:t>
            </a:r>
            <a:endParaRPr lang="en-US" sz="2600" dirty="0"/>
          </a:p>
        </p:txBody>
      </p:sp>
      <p:sp>
        <p:nvSpPr>
          <p:cNvPr id="4" name="Frame demo03_summary"/>
          <p:cNvSpPr/>
          <p:nvPr/>
        </p:nvSpPr>
        <p:spPr>
          <a:xfrm>
            <a:off x="548640" y="1371600"/>
            <a:ext cx="7086600" cy="1654231"/>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3_summary" descr="Screenshot of the High Margin app: demo03_summary">    </p:cNvPr>
          <p:cNvPicPr>
            <a:picLocks noChangeAspect="1"/>
          </p:cNvPicPr>
          <p:nvPr/>
        </p:nvPicPr>
        <p:blipFill>
          <a:blip r:embed="rId1"/>
          <a:stretch>
            <a:fillRect/>
          </a:stretch>
        </p:blipFill>
        <p:spPr>
          <a:xfrm>
            <a:off x="548640" y="1371600"/>
            <a:ext cx="7086600" cy="1654231"/>
          </a:xfrm>
          <a:prstGeom prst="rect">
            <a:avLst/>
          </a:prstGeom>
        </p:spPr>
      </p:pic>
      <p:sp>
        <p:nvSpPr>
          <p:cNvPr id="6" name="Frame demo03_summary_right"/>
          <p:cNvSpPr/>
          <p:nvPr/>
        </p:nvSpPr>
        <p:spPr>
          <a:xfrm>
            <a:off x="548640" y="3226999"/>
            <a:ext cx="7086600" cy="994611"/>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7" name="Screenshot demo03_summary_right" descr="Screenshot of the High Margin app: demo03_summary_right">    </p:cNvPr>
          <p:cNvPicPr>
            <a:picLocks noChangeAspect="1"/>
          </p:cNvPicPr>
          <p:nvPr/>
        </p:nvPicPr>
        <p:blipFill>
          <a:blip r:embed="rId2"/>
          <a:stretch>
            <a:fillRect/>
          </a:stretch>
        </p:blipFill>
        <p:spPr>
          <a:xfrm>
            <a:off x="548640" y="3226999"/>
            <a:ext cx="7086600" cy="994611"/>
          </a:xfrm>
          <a:prstGeom prst="rect">
            <a:avLst/>
          </a:prstGeom>
        </p:spPr>
      </p:pic>
      <p:sp>
        <p:nvSpPr>
          <p:cNvPr id="8" name="Callout 1"/>
          <p:cNvSpPr/>
          <p:nvPr/>
        </p:nvSpPr>
        <p:spPr>
          <a:xfrm>
            <a:off x="7145822" y="1462372"/>
            <a:ext cx="274320" cy="274320"/>
          </a:xfrm>
          <a:prstGeom prst="ellipse">
            <a:avLst/>
          </a:prstGeom>
          <a:solidFill>
            <a:schemeClr val="accent1"/>
          </a:solidFill>
          <a:ln w="15875">
            <a:solidFill>
              <a:srgbClr val="FFFFFF"/>
            </a:solidFill>
            <a:prstDash val="solid"/>
          </a:ln>
        </p:spPr>
      </p:sp>
      <p:sp>
        <p:nvSpPr>
          <p:cNvPr id="9" name="Callout 1 number"/>
          <p:cNvSpPr txBox="1"/>
          <p:nvPr/>
        </p:nvSpPr>
        <p:spPr>
          <a:xfrm>
            <a:off x="7145822" y="146237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Callout 2"/>
          <p:cNvSpPr/>
          <p:nvPr/>
        </p:nvSpPr>
        <p:spPr>
          <a:xfrm>
            <a:off x="613726" y="3432816"/>
            <a:ext cx="173736" cy="173736"/>
          </a:xfrm>
          <a:prstGeom prst="ellipse">
            <a:avLst/>
          </a:prstGeom>
          <a:solidFill>
            <a:schemeClr val="accent1"/>
          </a:solidFill>
          <a:ln w="15875">
            <a:solidFill>
              <a:srgbClr val="FFFFFF"/>
            </a:solidFill>
            <a:prstDash val="solid"/>
          </a:ln>
        </p:spPr>
      </p:sp>
      <p:sp>
        <p:nvSpPr>
          <p:cNvPr id="11" name="Callout 2 number"/>
          <p:cNvSpPr txBox="1"/>
          <p:nvPr/>
        </p:nvSpPr>
        <p:spPr>
          <a:xfrm>
            <a:off x="613726" y="3432816"/>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2</a:t>
            </a:r>
            <a:endParaRPr lang="en-US" sz="1000" dirty="0"/>
          </a:p>
        </p:txBody>
      </p:sp>
      <p:sp>
        <p:nvSpPr>
          <p:cNvPr id="12" name="Callout 3"/>
          <p:cNvSpPr/>
          <p:nvPr/>
        </p:nvSpPr>
        <p:spPr>
          <a:xfrm>
            <a:off x="613726" y="3614125"/>
            <a:ext cx="173736" cy="173736"/>
          </a:xfrm>
          <a:prstGeom prst="ellipse">
            <a:avLst/>
          </a:prstGeom>
          <a:solidFill>
            <a:schemeClr val="accent1"/>
          </a:solidFill>
          <a:ln w="15875">
            <a:solidFill>
              <a:srgbClr val="FFFFFF"/>
            </a:solidFill>
            <a:prstDash val="solid"/>
          </a:ln>
        </p:spPr>
      </p:sp>
      <p:sp>
        <p:nvSpPr>
          <p:cNvPr id="13" name="Callout 3 number"/>
          <p:cNvSpPr txBox="1"/>
          <p:nvPr/>
        </p:nvSpPr>
        <p:spPr>
          <a:xfrm>
            <a:off x="613726" y="3614125"/>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3</a:t>
            </a:r>
            <a:endParaRPr lang="en-US" sz="1000" dirty="0"/>
          </a:p>
        </p:txBody>
      </p:sp>
      <p:sp>
        <p:nvSpPr>
          <p:cNvPr id="14" name="Callout 4"/>
          <p:cNvSpPr/>
          <p:nvPr/>
        </p:nvSpPr>
        <p:spPr>
          <a:xfrm>
            <a:off x="613726" y="3795434"/>
            <a:ext cx="173736" cy="173736"/>
          </a:xfrm>
          <a:prstGeom prst="ellipse">
            <a:avLst/>
          </a:prstGeom>
          <a:solidFill>
            <a:schemeClr val="accent1"/>
          </a:solidFill>
          <a:ln w="15875">
            <a:solidFill>
              <a:srgbClr val="FFFFFF"/>
            </a:solidFill>
            <a:prstDash val="solid"/>
          </a:ln>
        </p:spPr>
      </p:sp>
      <p:sp>
        <p:nvSpPr>
          <p:cNvPr id="15" name="Callout 4 number"/>
          <p:cNvSpPr txBox="1"/>
          <p:nvPr/>
        </p:nvSpPr>
        <p:spPr>
          <a:xfrm>
            <a:off x="613726" y="3795434"/>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4</a:t>
            </a:r>
            <a:endParaRPr lang="en-US" sz="1000" dirty="0"/>
          </a:p>
        </p:txBody>
      </p:sp>
      <p:sp>
        <p:nvSpPr>
          <p:cNvPr id="16" name="Callout 5"/>
          <p:cNvSpPr/>
          <p:nvPr/>
        </p:nvSpPr>
        <p:spPr>
          <a:xfrm>
            <a:off x="613726" y="3976743"/>
            <a:ext cx="173736" cy="173736"/>
          </a:xfrm>
          <a:prstGeom prst="ellipse">
            <a:avLst/>
          </a:prstGeom>
          <a:solidFill>
            <a:schemeClr val="accent1"/>
          </a:solidFill>
          <a:ln w="15875">
            <a:solidFill>
              <a:srgbClr val="FFFFFF"/>
            </a:solidFill>
            <a:prstDash val="solid"/>
          </a:ln>
        </p:spPr>
      </p:sp>
      <p:sp>
        <p:nvSpPr>
          <p:cNvPr id="17" name="Callout 5 number"/>
          <p:cNvSpPr txBox="1"/>
          <p:nvPr/>
        </p:nvSpPr>
        <p:spPr>
          <a:xfrm>
            <a:off x="613726" y="3976743"/>
            <a:ext cx="173736" cy="173736"/>
          </a:xfrm>
          <a:prstGeom prst="rect">
            <a:avLst/>
          </a:prstGeom>
          <a:noFill/>
          <a:ln/>
        </p:spPr>
        <p:txBody>
          <a:bodyPr wrap="square" lIns="0" tIns="0" rIns="0" bIns="0" rtlCol="0" anchor="ctr"/>
          <a:lstStyle/>
          <a:p>
            <a:pPr algn="ctr" indent="0" marL="0">
              <a:buNone/>
            </a:pPr>
            <a:r>
              <a:rPr lang="en-US" sz="1000" b="1" dirty="0">
                <a:solidFill>
                  <a:schemeClr val="tx1"/>
                </a:solidFill>
              </a:rPr>
              <a:t>5</a:t>
            </a:r>
            <a:endParaRPr lang="en-US" sz="1000" dirty="0"/>
          </a:p>
        </p:txBody>
      </p:sp>
      <p:sp>
        <p:nvSpPr>
          <p:cNvPr id="18" name="Text 14"/>
          <p:cNvSpPr txBox="1"/>
          <p:nvPr/>
        </p:nvSpPr>
        <p:spPr>
          <a:xfrm>
            <a:off x="548640" y="4313049"/>
            <a:ext cx="7086600" cy="209794"/>
          </a:xfrm>
          <a:prstGeom prst="rect">
            <a:avLst/>
          </a:prstGeom>
          <a:noFill/>
          <a:ln/>
        </p:spPr>
        <p:txBody>
          <a:bodyPr wrap="square" lIns="0" tIns="0" rIns="0" bIns="0" rtlCol="0" anchor="t"/>
          <a:lstStyle/>
          <a:p>
            <a:pPr algn="l" indent="0" marL="0">
              <a:buNone/>
            </a:pPr>
            <a:r>
              <a:rPr lang="en-US" sz="1200" dirty="0">
                <a:solidFill>
                  <a:schemeClr val="accent6"/>
                </a:solidFill>
              </a:rPr>
              <a:t>Top: left side of the Margin summary. Bottom: the same rows scrolled right to the combined columns.</a:t>
            </a:r>
            <a:endParaRPr lang="en-US" sz="1200" dirty="0"/>
          </a:p>
        </p:txBody>
      </p:sp>
      <p:sp>
        <p:nvSpPr>
          <p:cNvPr id="19" name="Read it like this"/>
          <p:cNvSpPr txBox="1"/>
          <p:nvPr/>
        </p:nvSpPr>
        <p:spPr>
          <a:xfrm>
            <a:off x="548640" y="4892040"/>
            <a:ext cx="7086600" cy="979218"/>
          </a:xfrm>
          <a:prstGeom prst="roundRect">
            <a:avLst>
              <a:gd name="adj" fmla="val 7470"/>
            </a:avLst>
          </a:prstGeom>
          <a:solidFill>
            <a:schemeClr val="bg2"/>
          </a:solidFill>
          <a:ln/>
        </p:spPr>
        <p:txBody>
          <a:bodyPr wrap="square" lIns="152400" tIns="114300" rIns="152400" bIns="114300" rtlCol="0" anchor="t"/>
          <a:lstStyle/>
          <a:p>
            <a:pPr algn="l" indent="0" marL="0">
              <a:spcAft>
                <a:spcPts val="300"/>
              </a:spcAft>
              <a:buNone/>
            </a:pPr>
            <a:r>
              <a:rPr lang="en-US" sz="1500" b="1" dirty="0">
                <a:solidFill>
                  <a:schemeClr val="tx1"/>
                </a:solidFill>
              </a:rPr>
              <a:t>Read it like this</a:t>
            </a:r>
            <a:endParaRPr lang="en-US" sz="1500" dirty="0"/>
          </a:p>
          <a:p>
            <a:pPr algn="l" indent="0" marL="0">
              <a:buNone/>
            </a:pPr>
            <a:r>
              <a:rPr lang="en-US" sz="1400" dirty="0">
                <a:solidFill>
                  <a:schemeClr val="tx1"/>
                </a:solidFill>
              </a:rPr>
              <a:t>Yellow = this trade was part of too much risk at once. The Overlapping Trades column shows which trades were open together.</a:t>
            </a:r>
            <a:endParaRPr lang="en-US" sz="1500" dirty="0"/>
          </a:p>
        </p:txBody>
      </p:sp>
      <p:sp>
        <p:nvSpPr>
          <p:cNvPr id="20" name="Callout text 1"/>
          <p:cNvSpPr txBox="1"/>
          <p:nvPr/>
        </p:nvSpPr>
        <p:spPr>
          <a:xfrm>
            <a:off x="8321040" y="1417320"/>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Heading</a:t>
            </a:r>
            <a:endParaRPr lang="en-US" sz="1500" dirty="0"/>
          </a:p>
          <a:p>
            <a:pPr algn="l" indent="0" marL="0">
              <a:buNone/>
            </a:pPr>
            <a:r>
              <a:rPr lang="en-US" sz="1400" dirty="0">
                <a:solidFill>
                  <a:schemeClr val="tx1"/>
                </a:solidFill>
              </a:rPr>
              <a:t>“0 own, 2 combined above 70%”: no trade is too big alone, but together they are.</a:t>
            </a:r>
            <a:endParaRPr lang="en-US" sz="1500" dirty="0"/>
          </a:p>
        </p:txBody>
      </p:sp>
      <p:sp>
        <p:nvSpPr>
          <p:cNvPr id="21"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22"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23" name="Callout text 2"/>
          <p:cNvSpPr txBox="1"/>
          <p:nvPr/>
        </p:nvSpPr>
        <p:spPr>
          <a:xfrm>
            <a:off x="8321040" y="2303447"/>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7301</a:t>
            </a:r>
            <a:endParaRPr lang="en-US" sz="1500" dirty="0"/>
          </a:p>
          <a:p>
            <a:pPr algn="l" indent="0" marL="0">
              <a:buNone/>
            </a:pPr>
            <a:r>
              <a:rPr lang="en-US" sz="1400" dirty="0">
                <a:solidFill>
                  <a:schemeClr val="tx1"/>
                </a:solidFill>
              </a:rPr>
              <a:t>36% alone, plus 7302 and 7303 open at the same time: 36 + 36 + 21.6 = 93.6%.</a:t>
            </a:r>
            <a:endParaRPr lang="en-US" sz="1500" dirty="0"/>
          </a:p>
        </p:txBody>
      </p:sp>
      <p:sp>
        <p:nvSpPr>
          <p:cNvPr id="24" name="Callout 2"/>
          <p:cNvSpPr/>
          <p:nvPr/>
        </p:nvSpPr>
        <p:spPr>
          <a:xfrm>
            <a:off x="7909560" y="2308019"/>
            <a:ext cx="274320" cy="274320"/>
          </a:xfrm>
          <a:prstGeom prst="ellipse">
            <a:avLst/>
          </a:prstGeom>
          <a:solidFill>
            <a:schemeClr val="accent1"/>
          </a:solidFill>
          <a:ln w="15875">
            <a:solidFill>
              <a:srgbClr val="FFFFFF"/>
            </a:solidFill>
            <a:prstDash val="solid"/>
          </a:ln>
        </p:spPr>
      </p:sp>
      <p:sp>
        <p:nvSpPr>
          <p:cNvPr id="25" name="Callout 2 number"/>
          <p:cNvSpPr txBox="1"/>
          <p:nvPr/>
        </p:nvSpPr>
        <p:spPr>
          <a:xfrm>
            <a:off x="7909560" y="230801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6" name="Callout text 3"/>
          <p:cNvSpPr txBox="1"/>
          <p:nvPr/>
        </p:nvSpPr>
        <p:spPr>
          <a:xfrm>
            <a:off x="8321040" y="3189575"/>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7302</a:t>
            </a:r>
            <a:endParaRPr lang="en-US" sz="1500" dirty="0"/>
          </a:p>
          <a:p>
            <a:pPr algn="l" indent="0" marL="0">
              <a:buNone/>
            </a:pPr>
            <a:r>
              <a:rPr lang="en-US" sz="1400" dirty="0">
                <a:solidFill>
                  <a:schemeClr val="tx1"/>
                </a:solidFill>
              </a:rPr>
              <a:t>36% + 36% (from 7301) = 72%.</a:t>
            </a:r>
            <a:endParaRPr lang="en-US" sz="1500" dirty="0"/>
          </a:p>
        </p:txBody>
      </p:sp>
      <p:sp>
        <p:nvSpPr>
          <p:cNvPr id="27" name="Callout 3"/>
          <p:cNvSpPr/>
          <p:nvPr/>
        </p:nvSpPr>
        <p:spPr>
          <a:xfrm>
            <a:off x="7909560" y="3194147"/>
            <a:ext cx="274320" cy="274320"/>
          </a:xfrm>
          <a:prstGeom prst="ellipse">
            <a:avLst/>
          </a:prstGeom>
          <a:solidFill>
            <a:schemeClr val="accent1"/>
          </a:solidFill>
          <a:ln w="15875">
            <a:solidFill>
              <a:srgbClr val="FFFFFF"/>
            </a:solidFill>
            <a:prstDash val="solid"/>
          </a:ln>
        </p:spPr>
      </p:sp>
      <p:sp>
        <p:nvSpPr>
          <p:cNvPr id="28" name="Callout 3 number"/>
          <p:cNvSpPr txBox="1"/>
          <p:nvPr/>
        </p:nvSpPr>
        <p:spPr>
          <a:xfrm>
            <a:off x="7909560" y="3194147"/>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9" name="Callout text 4"/>
          <p:cNvSpPr txBox="1"/>
          <p:nvPr/>
        </p:nvSpPr>
        <p:spPr>
          <a:xfrm>
            <a:off x="8321040" y="3852278"/>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7303</a:t>
            </a:r>
            <a:endParaRPr lang="en-US" sz="1500" dirty="0"/>
          </a:p>
          <a:p>
            <a:pPr algn="l" indent="0" marL="0">
              <a:buNone/>
            </a:pPr>
            <a:r>
              <a:rPr lang="en-US" sz="1400" dirty="0">
                <a:solidFill>
                  <a:schemeClr val="tx1"/>
                </a:solidFill>
              </a:rPr>
              <a:t>21.6% + 36% = 57.6% — under 70%, but it was open together with 7301, which is over the line, so it is yellow too.</a:t>
            </a:r>
            <a:endParaRPr lang="en-US" sz="1500" dirty="0"/>
          </a:p>
        </p:txBody>
      </p:sp>
      <p:sp>
        <p:nvSpPr>
          <p:cNvPr id="30" name="Callout 4"/>
          <p:cNvSpPr/>
          <p:nvPr/>
        </p:nvSpPr>
        <p:spPr>
          <a:xfrm>
            <a:off x="7909560" y="3856850"/>
            <a:ext cx="274320" cy="274320"/>
          </a:xfrm>
          <a:prstGeom prst="ellipse">
            <a:avLst/>
          </a:prstGeom>
          <a:solidFill>
            <a:schemeClr val="accent1"/>
          </a:solidFill>
          <a:ln w="15875">
            <a:solidFill>
              <a:srgbClr val="FFFFFF"/>
            </a:solidFill>
            <a:prstDash val="solid"/>
          </a:ln>
        </p:spPr>
      </p:sp>
      <p:sp>
        <p:nvSpPr>
          <p:cNvPr id="31" name="Callout 4 number"/>
          <p:cNvSpPr txBox="1"/>
          <p:nvPr/>
        </p:nvSpPr>
        <p:spPr>
          <a:xfrm>
            <a:off x="7909560" y="385685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32" name="Callout text 5"/>
          <p:cNvSpPr txBox="1"/>
          <p:nvPr/>
        </p:nvSpPr>
        <p:spPr>
          <a:xfrm>
            <a:off x="8321040" y="4961829"/>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7304</a:t>
            </a:r>
            <a:endParaRPr lang="en-US" sz="1500" dirty="0"/>
          </a:p>
          <a:p>
            <a:pPr algn="l" indent="0" marL="0">
              <a:buNone/>
            </a:pPr>
            <a:r>
              <a:rPr lang="en-US" sz="1400" dirty="0">
                <a:solidFill>
                  <a:schemeClr val="tx1"/>
                </a:solidFill>
              </a:rPr>
              <a:t>Opened after the others closed: nothing to add, stays white.</a:t>
            </a:r>
            <a:endParaRPr lang="en-US" sz="1500" dirty="0"/>
          </a:p>
        </p:txBody>
      </p:sp>
      <p:sp>
        <p:nvSpPr>
          <p:cNvPr id="33" name="Callout 5"/>
          <p:cNvSpPr/>
          <p:nvPr/>
        </p:nvSpPr>
        <p:spPr>
          <a:xfrm>
            <a:off x="7909560" y="4966401"/>
            <a:ext cx="274320" cy="274320"/>
          </a:xfrm>
          <a:prstGeom prst="ellipse">
            <a:avLst/>
          </a:prstGeom>
          <a:solidFill>
            <a:schemeClr val="accent1"/>
          </a:solidFill>
          <a:ln w="15875">
            <a:solidFill>
              <a:srgbClr val="FFFFFF"/>
            </a:solidFill>
            <a:prstDash val="solid"/>
          </a:ln>
        </p:spPr>
      </p:sp>
      <p:sp>
        <p:nvSpPr>
          <p:cNvPr id="34" name="Callout 5 number"/>
          <p:cNvSpPr txBox="1"/>
          <p:nvPr/>
        </p:nvSpPr>
        <p:spPr>
          <a:xfrm>
            <a:off x="7909560" y="4966401"/>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3  ·  WHY THESE ROWS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Picture it on a timeline</a:t>
            </a:r>
            <a:endParaRPr lang="en-US" sz="2600" dirty="0"/>
          </a:p>
        </p:txBody>
      </p:sp>
      <p:sp>
        <p:nvSpPr>
          <p:cNvPr id="4" name="Text 2"/>
          <p:cNvSpPr txBox="1"/>
          <p:nvPr/>
        </p:nvSpPr>
        <p:spPr>
          <a:xfrm>
            <a:off x="548640" y="1371600"/>
            <a:ext cx="5486400" cy="225753"/>
          </a:xfrm>
          <a:prstGeom prst="rect">
            <a:avLst/>
          </a:prstGeom>
          <a:noFill/>
          <a:ln/>
        </p:spPr>
        <p:txBody>
          <a:bodyPr wrap="square" lIns="0" tIns="0" rIns="0" bIns="0" rtlCol="0" anchor="t"/>
          <a:lstStyle/>
          <a:p>
            <a:pPr algn="l" indent="0" marL="0">
              <a:buNone/>
            </a:pPr>
            <a:r>
              <a:rPr lang="en-US" sz="1300" dirty="0">
                <a:solidFill>
                  <a:schemeClr val="accent6"/>
                </a:solidFill>
              </a:rPr>
              <a:t>DEMO-03 · trades on 6 Oct 2026 · each bar = open to close</a:t>
            </a:r>
            <a:endParaRPr lang="en-US" sz="1300" dirty="0"/>
          </a:p>
        </p:txBody>
      </p:sp>
      <p:sp>
        <p:nvSpPr>
          <p:cNvPr id="5" name="Overlap window"/>
          <p:cNvSpPr/>
          <p:nvPr/>
        </p:nvSpPr>
        <p:spPr>
          <a:xfrm>
            <a:off x="2308860" y="1783080"/>
            <a:ext cx="868680" cy="2468880"/>
          </a:xfrm>
          <a:prstGeom prst="rect">
            <a:avLst/>
          </a:prstGeom>
          <a:solidFill>
            <a:srgbClr val="FFF1C2"/>
          </a:solidFill>
          <a:ln/>
        </p:spPr>
      </p:sp>
      <p:sp>
        <p:nvSpPr>
          <p:cNvPr id="6" name="Overlap window"/>
          <p:cNvSpPr/>
          <p:nvPr/>
        </p:nvSpPr>
        <p:spPr>
          <a:xfrm>
            <a:off x="3394710" y="1783080"/>
            <a:ext cx="217170" cy="2468880"/>
          </a:xfrm>
          <a:prstGeom prst="rect">
            <a:avLst/>
          </a:prstGeom>
          <a:solidFill>
            <a:srgbClr val="FFF1C2"/>
          </a:solidFill>
          <a:ln/>
        </p:spPr>
      </p:sp>
      <p:sp>
        <p:nvSpPr>
          <p:cNvPr id="7" name="Shape 5"/>
          <p:cNvSpPr/>
          <p:nvPr/>
        </p:nvSpPr>
        <p:spPr>
          <a:xfrm>
            <a:off x="1874520" y="1783080"/>
            <a:ext cx="0" cy="2468880"/>
          </a:xfrm>
          <a:prstGeom prst="line">
            <a:avLst/>
          </a:prstGeom>
          <a:noFill/>
          <a:ln w="9525">
            <a:solidFill>
              <a:srgbClr val="E3E8EE"/>
            </a:solidFill>
            <a:prstDash val="solid"/>
          </a:ln>
        </p:spPr>
      </p:sp>
      <p:sp>
        <p:nvSpPr>
          <p:cNvPr id="8" name="Text 6"/>
          <p:cNvSpPr txBox="1"/>
          <p:nvPr/>
        </p:nvSpPr>
        <p:spPr>
          <a:xfrm>
            <a:off x="150876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10:00</a:t>
            </a:r>
            <a:endParaRPr lang="en-US" sz="1200" dirty="0"/>
          </a:p>
        </p:txBody>
      </p:sp>
      <p:sp>
        <p:nvSpPr>
          <p:cNvPr id="9" name="Shape 7"/>
          <p:cNvSpPr/>
          <p:nvPr/>
        </p:nvSpPr>
        <p:spPr>
          <a:xfrm>
            <a:off x="2743200" y="1783080"/>
            <a:ext cx="0" cy="2468880"/>
          </a:xfrm>
          <a:prstGeom prst="line">
            <a:avLst/>
          </a:prstGeom>
          <a:noFill/>
          <a:ln w="9525">
            <a:solidFill>
              <a:srgbClr val="E3E8EE"/>
            </a:solidFill>
            <a:prstDash val="solid"/>
          </a:ln>
        </p:spPr>
      </p:sp>
      <p:sp>
        <p:nvSpPr>
          <p:cNvPr id="10" name="Text 8"/>
          <p:cNvSpPr txBox="1"/>
          <p:nvPr/>
        </p:nvSpPr>
        <p:spPr>
          <a:xfrm>
            <a:off x="237744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11:00</a:t>
            </a:r>
            <a:endParaRPr lang="en-US" sz="1200" dirty="0"/>
          </a:p>
        </p:txBody>
      </p:sp>
      <p:sp>
        <p:nvSpPr>
          <p:cNvPr id="11" name="Shape 9"/>
          <p:cNvSpPr/>
          <p:nvPr/>
        </p:nvSpPr>
        <p:spPr>
          <a:xfrm>
            <a:off x="3611880" y="1783080"/>
            <a:ext cx="0" cy="2468880"/>
          </a:xfrm>
          <a:prstGeom prst="line">
            <a:avLst/>
          </a:prstGeom>
          <a:noFill/>
          <a:ln w="9525">
            <a:solidFill>
              <a:srgbClr val="E3E8EE"/>
            </a:solidFill>
            <a:prstDash val="solid"/>
          </a:ln>
        </p:spPr>
      </p:sp>
      <p:sp>
        <p:nvSpPr>
          <p:cNvPr id="12" name="Text 10"/>
          <p:cNvSpPr txBox="1"/>
          <p:nvPr/>
        </p:nvSpPr>
        <p:spPr>
          <a:xfrm>
            <a:off x="324612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12:00</a:t>
            </a:r>
            <a:endParaRPr lang="en-US" sz="1200" dirty="0"/>
          </a:p>
        </p:txBody>
      </p:sp>
      <p:sp>
        <p:nvSpPr>
          <p:cNvPr id="13" name="Shape 11"/>
          <p:cNvSpPr/>
          <p:nvPr/>
        </p:nvSpPr>
        <p:spPr>
          <a:xfrm>
            <a:off x="4480560" y="1783080"/>
            <a:ext cx="0" cy="2468880"/>
          </a:xfrm>
          <a:prstGeom prst="line">
            <a:avLst/>
          </a:prstGeom>
          <a:noFill/>
          <a:ln w="9525">
            <a:solidFill>
              <a:srgbClr val="E3E8EE"/>
            </a:solidFill>
            <a:prstDash val="solid"/>
          </a:ln>
        </p:spPr>
      </p:sp>
      <p:sp>
        <p:nvSpPr>
          <p:cNvPr id="14" name="Text 12"/>
          <p:cNvSpPr txBox="1"/>
          <p:nvPr/>
        </p:nvSpPr>
        <p:spPr>
          <a:xfrm>
            <a:off x="411480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13:00</a:t>
            </a:r>
            <a:endParaRPr lang="en-US" sz="1200" dirty="0"/>
          </a:p>
        </p:txBody>
      </p:sp>
      <p:sp>
        <p:nvSpPr>
          <p:cNvPr id="15" name="Shape 13"/>
          <p:cNvSpPr/>
          <p:nvPr/>
        </p:nvSpPr>
        <p:spPr>
          <a:xfrm>
            <a:off x="5349240" y="1783080"/>
            <a:ext cx="0" cy="2468880"/>
          </a:xfrm>
          <a:prstGeom prst="line">
            <a:avLst/>
          </a:prstGeom>
          <a:noFill/>
          <a:ln w="9525">
            <a:solidFill>
              <a:srgbClr val="E3E8EE"/>
            </a:solidFill>
            <a:prstDash val="solid"/>
          </a:ln>
        </p:spPr>
      </p:sp>
      <p:sp>
        <p:nvSpPr>
          <p:cNvPr id="16" name="Text 14"/>
          <p:cNvSpPr txBox="1"/>
          <p:nvPr/>
        </p:nvSpPr>
        <p:spPr>
          <a:xfrm>
            <a:off x="498348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14:00</a:t>
            </a:r>
            <a:endParaRPr lang="en-US" sz="1200" dirty="0"/>
          </a:p>
        </p:txBody>
      </p:sp>
      <p:sp>
        <p:nvSpPr>
          <p:cNvPr id="17" name="Shape 15"/>
          <p:cNvSpPr/>
          <p:nvPr/>
        </p:nvSpPr>
        <p:spPr>
          <a:xfrm>
            <a:off x="6217920" y="1783080"/>
            <a:ext cx="0" cy="2468880"/>
          </a:xfrm>
          <a:prstGeom prst="line">
            <a:avLst/>
          </a:prstGeom>
          <a:noFill/>
          <a:ln w="9525">
            <a:solidFill>
              <a:srgbClr val="E3E8EE"/>
            </a:solidFill>
            <a:prstDash val="solid"/>
          </a:ln>
        </p:spPr>
      </p:sp>
      <p:sp>
        <p:nvSpPr>
          <p:cNvPr id="18" name="Text 16"/>
          <p:cNvSpPr txBox="1"/>
          <p:nvPr/>
        </p:nvSpPr>
        <p:spPr>
          <a:xfrm>
            <a:off x="585216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15:00</a:t>
            </a:r>
            <a:endParaRPr lang="en-US" sz="1200" dirty="0"/>
          </a:p>
        </p:txBody>
      </p:sp>
      <p:sp>
        <p:nvSpPr>
          <p:cNvPr id="19" name="Shape 17"/>
          <p:cNvSpPr/>
          <p:nvPr/>
        </p:nvSpPr>
        <p:spPr>
          <a:xfrm>
            <a:off x="7086600" y="1783080"/>
            <a:ext cx="0" cy="2468880"/>
          </a:xfrm>
          <a:prstGeom prst="line">
            <a:avLst/>
          </a:prstGeom>
          <a:noFill/>
          <a:ln w="9525">
            <a:solidFill>
              <a:srgbClr val="E3E8EE"/>
            </a:solidFill>
            <a:prstDash val="solid"/>
          </a:ln>
        </p:spPr>
      </p:sp>
      <p:sp>
        <p:nvSpPr>
          <p:cNvPr id="20" name="Text 18"/>
          <p:cNvSpPr txBox="1"/>
          <p:nvPr/>
        </p:nvSpPr>
        <p:spPr>
          <a:xfrm>
            <a:off x="6720840" y="4306824"/>
            <a:ext cx="731520" cy="209794"/>
          </a:xfrm>
          <a:prstGeom prst="rect">
            <a:avLst/>
          </a:prstGeom>
          <a:noFill/>
          <a:ln/>
        </p:spPr>
        <p:txBody>
          <a:bodyPr wrap="square" lIns="0" tIns="0" rIns="0" bIns="0" rtlCol="0" anchor="t"/>
          <a:lstStyle/>
          <a:p>
            <a:pPr algn="ctr" indent="0" marL="0">
              <a:buNone/>
            </a:pPr>
            <a:r>
              <a:rPr lang="en-US" sz="1200" dirty="0">
                <a:solidFill>
                  <a:schemeClr val="accent6"/>
                </a:solidFill>
              </a:rPr>
              <a:t>16:00</a:t>
            </a:r>
            <a:endParaRPr lang="en-US" sz="1200" dirty="0"/>
          </a:p>
        </p:txBody>
      </p:sp>
      <p:sp>
        <p:nvSpPr>
          <p:cNvPr id="21" name="Text 19"/>
          <p:cNvSpPr txBox="1"/>
          <p:nvPr/>
        </p:nvSpPr>
        <p:spPr>
          <a:xfrm>
            <a:off x="548640" y="187452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7301 XAUUSD</a:t>
            </a:r>
            <a:endParaRPr lang="en-US" sz="1300" dirty="0"/>
          </a:p>
          <a:p>
            <a:pPr algn="l" indent="0" marL="0">
              <a:buNone/>
            </a:pPr>
            <a:r>
              <a:rPr lang="en-US" sz="1200" dirty="0">
                <a:solidFill>
                  <a:schemeClr val="accent6"/>
                </a:solidFill>
              </a:rPr>
              <a:t>own 36.0%</a:t>
            </a:r>
            <a:endParaRPr lang="en-US" sz="1300" dirty="0"/>
          </a:p>
        </p:txBody>
      </p:sp>
      <p:sp>
        <p:nvSpPr>
          <p:cNvPr id="22" name="Bar 7301 XAUUSD"/>
          <p:cNvSpPr/>
          <p:nvPr/>
        </p:nvSpPr>
        <p:spPr>
          <a:xfrm>
            <a:off x="1874520" y="1920240"/>
            <a:ext cx="1737360" cy="365760"/>
          </a:xfrm>
          <a:prstGeom prst="roundRect">
            <a:avLst>
              <a:gd name="adj" fmla="val 15000"/>
            </a:avLst>
          </a:prstGeom>
          <a:solidFill>
            <a:schemeClr val="accent2"/>
          </a:solidFill>
          <a:ln w="15875">
            <a:solidFill>
              <a:schemeClr val="accent1"/>
            </a:solidFill>
            <a:prstDash val="solid"/>
          </a:ln>
        </p:spPr>
      </p:sp>
      <p:sp>
        <p:nvSpPr>
          <p:cNvPr id="23" name="Text 21"/>
          <p:cNvSpPr txBox="1"/>
          <p:nvPr/>
        </p:nvSpPr>
        <p:spPr>
          <a:xfrm>
            <a:off x="3703320" y="1920240"/>
            <a:ext cx="3566160" cy="365760"/>
          </a:xfrm>
          <a:prstGeom prst="rect">
            <a:avLst/>
          </a:prstGeom>
          <a:noFill/>
          <a:ln/>
        </p:spPr>
        <p:txBody>
          <a:bodyPr wrap="square" lIns="0" tIns="0" rIns="0" bIns="0" rtlCol="0" anchor="ctr"/>
          <a:lstStyle/>
          <a:p>
            <a:pPr algn="l" indent="0" marL="0">
              <a:buNone/>
            </a:pPr>
            <a:r>
              <a:rPr lang="en-US" sz="1300" dirty="0">
                <a:solidFill>
                  <a:schemeClr val="tx1"/>
                </a:solidFill>
              </a:rPr>
              <a:t>together 93.6% → yellow (rule 2)</a:t>
            </a:r>
            <a:endParaRPr lang="en-US" sz="1300" dirty="0"/>
          </a:p>
        </p:txBody>
      </p:sp>
      <p:sp>
        <p:nvSpPr>
          <p:cNvPr id="24" name="Text 22"/>
          <p:cNvSpPr txBox="1"/>
          <p:nvPr/>
        </p:nvSpPr>
        <p:spPr>
          <a:xfrm>
            <a:off x="548640" y="251460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7302 NAS100</a:t>
            </a:r>
            <a:endParaRPr lang="en-US" sz="1300" dirty="0"/>
          </a:p>
          <a:p>
            <a:pPr algn="l" indent="0" marL="0">
              <a:buNone/>
            </a:pPr>
            <a:r>
              <a:rPr lang="en-US" sz="1200" dirty="0">
                <a:solidFill>
                  <a:schemeClr val="accent6"/>
                </a:solidFill>
              </a:rPr>
              <a:t>own 36.0%</a:t>
            </a:r>
            <a:endParaRPr lang="en-US" sz="1300" dirty="0"/>
          </a:p>
        </p:txBody>
      </p:sp>
      <p:sp>
        <p:nvSpPr>
          <p:cNvPr id="25" name="Bar 7302 NAS100"/>
          <p:cNvSpPr/>
          <p:nvPr/>
        </p:nvSpPr>
        <p:spPr>
          <a:xfrm>
            <a:off x="2308860" y="2560320"/>
            <a:ext cx="868680" cy="365760"/>
          </a:xfrm>
          <a:prstGeom prst="roundRect">
            <a:avLst>
              <a:gd name="adj" fmla="val 15000"/>
            </a:avLst>
          </a:prstGeom>
          <a:solidFill>
            <a:schemeClr val="accent2"/>
          </a:solidFill>
          <a:ln w="15875">
            <a:solidFill>
              <a:schemeClr val="accent1"/>
            </a:solidFill>
            <a:prstDash val="solid"/>
          </a:ln>
        </p:spPr>
      </p:sp>
      <p:sp>
        <p:nvSpPr>
          <p:cNvPr id="26" name="Text 24"/>
          <p:cNvSpPr txBox="1"/>
          <p:nvPr/>
        </p:nvSpPr>
        <p:spPr>
          <a:xfrm>
            <a:off x="3268980" y="2560320"/>
            <a:ext cx="4000500" cy="365760"/>
          </a:xfrm>
          <a:prstGeom prst="rect">
            <a:avLst/>
          </a:prstGeom>
          <a:noFill/>
          <a:ln/>
        </p:spPr>
        <p:txBody>
          <a:bodyPr wrap="square" lIns="0" tIns="0" rIns="0" bIns="0" rtlCol="0" anchor="ctr"/>
          <a:lstStyle/>
          <a:p>
            <a:pPr algn="l" indent="0" marL="0">
              <a:buNone/>
            </a:pPr>
            <a:r>
              <a:rPr lang="en-US" sz="1300" dirty="0">
                <a:solidFill>
                  <a:schemeClr val="tx1"/>
                </a:solidFill>
              </a:rPr>
              <a:t>together 72.0% → yellow (rule 2)</a:t>
            </a:r>
            <a:endParaRPr lang="en-US" sz="1300" dirty="0"/>
          </a:p>
        </p:txBody>
      </p:sp>
      <p:sp>
        <p:nvSpPr>
          <p:cNvPr id="27" name="Text 25"/>
          <p:cNvSpPr txBox="1"/>
          <p:nvPr/>
        </p:nvSpPr>
        <p:spPr>
          <a:xfrm>
            <a:off x="548640" y="315468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7303 EURUSD</a:t>
            </a:r>
            <a:endParaRPr lang="en-US" sz="1300" dirty="0"/>
          </a:p>
          <a:p>
            <a:pPr algn="l" indent="0" marL="0">
              <a:buNone/>
            </a:pPr>
            <a:r>
              <a:rPr lang="en-US" sz="1200" dirty="0">
                <a:solidFill>
                  <a:schemeClr val="accent6"/>
                </a:solidFill>
              </a:rPr>
              <a:t>own 21.6%</a:t>
            </a:r>
            <a:endParaRPr lang="en-US" sz="1300" dirty="0"/>
          </a:p>
        </p:txBody>
      </p:sp>
      <p:sp>
        <p:nvSpPr>
          <p:cNvPr id="28" name="Bar 7303 EURUSD"/>
          <p:cNvSpPr/>
          <p:nvPr/>
        </p:nvSpPr>
        <p:spPr>
          <a:xfrm>
            <a:off x="3394710" y="3200400"/>
            <a:ext cx="1085850" cy="365760"/>
          </a:xfrm>
          <a:prstGeom prst="roundRect">
            <a:avLst>
              <a:gd name="adj" fmla="val 15000"/>
            </a:avLst>
          </a:prstGeom>
          <a:solidFill>
            <a:schemeClr val="accent2"/>
          </a:solidFill>
          <a:ln w="15875">
            <a:solidFill>
              <a:schemeClr val="accent1"/>
            </a:solidFill>
            <a:prstDash val="solid"/>
          </a:ln>
        </p:spPr>
      </p:sp>
      <p:sp>
        <p:nvSpPr>
          <p:cNvPr id="29" name="Text 27"/>
          <p:cNvSpPr txBox="1"/>
          <p:nvPr/>
        </p:nvSpPr>
        <p:spPr>
          <a:xfrm>
            <a:off x="4572000" y="3200400"/>
            <a:ext cx="2697480" cy="365760"/>
          </a:xfrm>
          <a:prstGeom prst="rect">
            <a:avLst/>
          </a:prstGeom>
          <a:noFill/>
          <a:ln/>
        </p:spPr>
        <p:txBody>
          <a:bodyPr wrap="square" lIns="0" tIns="0" rIns="0" bIns="0" rtlCol="0" anchor="ctr"/>
          <a:lstStyle/>
          <a:p>
            <a:pPr algn="l" indent="0" marL="0">
              <a:buNone/>
            </a:pPr>
            <a:r>
              <a:rPr lang="en-US" sz="1300" dirty="0">
                <a:solidFill>
                  <a:schemeClr val="tx1"/>
                </a:solidFill>
              </a:rPr>
              <a:t>together 57.6% → yellow (rule 3)</a:t>
            </a:r>
            <a:endParaRPr lang="en-US" sz="1300" dirty="0"/>
          </a:p>
        </p:txBody>
      </p:sp>
      <p:sp>
        <p:nvSpPr>
          <p:cNvPr id="30" name="Text 28"/>
          <p:cNvSpPr txBox="1"/>
          <p:nvPr/>
        </p:nvSpPr>
        <p:spPr>
          <a:xfrm>
            <a:off x="548640" y="3794760"/>
            <a:ext cx="1280160" cy="457200"/>
          </a:xfrm>
          <a:prstGeom prst="rect">
            <a:avLst/>
          </a:prstGeom>
          <a:noFill/>
          <a:ln/>
        </p:spPr>
        <p:txBody>
          <a:bodyPr wrap="square" lIns="0" tIns="0" rIns="0" bIns="0" rtlCol="0" anchor="ctr"/>
          <a:lstStyle/>
          <a:p>
            <a:pPr algn="l" indent="0" marL="0">
              <a:buNone/>
            </a:pPr>
            <a:r>
              <a:rPr lang="en-US" sz="1300" b="1" dirty="0">
                <a:solidFill>
                  <a:schemeClr val="tx1"/>
                </a:solidFill>
              </a:rPr>
              <a:t>7304 GBPUSD</a:t>
            </a:r>
            <a:endParaRPr lang="en-US" sz="1300" dirty="0"/>
          </a:p>
          <a:p>
            <a:pPr algn="l" indent="0" marL="0">
              <a:buNone/>
            </a:pPr>
            <a:r>
              <a:rPr lang="en-US" sz="1200" dirty="0">
                <a:solidFill>
                  <a:schemeClr val="accent6"/>
                </a:solidFill>
              </a:rPr>
              <a:t>own 13.0%</a:t>
            </a:r>
            <a:endParaRPr lang="en-US" sz="1300" dirty="0"/>
          </a:p>
        </p:txBody>
      </p:sp>
      <p:sp>
        <p:nvSpPr>
          <p:cNvPr id="31" name="Bar 7304 GBPUSD"/>
          <p:cNvSpPr/>
          <p:nvPr/>
        </p:nvSpPr>
        <p:spPr>
          <a:xfrm>
            <a:off x="6217920" y="3840480"/>
            <a:ext cx="868680" cy="365760"/>
          </a:xfrm>
          <a:prstGeom prst="roundRect">
            <a:avLst>
              <a:gd name="adj" fmla="val 15000"/>
            </a:avLst>
          </a:prstGeom>
          <a:solidFill>
            <a:srgbClr val="C5CED8"/>
          </a:solidFill>
          <a:ln w="15875">
            <a:solidFill>
              <a:srgbClr val="9AA7B5"/>
            </a:solidFill>
            <a:prstDash val="solid"/>
          </a:ln>
        </p:spPr>
      </p:sp>
      <p:sp>
        <p:nvSpPr>
          <p:cNvPr id="32" name="Text 30"/>
          <p:cNvSpPr txBox="1"/>
          <p:nvPr/>
        </p:nvSpPr>
        <p:spPr>
          <a:xfrm>
            <a:off x="4114800" y="3840480"/>
            <a:ext cx="2011680" cy="365760"/>
          </a:xfrm>
          <a:prstGeom prst="rect">
            <a:avLst/>
          </a:prstGeom>
          <a:noFill/>
          <a:ln/>
        </p:spPr>
        <p:txBody>
          <a:bodyPr wrap="square" lIns="0" tIns="0" rIns="0" bIns="0" rtlCol="0" anchor="ctr"/>
          <a:lstStyle/>
          <a:p>
            <a:pPr algn="r" indent="0" marL="0">
              <a:buNone/>
            </a:pPr>
            <a:r>
              <a:rPr lang="en-US" sz="1300" dirty="0">
                <a:solidFill>
                  <a:schemeClr val="tx1"/>
                </a:solidFill>
              </a:rPr>
              <a:t>alone → stays white</a:t>
            </a:r>
            <a:endParaRPr lang="en-US" sz="1300" dirty="0"/>
          </a:p>
        </p:txBody>
      </p:sp>
      <p:sp>
        <p:nvSpPr>
          <p:cNvPr id="33" name="Shape 31"/>
          <p:cNvSpPr/>
          <p:nvPr/>
        </p:nvSpPr>
        <p:spPr>
          <a:xfrm>
            <a:off x="548640" y="4718304"/>
            <a:ext cx="274320" cy="182880"/>
          </a:xfrm>
          <a:prstGeom prst="rect">
            <a:avLst/>
          </a:prstGeom>
          <a:solidFill>
            <a:srgbClr val="FFF1C2"/>
          </a:solidFill>
          <a:ln/>
        </p:spPr>
      </p:sp>
      <p:sp>
        <p:nvSpPr>
          <p:cNvPr id="34" name="Text 32"/>
          <p:cNvSpPr txBox="1"/>
          <p:nvPr/>
        </p:nvSpPr>
        <p:spPr>
          <a:xfrm>
            <a:off x="896112" y="4681728"/>
            <a:ext cx="1874520" cy="256032"/>
          </a:xfrm>
          <a:prstGeom prst="rect">
            <a:avLst/>
          </a:prstGeom>
          <a:noFill/>
          <a:ln/>
        </p:spPr>
        <p:txBody>
          <a:bodyPr wrap="square" lIns="0" tIns="0" rIns="0" bIns="0" rtlCol="0" anchor="ctr"/>
          <a:lstStyle/>
          <a:p>
            <a:pPr algn="l" indent="0" marL="0">
              <a:buNone/>
            </a:pPr>
            <a:r>
              <a:rPr lang="en-US" sz="1200" dirty="0">
                <a:solidFill>
                  <a:schemeClr val="accent6"/>
                </a:solidFill>
              </a:rPr>
              <a:t>Open at the same time</a:t>
            </a:r>
            <a:endParaRPr lang="en-US" sz="1200" dirty="0"/>
          </a:p>
        </p:txBody>
      </p:sp>
      <p:sp>
        <p:nvSpPr>
          <p:cNvPr id="35" name="Shape 33"/>
          <p:cNvSpPr/>
          <p:nvPr/>
        </p:nvSpPr>
        <p:spPr>
          <a:xfrm>
            <a:off x="2788920" y="4718304"/>
            <a:ext cx="274320" cy="182880"/>
          </a:xfrm>
          <a:prstGeom prst="rect">
            <a:avLst/>
          </a:prstGeom>
          <a:solidFill>
            <a:schemeClr val="accent2"/>
          </a:solidFill>
          <a:ln w="12700">
            <a:solidFill>
              <a:schemeClr val="accent1"/>
            </a:solidFill>
            <a:prstDash val="solid"/>
          </a:ln>
        </p:spPr>
      </p:sp>
      <p:sp>
        <p:nvSpPr>
          <p:cNvPr id="36" name="Text 34"/>
          <p:cNvSpPr txBox="1"/>
          <p:nvPr/>
        </p:nvSpPr>
        <p:spPr>
          <a:xfrm>
            <a:off x="3136392" y="4681728"/>
            <a:ext cx="1874520" cy="256032"/>
          </a:xfrm>
          <a:prstGeom prst="rect">
            <a:avLst/>
          </a:prstGeom>
          <a:noFill/>
          <a:ln/>
        </p:spPr>
        <p:txBody>
          <a:bodyPr wrap="square" lIns="0" tIns="0" rIns="0" bIns="0" rtlCol="0" anchor="ctr"/>
          <a:lstStyle/>
          <a:p>
            <a:pPr algn="l" indent="0" marL="0">
              <a:buNone/>
            </a:pPr>
            <a:r>
              <a:rPr lang="en-US" sz="1200" dirty="0">
                <a:solidFill>
                  <a:schemeClr val="accent6"/>
                </a:solidFill>
              </a:rPr>
              <a:t>Yellow row in the app</a:t>
            </a:r>
            <a:endParaRPr lang="en-US" sz="1200" dirty="0"/>
          </a:p>
        </p:txBody>
      </p:sp>
      <p:sp>
        <p:nvSpPr>
          <p:cNvPr id="37" name="Shape 35"/>
          <p:cNvSpPr/>
          <p:nvPr/>
        </p:nvSpPr>
        <p:spPr>
          <a:xfrm>
            <a:off x="5029200" y="4718304"/>
            <a:ext cx="274320" cy="182880"/>
          </a:xfrm>
          <a:prstGeom prst="rect">
            <a:avLst/>
          </a:prstGeom>
          <a:solidFill>
            <a:srgbClr val="C5CED8"/>
          </a:solidFill>
          <a:ln w="12700">
            <a:solidFill>
              <a:srgbClr val="9AA7B5"/>
            </a:solidFill>
            <a:prstDash val="solid"/>
          </a:ln>
        </p:spPr>
      </p:sp>
      <p:sp>
        <p:nvSpPr>
          <p:cNvPr id="38" name="Text 36"/>
          <p:cNvSpPr txBox="1"/>
          <p:nvPr/>
        </p:nvSpPr>
        <p:spPr>
          <a:xfrm>
            <a:off x="5376672" y="4681728"/>
            <a:ext cx="1874520" cy="256032"/>
          </a:xfrm>
          <a:prstGeom prst="rect">
            <a:avLst/>
          </a:prstGeom>
          <a:noFill/>
          <a:ln/>
        </p:spPr>
        <p:txBody>
          <a:bodyPr wrap="square" lIns="0" tIns="0" rIns="0" bIns="0" rtlCol="0" anchor="ctr"/>
          <a:lstStyle/>
          <a:p>
            <a:pPr algn="l" indent="0" marL="0">
              <a:buNone/>
            </a:pPr>
            <a:r>
              <a:rPr lang="en-US" sz="1200" dirty="0">
                <a:solidFill>
                  <a:schemeClr val="accent6"/>
                </a:solidFill>
              </a:rPr>
              <a:t>White row in the app</a:t>
            </a:r>
            <a:endParaRPr lang="en-US" sz="1200" dirty="0"/>
          </a:p>
        </p:txBody>
      </p:sp>
      <p:sp>
        <p:nvSpPr>
          <p:cNvPr id="39" name="Overlap test"/>
          <p:cNvSpPr txBox="1"/>
          <p:nvPr/>
        </p:nvSpPr>
        <p:spPr>
          <a:xfrm>
            <a:off x="548640" y="5120640"/>
            <a:ext cx="6537960" cy="976340"/>
          </a:xfrm>
          <a:prstGeom prst="roundRect">
            <a:avLst>
              <a:gd name="adj" fmla="val 7492"/>
            </a:avLst>
          </a:prstGeom>
          <a:solidFill>
            <a:schemeClr val="bg2"/>
          </a:solidFill>
          <a:ln/>
        </p:spPr>
        <p:txBody>
          <a:bodyPr wrap="square" lIns="152400" tIns="114300" rIns="152400" bIns="114300" rtlCol="0" anchor="t"/>
          <a:lstStyle/>
          <a:p>
            <a:pPr algn="l" indent="0" marL="0">
              <a:spcAft>
                <a:spcPts val="400"/>
              </a:spcAft>
              <a:buNone/>
            </a:pPr>
            <a:r>
              <a:rPr lang="en-US" sz="1400" b="1" dirty="0">
                <a:solidFill>
                  <a:schemeClr val="tx1"/>
                </a:solidFill>
              </a:rPr>
              <a:t>When do trades overlap? </a:t>
            </a:r>
            <a:pPr algn="l" indent="0" marL="0">
              <a:spcAft>
                <a:spcPts val="400"/>
              </a:spcAft>
              <a:buNone/>
            </a:pPr>
            <a:r>
              <a:rPr lang="en-US" sz="1400" dirty="0">
                <a:solidFill>
                  <a:schemeClr val="tx1"/>
                </a:solidFill>
              </a:rPr>
              <a:t>When one opens before the other has closed.</a:t>
            </a:r>
            <a:endParaRPr lang="en-US" sz="1400" dirty="0"/>
          </a:p>
          <a:p>
            <a:pPr algn="l" indent="0" marL="0">
              <a:buNone/>
            </a:pPr>
            <a:r>
              <a:rPr lang="en-US" sz="1400" dirty="0">
                <a:solidFill>
                  <a:schemeClr val="tx1"/>
                </a:solidFill>
              </a:rPr>
              <a:t>If one closes at the exact moment the other opens, they do not overlap. A trade that is still open overlaps every trade that comes after it.</a:t>
            </a:r>
            <a:endParaRPr lang="en-US" sz="1400" dirty="0"/>
          </a:p>
        </p:txBody>
      </p:sp>
      <p:sp>
        <p:nvSpPr>
          <p:cNvPr id="40" name="Text 38"/>
          <p:cNvSpPr txBox="1"/>
          <p:nvPr/>
        </p:nvSpPr>
        <p:spPr>
          <a:xfrm>
            <a:off x="7543800" y="1371600"/>
            <a:ext cx="4099255" cy="273629"/>
          </a:xfrm>
          <a:prstGeom prst="rect">
            <a:avLst/>
          </a:prstGeom>
          <a:noFill/>
          <a:ln/>
        </p:spPr>
        <p:txBody>
          <a:bodyPr wrap="square" lIns="0" tIns="0" rIns="0" bIns="0" rtlCol="0" anchor="t"/>
          <a:lstStyle/>
          <a:p>
            <a:pPr algn="l" indent="0" marL="0">
              <a:buNone/>
            </a:pPr>
            <a:r>
              <a:rPr lang="en-US" sz="1600" b="1" dirty="0">
                <a:solidFill>
                  <a:schemeClr val="tx1"/>
                </a:solidFill>
              </a:rPr>
              <a:t>A row turns yellow if any of these is true</a:t>
            </a:r>
            <a:endParaRPr lang="en-US" sz="1600" dirty="0"/>
          </a:p>
        </p:txBody>
      </p:sp>
      <p:sp>
        <p:nvSpPr>
          <p:cNvPr id="41" name="Rule 1"/>
          <p:cNvSpPr/>
          <p:nvPr/>
        </p:nvSpPr>
        <p:spPr>
          <a:xfrm>
            <a:off x="7543800" y="1828800"/>
            <a:ext cx="4099255" cy="767334"/>
          </a:xfrm>
          <a:prstGeom prst="roundRect">
            <a:avLst>
              <a:gd name="adj" fmla="val 9533"/>
            </a:avLst>
          </a:prstGeom>
          <a:solidFill>
            <a:schemeClr val="bg2"/>
          </a:solidFill>
          <a:ln/>
        </p:spPr>
      </p:sp>
      <p:sp>
        <p:nvSpPr>
          <p:cNvPr id="42" name="Callout 1"/>
          <p:cNvSpPr/>
          <p:nvPr/>
        </p:nvSpPr>
        <p:spPr>
          <a:xfrm>
            <a:off x="7708392" y="1993392"/>
            <a:ext cx="274320" cy="274320"/>
          </a:xfrm>
          <a:prstGeom prst="ellipse">
            <a:avLst/>
          </a:prstGeom>
          <a:solidFill>
            <a:schemeClr val="accent1"/>
          </a:solidFill>
          <a:ln w="15875">
            <a:solidFill>
              <a:srgbClr val="FFFFFF"/>
            </a:solidFill>
            <a:prstDash val="solid"/>
          </a:ln>
        </p:spPr>
      </p:sp>
      <p:sp>
        <p:nvSpPr>
          <p:cNvPr id="43" name="Callout 1 number"/>
          <p:cNvSpPr txBox="1"/>
          <p:nvPr/>
        </p:nvSpPr>
        <p:spPr>
          <a:xfrm>
            <a:off x="7708392" y="19933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44" name="Rule 1 text"/>
          <p:cNvSpPr txBox="1"/>
          <p:nvPr/>
        </p:nvSpPr>
        <p:spPr>
          <a:xfrm>
            <a:off x="8092440" y="1975104"/>
            <a:ext cx="341345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The trade alone is over 70%</a:t>
            </a:r>
            <a:endParaRPr lang="en-US" sz="1500" dirty="0"/>
          </a:p>
          <a:p>
            <a:pPr algn="l" indent="0" marL="0">
              <a:buNone/>
            </a:pPr>
            <a:r>
              <a:rPr lang="en-US" sz="1400" dirty="0">
                <a:solidFill>
                  <a:schemeClr val="tx1"/>
                </a:solidFill>
              </a:rPr>
              <a:t>Like trade 6202 in example 2.</a:t>
            </a:r>
            <a:endParaRPr lang="en-US" sz="1500" dirty="0"/>
          </a:p>
        </p:txBody>
      </p:sp>
      <p:sp>
        <p:nvSpPr>
          <p:cNvPr id="45" name="Rule 2"/>
          <p:cNvSpPr/>
          <p:nvPr/>
        </p:nvSpPr>
        <p:spPr>
          <a:xfrm>
            <a:off x="7543800" y="2779014"/>
            <a:ext cx="4099255" cy="984250"/>
          </a:xfrm>
          <a:prstGeom prst="roundRect">
            <a:avLst>
              <a:gd name="adj" fmla="val 7432"/>
            </a:avLst>
          </a:prstGeom>
          <a:solidFill>
            <a:schemeClr val="bg2"/>
          </a:solidFill>
          <a:ln/>
        </p:spPr>
      </p:sp>
      <p:sp>
        <p:nvSpPr>
          <p:cNvPr id="46" name="Callout 2"/>
          <p:cNvSpPr/>
          <p:nvPr/>
        </p:nvSpPr>
        <p:spPr>
          <a:xfrm>
            <a:off x="7708392" y="2943606"/>
            <a:ext cx="274320" cy="274320"/>
          </a:xfrm>
          <a:prstGeom prst="ellipse">
            <a:avLst/>
          </a:prstGeom>
          <a:solidFill>
            <a:schemeClr val="accent1"/>
          </a:solidFill>
          <a:ln w="15875">
            <a:solidFill>
              <a:srgbClr val="FFFFFF"/>
            </a:solidFill>
            <a:prstDash val="solid"/>
          </a:ln>
        </p:spPr>
      </p:sp>
      <p:sp>
        <p:nvSpPr>
          <p:cNvPr id="47" name="Callout 2 number"/>
          <p:cNvSpPr txBox="1"/>
          <p:nvPr/>
        </p:nvSpPr>
        <p:spPr>
          <a:xfrm>
            <a:off x="7708392" y="294360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48" name="Rule 2 text"/>
          <p:cNvSpPr txBox="1"/>
          <p:nvPr/>
        </p:nvSpPr>
        <p:spPr>
          <a:xfrm>
            <a:off x="8092440" y="2925318"/>
            <a:ext cx="341345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Trades open together are over 70%</a:t>
            </a:r>
            <a:endParaRPr lang="en-US" sz="1500" dirty="0"/>
          </a:p>
          <a:p>
            <a:pPr algn="l" indent="0" marL="0">
              <a:buNone/>
            </a:pPr>
            <a:r>
              <a:rPr lang="en-US" sz="1400" dirty="0">
                <a:solidFill>
                  <a:schemeClr val="tx1"/>
                </a:solidFill>
              </a:rPr>
              <a:t>Its own margin plus every trade open at the same time (7301, 7302).</a:t>
            </a:r>
            <a:endParaRPr lang="en-US" sz="1500" dirty="0"/>
          </a:p>
        </p:txBody>
      </p:sp>
      <p:sp>
        <p:nvSpPr>
          <p:cNvPr id="49" name="Rule 3"/>
          <p:cNvSpPr/>
          <p:nvPr/>
        </p:nvSpPr>
        <p:spPr>
          <a:xfrm>
            <a:off x="7543800" y="3946144"/>
            <a:ext cx="4099255" cy="767334"/>
          </a:xfrm>
          <a:prstGeom prst="roundRect">
            <a:avLst>
              <a:gd name="adj" fmla="val 9533"/>
            </a:avLst>
          </a:prstGeom>
          <a:solidFill>
            <a:schemeClr val="bg2"/>
          </a:solidFill>
          <a:ln/>
        </p:spPr>
      </p:sp>
      <p:sp>
        <p:nvSpPr>
          <p:cNvPr id="50" name="Callout 3"/>
          <p:cNvSpPr/>
          <p:nvPr/>
        </p:nvSpPr>
        <p:spPr>
          <a:xfrm>
            <a:off x="7708392" y="4110736"/>
            <a:ext cx="274320" cy="274320"/>
          </a:xfrm>
          <a:prstGeom prst="ellipse">
            <a:avLst/>
          </a:prstGeom>
          <a:solidFill>
            <a:schemeClr val="accent1"/>
          </a:solidFill>
          <a:ln w="15875">
            <a:solidFill>
              <a:srgbClr val="FFFFFF"/>
            </a:solidFill>
            <a:prstDash val="solid"/>
          </a:ln>
        </p:spPr>
      </p:sp>
      <p:sp>
        <p:nvSpPr>
          <p:cNvPr id="51" name="Callout 3 number"/>
          <p:cNvSpPr txBox="1"/>
          <p:nvPr/>
        </p:nvSpPr>
        <p:spPr>
          <a:xfrm>
            <a:off x="7708392" y="4110736"/>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52" name="Rule 3 text"/>
          <p:cNvSpPr txBox="1"/>
          <p:nvPr/>
        </p:nvSpPr>
        <p:spPr>
          <a:xfrm>
            <a:off x="8092440" y="4092448"/>
            <a:ext cx="341345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It was open with a yellow trade</a:t>
            </a:r>
            <a:endParaRPr lang="en-US" sz="1500" dirty="0"/>
          </a:p>
          <a:p>
            <a:pPr algn="l" indent="0" marL="0">
              <a:buNone/>
            </a:pPr>
            <a:r>
              <a:rPr lang="en-US" sz="1400" dirty="0">
                <a:solidFill>
                  <a:schemeClr val="tx1"/>
                </a:solidFill>
              </a:rPr>
              <a:t>Even if its own total is lower (7303).</a:t>
            </a:r>
            <a:endParaRPr lang="en-US" sz="1500" dirty="0"/>
          </a:p>
        </p:txBody>
      </p:sp>
      <p:sp>
        <p:nvSpPr>
          <p:cNvPr id="53" name="Timeline tip"/>
          <p:cNvSpPr txBox="1"/>
          <p:nvPr/>
        </p:nvSpPr>
        <p:spPr>
          <a:xfrm>
            <a:off x="7543800" y="4942078"/>
            <a:ext cx="4099255" cy="688558"/>
          </a:xfrm>
          <a:prstGeom prst="rect">
            <a:avLst/>
          </a:prstGeom>
          <a:noFill/>
          <a:ln/>
        </p:spPr>
        <p:txBody>
          <a:bodyPr wrap="square" lIns="0" tIns="0" rIns="0" bIns="0" rtlCol="0" anchor="t"/>
          <a:lstStyle/>
          <a:p>
            <a:pPr algn="l" indent="0" marL="0">
              <a:buNone/>
            </a:pPr>
            <a:r>
              <a:rPr lang="en-US" sz="1400" dirty="0">
                <a:solidFill>
                  <a:schemeClr val="accent6"/>
                </a:solidFill>
              </a:rPr>
              <a:t>Tip: the shaded bands on the timeline are the moments when two trades were open at the same time.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EXAMPLE 4  ·  LOGIN DEMO-05  ·  KNOWN ISSUE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An account with no trades — a warning, then a red box</a:t>
            </a:r>
            <a:endParaRPr lang="en-US" sz="2600" dirty="0"/>
          </a:p>
        </p:txBody>
      </p:sp>
      <p:sp>
        <p:nvSpPr>
          <p:cNvPr id="4" name="Frame demo05"/>
          <p:cNvSpPr/>
          <p:nvPr/>
        </p:nvSpPr>
        <p:spPr>
          <a:xfrm>
            <a:off x="548640" y="1371600"/>
            <a:ext cx="7086600" cy="4399770"/>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5" descr="Screenshot of the High Margin app: demo05">    </p:cNvPr>
          <p:cNvPicPr>
            <a:picLocks noChangeAspect="1"/>
          </p:cNvPicPr>
          <p:nvPr/>
        </p:nvPicPr>
        <p:blipFill>
          <a:blip r:embed="rId1"/>
          <a:stretch>
            <a:fillRect/>
          </a:stretch>
        </p:blipFill>
        <p:spPr>
          <a:xfrm>
            <a:off x="548640" y="1371600"/>
            <a:ext cx="7086600" cy="4399770"/>
          </a:xfrm>
          <a:prstGeom prst="rect">
            <a:avLst/>
          </a:prstGeom>
        </p:spPr>
      </p:pic>
      <p:sp>
        <p:nvSpPr>
          <p:cNvPr id="6" name="Callout 1"/>
          <p:cNvSpPr/>
          <p:nvPr/>
        </p:nvSpPr>
        <p:spPr>
          <a:xfrm>
            <a:off x="7180357" y="2197969"/>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7180357" y="21979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4348480" y="2674553"/>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4348480" y="2674553"/>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7180357" y="3044079"/>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7180357" y="304407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text 1"/>
          <p:cNvSpPr txBox="1"/>
          <p:nvPr/>
        </p:nvSpPr>
        <p:spPr>
          <a:xfrm>
            <a:off x="8321040" y="1417320"/>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Yellow warning</a:t>
            </a:r>
            <a:endParaRPr lang="en-US" sz="1500" dirty="0"/>
          </a:p>
          <a:p>
            <a:pPr algn="l" indent="0" marL="0">
              <a:buNone/>
            </a:pPr>
            <a:r>
              <a:rPr lang="en-US" sz="1400" dirty="0">
                <a:solidFill>
                  <a:schemeClr val="tx1"/>
                </a:solidFill>
              </a:rPr>
              <a:t>“The all-trades endpoint returned no trade records for this login id.” In plain words: this account has no trades.</a:t>
            </a:r>
            <a:endParaRPr lang="en-US" sz="1500" dirty="0"/>
          </a:p>
        </p:txBody>
      </p:sp>
      <p:sp>
        <p:nvSpPr>
          <p:cNvPr id="13"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14"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5" name="Callout text 2"/>
          <p:cNvSpPr txBox="1"/>
          <p:nvPr/>
        </p:nvSpPr>
        <p:spPr>
          <a:xfrm>
            <a:off x="8321040" y="2554303"/>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Trades = 0</a:t>
            </a:r>
            <a:endParaRPr lang="en-US" sz="1500" dirty="0"/>
          </a:p>
          <a:p>
            <a:pPr algn="l" indent="0" marL="0">
              <a:buNone/>
            </a:pPr>
            <a:r>
              <a:rPr lang="en-US" sz="1400" dirty="0">
                <a:solidFill>
                  <a:schemeClr val="tx1"/>
                </a:solidFill>
              </a:rPr>
              <a:t>The header still loads, so you know you opened the right account.</a:t>
            </a:r>
            <a:endParaRPr lang="en-US" sz="1500" dirty="0"/>
          </a:p>
        </p:txBody>
      </p:sp>
      <p:sp>
        <p:nvSpPr>
          <p:cNvPr id="16" name="Callout 2"/>
          <p:cNvSpPr/>
          <p:nvPr/>
        </p:nvSpPr>
        <p:spPr>
          <a:xfrm>
            <a:off x="7909560" y="2558875"/>
            <a:ext cx="274320" cy="274320"/>
          </a:xfrm>
          <a:prstGeom prst="ellipse">
            <a:avLst/>
          </a:prstGeom>
          <a:solidFill>
            <a:schemeClr val="accent1"/>
          </a:solidFill>
          <a:ln w="15875">
            <a:solidFill>
              <a:srgbClr val="FFFFFF"/>
            </a:solidFill>
            <a:prstDash val="solid"/>
          </a:ln>
        </p:spPr>
      </p:sp>
      <p:sp>
        <p:nvSpPr>
          <p:cNvPr id="17" name="Callout 2 number"/>
          <p:cNvSpPr txBox="1"/>
          <p:nvPr/>
        </p:nvSpPr>
        <p:spPr>
          <a:xfrm>
            <a:off x="7909560" y="255887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8" name="Callout text 3"/>
          <p:cNvSpPr txBox="1"/>
          <p:nvPr/>
        </p:nvSpPr>
        <p:spPr>
          <a:xfrm>
            <a:off x="8321040" y="3467862"/>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Red box</a:t>
            </a:r>
            <a:endParaRPr lang="en-US" sz="1500" dirty="0"/>
          </a:p>
          <a:p>
            <a:pPr algn="l" indent="0" marL="0">
              <a:buNone/>
            </a:pPr>
            <a:r>
              <a:rPr lang="en-US" sz="1400" dirty="0">
                <a:solidFill>
                  <a:schemeClr val="tx1"/>
                </a:solidFill>
              </a:rPr>
              <a:t>“KeyError: 'Open Time'” looks scary, but it is a known app bug — not a problem with the account.</a:t>
            </a:r>
            <a:endParaRPr lang="en-US" sz="1500" dirty="0"/>
          </a:p>
        </p:txBody>
      </p:sp>
      <p:sp>
        <p:nvSpPr>
          <p:cNvPr id="19" name="Callout 3"/>
          <p:cNvSpPr/>
          <p:nvPr/>
        </p:nvSpPr>
        <p:spPr>
          <a:xfrm>
            <a:off x="7909560" y="3472434"/>
            <a:ext cx="274320" cy="274320"/>
          </a:xfrm>
          <a:prstGeom prst="ellipse">
            <a:avLst/>
          </a:prstGeom>
          <a:solidFill>
            <a:schemeClr val="accent1"/>
          </a:solidFill>
          <a:ln w="15875">
            <a:solidFill>
              <a:srgbClr val="FFFFFF"/>
            </a:solidFill>
            <a:prstDash val="solid"/>
          </a:ln>
        </p:spPr>
      </p:sp>
      <p:sp>
        <p:nvSpPr>
          <p:cNvPr id="20" name="Callout 3 number"/>
          <p:cNvSpPr txBox="1"/>
          <p:nvPr/>
        </p:nvSpPr>
        <p:spPr>
          <a:xfrm>
            <a:off x="7909560" y="347243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1" name="What to do"/>
          <p:cNvSpPr txBox="1"/>
          <p:nvPr/>
        </p:nvSpPr>
        <p:spPr>
          <a:xfrm>
            <a:off x="7909560" y="4696285"/>
            <a:ext cx="3733495" cy="1202642"/>
          </a:xfrm>
          <a:prstGeom prst="roundRect">
            <a:avLst>
              <a:gd name="adj" fmla="val 6083"/>
            </a:avLst>
          </a:prstGeom>
          <a:solidFill>
            <a:srgbClr val="FFF7D1"/>
          </a:solidFill>
          <a:ln/>
        </p:spPr>
        <p:txBody>
          <a:bodyPr wrap="square" lIns="152400" tIns="114300" rIns="152400" bIns="114300" rtlCol="0" anchor="t"/>
          <a:lstStyle/>
          <a:p>
            <a:pPr algn="l" indent="0" marL="0">
              <a:spcAft>
                <a:spcPts val="300"/>
              </a:spcAft>
              <a:buNone/>
            </a:pPr>
            <a:r>
              <a:rPr lang="en-US" sz="1500" b="1" dirty="0">
                <a:solidFill>
                  <a:schemeClr val="tx1"/>
                </a:solidFill>
              </a:rPr>
              <a:t>What to do</a:t>
            </a:r>
            <a:endParaRPr lang="en-US" sz="1500" dirty="0"/>
          </a:p>
          <a:p>
            <a:pPr algn="l" indent="0" marL="0">
              <a:buNone/>
            </a:pPr>
            <a:r>
              <a:rPr lang="en-US" sz="1400" dirty="0">
                <a:solidFill>
                  <a:schemeClr val="tx1"/>
                </a:solidFill>
              </a:rPr>
              <a:t>Nothing — there are no trades to check. The Data team can fix the app so it shows an empty table instead.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LAST STEP  ·  DOWNLOADS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Save the rows you need as a CSV file</a:t>
            </a:r>
            <a:endParaRPr lang="en-US" sz="2600" dirty="0"/>
          </a:p>
        </p:txBody>
      </p:sp>
      <p:sp>
        <p:nvSpPr>
          <p:cNvPr id="4" name="Frame demo03_selected"/>
          <p:cNvSpPr/>
          <p:nvPr/>
        </p:nvSpPr>
        <p:spPr>
          <a:xfrm>
            <a:off x="548640" y="1371600"/>
            <a:ext cx="7086600" cy="1944325"/>
          </a:xfrm>
          <a:prstGeom prst="rect">
            <a:avLst/>
          </a:prstGeom>
          <a:solidFill>
            <a:schemeClr val="bg1"/>
          </a:solidFill>
          <a:ln w="9525">
            <a:solidFill>
              <a:srgbClr val="D0D7DF"/>
            </a:solidFill>
            <a:prstDash val="solid"/>
          </a:ln>
          <a:effectLst>
            <a:outerShdw sx="100000" sy="100000" kx="0" ky="0" algn="bl" rotWithShape="0" blurRad="76200" dist="19050" dir="5400000">
              <a:srgbClr val="000000">
                <a:alpha val="16000"/>
              </a:srgbClr>
            </a:outerShdw>
          </a:effectLst>
        </p:spPr>
      </p:sp>
      <p:pic>
        <p:nvPicPr>
          <p:cNvPr id="5" name="Screenshot demo03_selected" descr="Screenshot of the High Margin app: demo03_selected">    </p:cNvPr>
          <p:cNvPicPr>
            <a:picLocks noChangeAspect="1"/>
          </p:cNvPicPr>
          <p:nvPr/>
        </p:nvPicPr>
        <p:blipFill>
          <a:blip r:embed="rId1"/>
          <a:stretch>
            <a:fillRect/>
          </a:stretch>
        </p:blipFill>
        <p:spPr>
          <a:xfrm>
            <a:off x="548640" y="1371600"/>
            <a:ext cx="7086600" cy="1944325"/>
          </a:xfrm>
          <a:prstGeom prst="rect">
            <a:avLst/>
          </a:prstGeom>
        </p:spPr>
      </p:pic>
      <p:sp>
        <p:nvSpPr>
          <p:cNvPr id="6" name="Callout 1"/>
          <p:cNvSpPr/>
          <p:nvPr/>
        </p:nvSpPr>
        <p:spPr>
          <a:xfrm>
            <a:off x="566888" y="2661522"/>
            <a:ext cx="274320" cy="274320"/>
          </a:xfrm>
          <a:prstGeom prst="ellipse">
            <a:avLst/>
          </a:prstGeom>
          <a:solidFill>
            <a:schemeClr val="accent1"/>
          </a:solidFill>
          <a:ln w="15875">
            <a:solidFill>
              <a:srgbClr val="FFFFFF"/>
            </a:solidFill>
            <a:prstDash val="solid"/>
          </a:ln>
        </p:spPr>
      </p:sp>
      <p:sp>
        <p:nvSpPr>
          <p:cNvPr id="7" name="Callout 1 number"/>
          <p:cNvSpPr txBox="1"/>
          <p:nvPr/>
        </p:nvSpPr>
        <p:spPr>
          <a:xfrm>
            <a:off x="566888" y="266152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8" name="Callout 2"/>
          <p:cNvSpPr/>
          <p:nvPr/>
        </p:nvSpPr>
        <p:spPr>
          <a:xfrm>
            <a:off x="1689278" y="2985369"/>
            <a:ext cx="274320" cy="274320"/>
          </a:xfrm>
          <a:prstGeom prst="ellipse">
            <a:avLst/>
          </a:prstGeom>
          <a:solidFill>
            <a:schemeClr val="accent1"/>
          </a:solidFill>
          <a:ln w="15875">
            <a:solidFill>
              <a:srgbClr val="FFFFFF"/>
            </a:solidFill>
            <a:prstDash val="solid"/>
          </a:ln>
        </p:spPr>
      </p:sp>
      <p:sp>
        <p:nvSpPr>
          <p:cNvPr id="9" name="Callout 2 number"/>
          <p:cNvSpPr txBox="1"/>
          <p:nvPr/>
        </p:nvSpPr>
        <p:spPr>
          <a:xfrm>
            <a:off x="1689278" y="29853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Callout 3"/>
          <p:cNvSpPr/>
          <p:nvPr/>
        </p:nvSpPr>
        <p:spPr>
          <a:xfrm>
            <a:off x="3105217" y="2985369"/>
            <a:ext cx="274320" cy="274320"/>
          </a:xfrm>
          <a:prstGeom prst="ellipse">
            <a:avLst/>
          </a:prstGeom>
          <a:solidFill>
            <a:schemeClr val="accent1"/>
          </a:solidFill>
          <a:ln w="15875">
            <a:solidFill>
              <a:srgbClr val="FFFFFF"/>
            </a:solidFill>
            <a:prstDash val="solid"/>
          </a:ln>
        </p:spPr>
      </p:sp>
      <p:sp>
        <p:nvSpPr>
          <p:cNvPr id="11" name="Callout 3 number"/>
          <p:cNvSpPr txBox="1"/>
          <p:nvPr/>
        </p:nvSpPr>
        <p:spPr>
          <a:xfrm>
            <a:off x="3105217" y="29853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2" name="Callout 4"/>
          <p:cNvSpPr/>
          <p:nvPr/>
        </p:nvSpPr>
        <p:spPr>
          <a:xfrm>
            <a:off x="4037664" y="2985369"/>
            <a:ext cx="274320" cy="274320"/>
          </a:xfrm>
          <a:prstGeom prst="ellipse">
            <a:avLst/>
          </a:prstGeom>
          <a:solidFill>
            <a:schemeClr val="accent1"/>
          </a:solidFill>
          <a:ln w="15875">
            <a:solidFill>
              <a:srgbClr val="FFFFFF"/>
            </a:solidFill>
            <a:prstDash val="solid"/>
          </a:ln>
        </p:spPr>
      </p:sp>
      <p:sp>
        <p:nvSpPr>
          <p:cNvPr id="13" name="Callout 4 number"/>
          <p:cNvSpPr txBox="1"/>
          <p:nvPr/>
        </p:nvSpPr>
        <p:spPr>
          <a:xfrm>
            <a:off x="4037664" y="2985369"/>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4" name="CSV box"/>
          <p:cNvSpPr txBox="1"/>
          <p:nvPr/>
        </p:nvSpPr>
        <p:spPr>
          <a:xfrm>
            <a:off x="548640" y="3590245"/>
            <a:ext cx="7086600" cy="1294209"/>
          </a:xfrm>
          <a:prstGeom prst="roundRect">
            <a:avLst>
              <a:gd name="adj" fmla="val 5652"/>
            </a:avLst>
          </a:prstGeom>
          <a:solidFill>
            <a:schemeClr val="bg2"/>
          </a:solidFill>
          <a:ln/>
        </p:spPr>
        <p:txBody>
          <a:bodyPr wrap="square" lIns="152400" tIns="114300" rIns="152400" bIns="114300" rtlCol="0" anchor="t"/>
          <a:lstStyle/>
          <a:p>
            <a:pPr algn="l" indent="0" marL="0">
              <a:spcAft>
                <a:spcPts val="400"/>
              </a:spcAft>
              <a:buNone/>
            </a:pPr>
            <a:r>
              <a:rPr lang="en-US" sz="1500" b="1" dirty="0">
                <a:solidFill>
                  <a:schemeClr val="tx1"/>
                </a:solidFill>
              </a:rPr>
              <a:t>What you get</a:t>
            </a:r>
            <a:endParaRPr lang="en-US" sz="1500" dirty="0"/>
          </a:p>
          <a:p>
            <a:pPr algn="l" indent="0" marL="0">
              <a:spcAft>
                <a:spcPts val="300"/>
              </a:spcAft>
              <a:buNone/>
            </a:pPr>
            <a:r>
              <a:rPr lang="en-US" sz="1400" dirty="0">
                <a:solidFill>
                  <a:schemeClr val="tx1"/>
                </a:solidFill>
              </a:rPr>
              <a:t>A .csv file that opens in Excel or Google Sheets, with every column of the table.</a:t>
            </a:r>
            <a:endParaRPr lang="en-US" sz="1500" dirty="0"/>
          </a:p>
          <a:p>
            <a:pPr algn="l" indent="0" marL="0">
              <a:spcAft>
                <a:spcPts val="300"/>
              </a:spcAft>
              <a:buNone/>
            </a:pPr>
            <a:r>
              <a:rPr lang="en-US" sz="1400" dirty="0">
                <a:solidFill>
                  <a:schemeClr val="tx1"/>
                </a:solidFill>
              </a:rPr>
              <a:t>Dates look like 06-10-2026 10:00:00 and percentages like 72.00%.</a:t>
            </a:r>
            <a:endParaRPr lang="en-US" sz="1500" dirty="0"/>
          </a:p>
          <a:p>
            <a:pPr algn="l" indent="0" marL="0">
              <a:buNone/>
            </a:pPr>
            <a:r>
              <a:rPr lang="en-US" sz="1400" dirty="0">
                <a:solidFill>
                  <a:schemeClr val="tx1"/>
                </a:solidFill>
              </a:rPr>
              <a:t>The file name includes the login, e.g. margin_summary_DEMO-03_selected.csv.</a:t>
            </a:r>
            <a:endParaRPr lang="en-US" sz="1500" dirty="0"/>
          </a:p>
        </p:txBody>
      </p:sp>
      <p:sp>
        <p:nvSpPr>
          <p:cNvPr id="15" name="Callout text 1"/>
          <p:cNvSpPr txBox="1"/>
          <p:nvPr/>
        </p:nvSpPr>
        <p:spPr>
          <a:xfrm>
            <a:off x="8321040" y="1417320"/>
            <a:ext cx="3322015" cy="954103"/>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Tick boxes</a:t>
            </a:r>
            <a:endParaRPr lang="en-US" sz="1500" dirty="0"/>
          </a:p>
          <a:p>
            <a:pPr algn="l" indent="0" marL="0">
              <a:buNone/>
            </a:pPr>
            <a:r>
              <a:rPr lang="en-US" sz="1400" dirty="0">
                <a:solidFill>
                  <a:schemeClr val="tx1"/>
                </a:solidFill>
              </a:rPr>
              <a:t>Click the small box at the start of a row. Ticked rows turn orange; click again to untick.</a:t>
            </a:r>
            <a:endParaRPr lang="en-US" sz="1500" dirty="0"/>
          </a:p>
        </p:txBody>
      </p:sp>
      <p:sp>
        <p:nvSpPr>
          <p:cNvPr id="16" name="Callout 1"/>
          <p:cNvSpPr/>
          <p:nvPr/>
        </p:nvSpPr>
        <p:spPr>
          <a:xfrm>
            <a:off x="7909560" y="1421892"/>
            <a:ext cx="274320" cy="274320"/>
          </a:xfrm>
          <a:prstGeom prst="ellipse">
            <a:avLst/>
          </a:prstGeom>
          <a:solidFill>
            <a:schemeClr val="accent1"/>
          </a:solidFill>
          <a:ln w="15875">
            <a:solidFill>
              <a:srgbClr val="FFFFFF"/>
            </a:solidFill>
            <a:prstDash val="solid"/>
          </a:ln>
        </p:spPr>
      </p:sp>
      <p:sp>
        <p:nvSpPr>
          <p:cNvPr id="17" name="Callout 1 number"/>
          <p:cNvSpPr txBox="1"/>
          <p:nvPr/>
        </p:nvSpPr>
        <p:spPr>
          <a:xfrm>
            <a:off x="7909560" y="1421892"/>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8" name="Callout text 2"/>
          <p:cNvSpPr txBox="1"/>
          <p:nvPr/>
        </p:nvSpPr>
        <p:spPr>
          <a:xfrm>
            <a:off x="8321040" y="2554303"/>
            <a:ext cx="3322015" cy="730679"/>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Download selected</a:t>
            </a:r>
            <a:endParaRPr lang="en-US" sz="1500" dirty="0"/>
          </a:p>
          <a:p>
            <a:pPr algn="l" indent="0" marL="0">
              <a:buNone/>
            </a:pPr>
            <a:r>
              <a:rPr lang="en-US" sz="1400" dirty="0">
                <a:solidFill>
                  <a:schemeClr val="tx1"/>
                </a:solidFill>
              </a:rPr>
              <a:t>Saves only the ticked rows. It stays grey until you tick at least one.</a:t>
            </a:r>
            <a:endParaRPr lang="en-US" sz="1500" dirty="0"/>
          </a:p>
        </p:txBody>
      </p:sp>
      <p:sp>
        <p:nvSpPr>
          <p:cNvPr id="19" name="Callout 2"/>
          <p:cNvSpPr/>
          <p:nvPr/>
        </p:nvSpPr>
        <p:spPr>
          <a:xfrm>
            <a:off x="7909560" y="2558875"/>
            <a:ext cx="274320" cy="274320"/>
          </a:xfrm>
          <a:prstGeom prst="ellipse">
            <a:avLst/>
          </a:prstGeom>
          <a:solidFill>
            <a:schemeClr val="accent1"/>
          </a:solidFill>
          <a:ln w="15875">
            <a:solidFill>
              <a:srgbClr val="FFFFFF"/>
            </a:solidFill>
            <a:prstDash val="solid"/>
          </a:ln>
        </p:spPr>
      </p:sp>
      <p:sp>
        <p:nvSpPr>
          <p:cNvPr id="20" name="Callout 2 number"/>
          <p:cNvSpPr txBox="1"/>
          <p:nvPr/>
        </p:nvSpPr>
        <p:spPr>
          <a:xfrm>
            <a:off x="7909560" y="2558875"/>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1" name="Callout text 3"/>
          <p:cNvSpPr txBox="1"/>
          <p:nvPr/>
        </p:nvSpPr>
        <p:spPr>
          <a:xfrm>
            <a:off x="8321040" y="3467862"/>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Download all</a:t>
            </a:r>
            <a:endParaRPr lang="en-US" sz="1500" dirty="0"/>
          </a:p>
          <a:p>
            <a:pPr algn="l" indent="0" marL="0">
              <a:buNone/>
            </a:pPr>
            <a:r>
              <a:rPr lang="en-US" sz="1400" dirty="0">
                <a:solidFill>
                  <a:schemeClr val="tx1"/>
                </a:solidFill>
              </a:rPr>
              <a:t>Saves every row in the table.</a:t>
            </a:r>
            <a:endParaRPr lang="en-US" sz="1500" dirty="0"/>
          </a:p>
        </p:txBody>
      </p:sp>
      <p:sp>
        <p:nvSpPr>
          <p:cNvPr id="22" name="Callout 3"/>
          <p:cNvSpPr/>
          <p:nvPr/>
        </p:nvSpPr>
        <p:spPr>
          <a:xfrm>
            <a:off x="7909560" y="3472434"/>
            <a:ext cx="274320" cy="274320"/>
          </a:xfrm>
          <a:prstGeom prst="ellipse">
            <a:avLst/>
          </a:prstGeom>
          <a:solidFill>
            <a:schemeClr val="accent1"/>
          </a:solidFill>
          <a:ln w="15875">
            <a:solidFill>
              <a:srgbClr val="FFFFFF"/>
            </a:solidFill>
            <a:prstDash val="solid"/>
          </a:ln>
        </p:spPr>
      </p:sp>
      <p:sp>
        <p:nvSpPr>
          <p:cNvPr id="23" name="Callout 3 number"/>
          <p:cNvSpPr txBox="1"/>
          <p:nvPr/>
        </p:nvSpPr>
        <p:spPr>
          <a:xfrm>
            <a:off x="7909560" y="3472434"/>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4" name="Callout text 4"/>
          <p:cNvSpPr txBox="1"/>
          <p:nvPr/>
        </p:nvSpPr>
        <p:spPr>
          <a:xfrm>
            <a:off x="8321040" y="4157998"/>
            <a:ext cx="3322015" cy="507256"/>
          </a:xfrm>
          <a:prstGeom prst="rect">
            <a:avLst/>
          </a:prstGeom>
          <a:noFill/>
          <a:ln/>
        </p:spPr>
        <p:txBody>
          <a:bodyPr wrap="square" lIns="0" tIns="0" rIns="0" bIns="0" rtlCol="0" anchor="t"/>
          <a:lstStyle/>
          <a:p>
            <a:pPr algn="l" indent="0" marL="0">
              <a:spcAft>
                <a:spcPts val="200"/>
              </a:spcAft>
              <a:buNone/>
            </a:pPr>
            <a:r>
              <a:rPr lang="en-US" sz="1500" b="1" dirty="0">
                <a:solidFill>
                  <a:schemeClr val="tx1"/>
                </a:solidFill>
              </a:rPr>
              <a:t>Counter</a:t>
            </a:r>
            <a:endParaRPr lang="en-US" sz="1500" dirty="0"/>
          </a:p>
          <a:p>
            <a:pPr algn="l" indent="0" marL="0">
              <a:buNone/>
            </a:pPr>
            <a:r>
              <a:rPr lang="en-US" sz="1400" dirty="0">
                <a:solidFill>
                  <a:schemeClr val="tx1"/>
                </a:solidFill>
              </a:rPr>
              <a:t>Shows how many rows you ticked.</a:t>
            </a:r>
            <a:endParaRPr lang="en-US" sz="1500" dirty="0"/>
          </a:p>
        </p:txBody>
      </p:sp>
      <p:sp>
        <p:nvSpPr>
          <p:cNvPr id="25" name="Callout 4"/>
          <p:cNvSpPr/>
          <p:nvPr/>
        </p:nvSpPr>
        <p:spPr>
          <a:xfrm>
            <a:off x="7909560" y="4162570"/>
            <a:ext cx="274320" cy="274320"/>
          </a:xfrm>
          <a:prstGeom prst="ellipse">
            <a:avLst/>
          </a:prstGeom>
          <a:solidFill>
            <a:schemeClr val="accent1"/>
          </a:solidFill>
          <a:ln w="15875">
            <a:solidFill>
              <a:srgbClr val="FFFFFF"/>
            </a:solidFill>
            <a:prstDash val="solid"/>
          </a:ln>
        </p:spPr>
      </p:sp>
      <p:sp>
        <p:nvSpPr>
          <p:cNvPr id="26" name="Callout 4 number"/>
          <p:cNvSpPr txBox="1"/>
          <p:nvPr/>
        </p:nvSpPr>
        <p:spPr>
          <a:xfrm>
            <a:off x="7909560" y="4162570"/>
            <a:ext cx="274320" cy="274320"/>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nchor="t"/>
          <a:lstStyle/>
          <a:p>
            <a:pPr indent="0" marL="0">
              <a:buNone/>
            </a:pPr>
            <a:r>
              <a:rPr lang="en-US" sz="1100" b="1" dirty="0">
                <a:solidFill>
                  <a:schemeClr val="accent5"/>
                </a:solidFill>
              </a:rPr>
              <a:t>RECAP</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indent="0" marL="0">
              <a:buNone/>
            </a:pPr>
            <a:r>
              <a:rPr lang="en-US" sz="2600" b="1" dirty="0">
                <a:solidFill>
                  <a:schemeClr val="tx1"/>
                </a:solidFill>
              </a:rPr>
              <a:t>Quick recap</a:t>
            </a:r>
            <a:endParaRPr lang="en-US" sz="2600" dirty="0"/>
          </a:p>
        </p:txBody>
      </p:sp>
      <p:sp>
        <p:nvSpPr>
          <p:cNvPr id="200" name="Recap steps header"/>
          <p:cNvSpPr txBox="1"/>
          <p:nvPr/>
        </p:nvSpPr>
        <p:spPr>
          <a:xfrm>
            <a:off x="548640" y="1280160"/>
            <a:ext cx="5413248" cy="292608"/>
          </a:xfrm>
          <a:prstGeom prst="rect">
            <a:avLst/>
          </a:prstGeom>
          <a:noFill/>
          <a:ln/>
        </p:spPr>
        <p:txBody>
          <a:bodyPr wrap="square" lIns="0" tIns="0" rIns="0" bIns="0" rtlCol="0" anchor="t"/>
          <a:lstStyle/>
          <a:p>
            <a:pPr algn="l" indent="0" marL="0">
              <a:buNone/>
            </a:pPr>
            <a:r>
              <a:rPr lang="en-US" sz="1400" b="1" cap="all" dirty="0">
                <a:solidFill>
                  <a:schemeClr val="accent5"/>
                </a:solidFill>
              </a:rPr>
              <a:t>Every time you check an account</a:t>
            </a:r>
          </a:p>
        </p:txBody>
      </p:sp>
      <p:sp>
        <p:nvSpPr>
          <p:cNvPr id="201" name="Recap colours header"/>
          <p:cNvSpPr txBox="1"/>
          <p:nvPr/>
        </p:nvSpPr>
        <p:spPr>
          <a:xfrm>
            <a:off x="6236208" y="1280160"/>
            <a:ext cx="5413248" cy="292608"/>
          </a:xfrm>
          <a:prstGeom prst="rect">
            <a:avLst/>
          </a:prstGeom>
          <a:noFill/>
          <a:ln/>
        </p:spPr>
        <p:txBody>
          <a:bodyPr wrap="square" lIns="0" tIns="0" rIns="0" bIns="0" rtlCol="0" anchor="t"/>
          <a:lstStyle/>
          <a:p>
            <a:pPr algn="l" indent="0" marL="0">
              <a:buNone/>
            </a:pPr>
            <a:r>
              <a:rPr lang="en-US" sz="1400" b="1" cap="all" dirty="0">
                <a:solidFill>
                  <a:schemeClr val="accent5"/>
                </a:solidFill>
              </a:rPr>
              <a:t>What the colours mean</a:t>
            </a:r>
          </a:p>
        </p:txBody>
      </p:sp>
      <p:sp>
        <p:nvSpPr>
          <p:cNvPr id="202" name="Recap step 1"/>
          <p:cNvSpPr/>
          <p:nvPr/>
        </p:nvSpPr>
        <p:spPr>
          <a:xfrm>
            <a:off x="548640" y="1700784"/>
            <a:ext cx="5413248" cy="786384"/>
          </a:xfrm>
          <a:prstGeom prst="roundRect">
            <a:avLst>
              <a:gd name="adj" fmla="val 10070"/>
            </a:avLst>
          </a:prstGeom>
          <a:solidFill>
            <a:schemeClr val="bg2"/>
          </a:solidFill>
          <a:ln>
            <a:noFill/>
          </a:ln>
        </p:spPr>
      </p:sp>
      <p:sp>
        <p:nvSpPr>
          <p:cNvPr id="203" name="Recap step 1 badge"/>
          <p:cNvSpPr/>
          <p:nvPr/>
        </p:nvSpPr>
        <p:spPr>
          <a:xfrm>
            <a:off x="713232" y="1901952"/>
            <a:ext cx="384048" cy="384048"/>
          </a:xfrm>
          <a:prstGeom prst="ellipse">
            <a:avLst/>
          </a:prstGeom>
          <a:solidFill>
            <a:schemeClr val="accent1"/>
          </a:solidFill>
          <a:ln w="15875">
            <a:solidFill>
              <a:srgbClr val="FFFFFF"/>
            </a:solidFill>
          </a:ln>
        </p:spPr>
      </p:sp>
      <p:sp>
        <p:nvSpPr>
          <p:cNvPr id="204" name="Recap step 1 number"/>
          <p:cNvSpPr txBox="1"/>
          <p:nvPr/>
        </p:nvSpPr>
        <p:spPr>
          <a:xfrm>
            <a:off x="713232" y="190195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p>
        </p:txBody>
      </p:sp>
      <p:sp>
        <p:nvSpPr>
          <p:cNvPr id="205" name="Recap step 1 text"/>
          <p:cNvSpPr txBox="1"/>
          <p:nvPr/>
        </p:nvSpPr>
        <p:spPr>
          <a:xfrm>
            <a:off x="1298448" y="1700784"/>
            <a:ext cx="4498848"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Type the Login ID</a:t>
            </a:r>
          </a:p>
          <a:p>
            <a:pPr algn="l" indent="0" marL="0">
              <a:buNone/>
            </a:pPr>
            <a:r>
              <a:rPr lang="en-US" sz="1400" dirty="0">
                <a:solidFill>
                  <a:schemeClr val="tx1"/>
                </a:solidFill>
              </a:rPr>
              <a:t>Click the box, type the account number, press Enter.</a:t>
            </a:r>
          </a:p>
        </p:txBody>
      </p:sp>
      <p:sp>
        <p:nvSpPr>
          <p:cNvPr id="206" name="Recap step 2"/>
          <p:cNvSpPr/>
          <p:nvPr/>
        </p:nvSpPr>
        <p:spPr>
          <a:xfrm>
            <a:off x="548640" y="2596896"/>
            <a:ext cx="5413248" cy="786384"/>
          </a:xfrm>
          <a:prstGeom prst="roundRect">
            <a:avLst>
              <a:gd name="adj" fmla="val 10070"/>
            </a:avLst>
          </a:prstGeom>
          <a:solidFill>
            <a:schemeClr val="bg2"/>
          </a:solidFill>
          <a:ln>
            <a:noFill/>
          </a:ln>
        </p:spPr>
      </p:sp>
      <p:sp>
        <p:nvSpPr>
          <p:cNvPr id="207" name="Recap step 2 badge"/>
          <p:cNvSpPr/>
          <p:nvPr/>
        </p:nvSpPr>
        <p:spPr>
          <a:xfrm>
            <a:off x="713232" y="2798064"/>
            <a:ext cx="384048" cy="384048"/>
          </a:xfrm>
          <a:prstGeom prst="ellipse">
            <a:avLst/>
          </a:prstGeom>
          <a:solidFill>
            <a:schemeClr val="accent1"/>
          </a:solidFill>
          <a:ln w="15875">
            <a:solidFill>
              <a:srgbClr val="FFFFFF"/>
            </a:solidFill>
          </a:ln>
        </p:spPr>
      </p:sp>
      <p:sp>
        <p:nvSpPr>
          <p:cNvPr id="208" name="Recap step 2 number"/>
          <p:cNvSpPr txBox="1"/>
          <p:nvPr/>
        </p:nvSpPr>
        <p:spPr>
          <a:xfrm>
            <a:off x="713232" y="2798064"/>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p>
        </p:txBody>
      </p:sp>
      <p:sp>
        <p:nvSpPr>
          <p:cNvPr id="209" name="Recap step 2 text"/>
          <p:cNvSpPr txBox="1"/>
          <p:nvPr/>
        </p:nvSpPr>
        <p:spPr>
          <a:xfrm>
            <a:off x="1298448" y="2596896"/>
            <a:ext cx="4498848"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Check the header</a:t>
            </a:r>
          </a:p>
          <a:p>
            <a:pPr algn="l" indent="0" marL="0">
              <a:buNone/>
            </a:pPr>
            <a:r>
              <a:rPr lang="en-US" sz="1400" dirty="0">
                <a:solidFill>
                  <a:schemeClr val="tx1"/>
                </a:solidFill>
              </a:rPr>
              <a:t>Login and Plan are the ones you meant.</a:t>
            </a:r>
          </a:p>
        </p:txBody>
      </p:sp>
      <p:sp>
        <p:nvSpPr>
          <p:cNvPr id="210" name="Recap step 3"/>
          <p:cNvSpPr/>
          <p:nvPr/>
        </p:nvSpPr>
        <p:spPr>
          <a:xfrm>
            <a:off x="548640" y="3493008"/>
            <a:ext cx="5413248" cy="786384"/>
          </a:xfrm>
          <a:prstGeom prst="roundRect">
            <a:avLst>
              <a:gd name="adj" fmla="val 10070"/>
            </a:avLst>
          </a:prstGeom>
          <a:solidFill>
            <a:schemeClr val="bg2"/>
          </a:solidFill>
          <a:ln>
            <a:noFill/>
          </a:ln>
        </p:spPr>
      </p:sp>
      <p:sp>
        <p:nvSpPr>
          <p:cNvPr id="211" name="Recap step 3 badge"/>
          <p:cNvSpPr/>
          <p:nvPr/>
        </p:nvSpPr>
        <p:spPr>
          <a:xfrm>
            <a:off x="713232" y="3694176"/>
            <a:ext cx="384048" cy="384048"/>
          </a:xfrm>
          <a:prstGeom prst="ellipse">
            <a:avLst/>
          </a:prstGeom>
          <a:solidFill>
            <a:schemeClr val="accent1"/>
          </a:solidFill>
          <a:ln w="15875">
            <a:solidFill>
              <a:srgbClr val="FFFFFF"/>
            </a:solidFill>
          </a:ln>
        </p:spPr>
      </p:sp>
      <p:sp>
        <p:nvSpPr>
          <p:cNvPr id="212" name="Recap step 3 number"/>
          <p:cNvSpPr txBox="1"/>
          <p:nvPr/>
        </p:nvSpPr>
        <p:spPr>
          <a:xfrm>
            <a:off x="713232" y="3694176"/>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p>
        </p:txBody>
      </p:sp>
      <p:sp>
        <p:nvSpPr>
          <p:cNvPr id="213" name="Recap step 3 text"/>
          <p:cNvSpPr txBox="1"/>
          <p:nvPr/>
        </p:nvSpPr>
        <p:spPr>
          <a:xfrm>
            <a:off x="1298448" y="3493008"/>
            <a:ext cx="4498848"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Read the heading</a:t>
            </a:r>
          </a:p>
          <a:p>
            <a:pPr algn="l" indent="0" marL="0">
              <a:buNone/>
            </a:pPr>
            <a:r>
              <a:rPr lang="en-US" sz="1400" dirty="0">
                <a:solidFill>
                  <a:schemeClr val="tx1"/>
                </a:solidFill>
              </a:rPr>
              <a:t>Both counts are 0 = no trade went over 70%.</a:t>
            </a:r>
          </a:p>
        </p:txBody>
      </p:sp>
      <p:sp>
        <p:nvSpPr>
          <p:cNvPr id="214" name="Recap step 4"/>
          <p:cNvSpPr/>
          <p:nvPr/>
        </p:nvSpPr>
        <p:spPr>
          <a:xfrm>
            <a:off x="548640" y="4389120"/>
            <a:ext cx="5413248" cy="786384"/>
          </a:xfrm>
          <a:prstGeom prst="roundRect">
            <a:avLst>
              <a:gd name="adj" fmla="val 10070"/>
            </a:avLst>
          </a:prstGeom>
          <a:solidFill>
            <a:schemeClr val="bg2"/>
          </a:solidFill>
          <a:ln>
            <a:noFill/>
          </a:ln>
        </p:spPr>
      </p:sp>
      <p:sp>
        <p:nvSpPr>
          <p:cNvPr id="215" name="Recap step 4 badge"/>
          <p:cNvSpPr/>
          <p:nvPr/>
        </p:nvSpPr>
        <p:spPr>
          <a:xfrm>
            <a:off x="713232" y="4590288"/>
            <a:ext cx="384048" cy="384048"/>
          </a:xfrm>
          <a:prstGeom prst="ellipse">
            <a:avLst/>
          </a:prstGeom>
          <a:solidFill>
            <a:schemeClr val="accent1"/>
          </a:solidFill>
          <a:ln w="15875">
            <a:solidFill>
              <a:srgbClr val="FFFFFF"/>
            </a:solidFill>
          </a:ln>
        </p:spPr>
      </p:sp>
      <p:sp>
        <p:nvSpPr>
          <p:cNvPr id="216" name="Recap step 4 number"/>
          <p:cNvSpPr txBox="1"/>
          <p:nvPr/>
        </p:nvSpPr>
        <p:spPr>
          <a:xfrm>
            <a:off x="713232" y="4590288"/>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p>
        </p:txBody>
      </p:sp>
      <p:sp>
        <p:nvSpPr>
          <p:cNvPr id="217" name="Recap step 4 text"/>
          <p:cNvSpPr txBox="1"/>
          <p:nvPr/>
        </p:nvSpPr>
        <p:spPr>
          <a:xfrm>
            <a:off x="1298448" y="4389120"/>
            <a:ext cx="4498848"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Look at the yellow rows</a:t>
            </a:r>
          </a:p>
          <a:p>
            <a:pPr algn="l" indent="0" marL="0">
              <a:buNone/>
            </a:pPr>
            <a:r>
              <a:rPr lang="en-US" sz="1400" dirty="0">
                <a:solidFill>
                  <a:schemeClr val="tx1"/>
                </a:solidFill>
              </a:rPr>
              <a:t>Overlapping Trades shows which trades were open together.</a:t>
            </a:r>
          </a:p>
        </p:txBody>
      </p:sp>
      <p:sp>
        <p:nvSpPr>
          <p:cNvPr id="218" name="Recap step 5"/>
          <p:cNvSpPr/>
          <p:nvPr/>
        </p:nvSpPr>
        <p:spPr>
          <a:xfrm>
            <a:off x="548640" y="5285232"/>
            <a:ext cx="5413248" cy="786384"/>
          </a:xfrm>
          <a:prstGeom prst="roundRect">
            <a:avLst>
              <a:gd name="adj" fmla="val 10070"/>
            </a:avLst>
          </a:prstGeom>
          <a:solidFill>
            <a:schemeClr val="bg2"/>
          </a:solidFill>
          <a:ln>
            <a:noFill/>
          </a:ln>
        </p:spPr>
      </p:sp>
      <p:sp>
        <p:nvSpPr>
          <p:cNvPr id="219" name="Recap step 5 badge"/>
          <p:cNvSpPr/>
          <p:nvPr/>
        </p:nvSpPr>
        <p:spPr>
          <a:xfrm>
            <a:off x="713232" y="5486400"/>
            <a:ext cx="384048" cy="384048"/>
          </a:xfrm>
          <a:prstGeom prst="ellipse">
            <a:avLst/>
          </a:prstGeom>
          <a:solidFill>
            <a:schemeClr val="accent1"/>
          </a:solidFill>
          <a:ln w="15875">
            <a:solidFill>
              <a:srgbClr val="FFFFFF"/>
            </a:solidFill>
          </a:ln>
        </p:spPr>
      </p:sp>
      <p:sp>
        <p:nvSpPr>
          <p:cNvPr id="220" name="Recap step 5 number"/>
          <p:cNvSpPr txBox="1"/>
          <p:nvPr/>
        </p:nvSpPr>
        <p:spPr>
          <a:xfrm>
            <a:off x="713232" y="54864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p>
        </p:txBody>
      </p:sp>
      <p:sp>
        <p:nvSpPr>
          <p:cNvPr id="221" name="Recap step 5 text"/>
          <p:cNvSpPr txBox="1"/>
          <p:nvPr/>
        </p:nvSpPr>
        <p:spPr>
          <a:xfrm>
            <a:off x="1298448" y="5285232"/>
            <a:ext cx="4498848"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Download if you need the rows</a:t>
            </a:r>
          </a:p>
          <a:p>
            <a:pPr algn="l" indent="0" marL="0">
              <a:buNone/>
            </a:pPr>
            <a:r>
              <a:rPr lang="en-US" sz="1400" dirty="0">
                <a:solidFill>
                  <a:schemeClr val="tx1"/>
                </a:solidFill>
              </a:rPr>
              <a:t>Tick rows, then Download selected — or Download all.</a:t>
            </a:r>
          </a:p>
        </p:txBody>
      </p:sp>
      <p:sp>
        <p:nvSpPr>
          <p:cNvPr id="222" name="Recap colour 1"/>
          <p:cNvSpPr/>
          <p:nvPr/>
        </p:nvSpPr>
        <p:spPr>
          <a:xfrm>
            <a:off x="6236208" y="1700784"/>
            <a:ext cx="5413248" cy="786384"/>
          </a:xfrm>
          <a:prstGeom prst="roundRect">
            <a:avLst>
              <a:gd name="adj" fmla="val 10070"/>
            </a:avLst>
          </a:prstGeom>
          <a:solidFill>
            <a:schemeClr val="bg2"/>
          </a:solidFill>
          <a:ln>
            <a:noFill/>
          </a:ln>
        </p:spPr>
      </p:sp>
      <p:sp>
        <p:nvSpPr>
          <p:cNvPr id="223" name="Recap colour 1 swatch 1"/>
          <p:cNvSpPr/>
          <p:nvPr/>
        </p:nvSpPr>
        <p:spPr>
          <a:xfrm>
            <a:off x="6400800" y="1901952"/>
            <a:ext cx="731520" cy="384048"/>
          </a:xfrm>
          <a:prstGeom prst="rect">
            <a:avLst/>
          </a:prstGeom>
          <a:solidFill>
            <a:srgbClr val="FFFFFF"/>
          </a:solidFill>
          <a:ln w="12700">
            <a:solidFill>
              <a:srgbClr val="C5CED8"/>
            </a:solidFill>
          </a:ln>
        </p:spPr>
      </p:sp>
      <p:sp>
        <p:nvSpPr>
          <p:cNvPr id="224" name="Recap colour 1 text"/>
          <p:cNvSpPr txBox="1"/>
          <p:nvPr/>
        </p:nvSpPr>
        <p:spPr>
          <a:xfrm>
            <a:off x="7296912" y="1700784"/>
            <a:ext cx="4187952"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White row</a:t>
            </a:r>
          </a:p>
          <a:p>
            <a:pPr algn="l" indent="0" marL="0">
              <a:buNone/>
            </a:pPr>
            <a:r>
              <a:rPr lang="en-US" sz="1400" dirty="0">
                <a:solidFill>
                  <a:schemeClr val="tx1"/>
                </a:solidFill>
              </a:rPr>
              <a:t>Fine: under 70%, nothing risky open with it.</a:t>
            </a:r>
          </a:p>
        </p:txBody>
      </p:sp>
      <p:sp>
        <p:nvSpPr>
          <p:cNvPr id="225" name="Recap colour 2"/>
          <p:cNvSpPr/>
          <p:nvPr/>
        </p:nvSpPr>
        <p:spPr>
          <a:xfrm>
            <a:off x="6236208" y="2596896"/>
            <a:ext cx="5413248" cy="786384"/>
          </a:xfrm>
          <a:prstGeom prst="roundRect">
            <a:avLst>
              <a:gd name="adj" fmla="val 10070"/>
            </a:avLst>
          </a:prstGeom>
          <a:solidFill>
            <a:schemeClr val="bg2"/>
          </a:solidFill>
          <a:ln>
            <a:noFill/>
          </a:ln>
        </p:spPr>
      </p:sp>
      <p:sp>
        <p:nvSpPr>
          <p:cNvPr id="226" name="Recap colour 2 swatch 1"/>
          <p:cNvSpPr/>
          <p:nvPr/>
        </p:nvSpPr>
        <p:spPr>
          <a:xfrm>
            <a:off x="6400800" y="2798064"/>
            <a:ext cx="731520" cy="384048"/>
          </a:xfrm>
          <a:prstGeom prst="rect">
            <a:avLst/>
          </a:prstGeom>
          <a:solidFill>
            <a:schemeClr val="accent2"/>
          </a:solidFill>
          <a:ln w="12700">
            <a:solidFill>
              <a:srgbClr val="C5CED8"/>
            </a:solidFill>
          </a:ln>
        </p:spPr>
      </p:sp>
      <p:sp>
        <p:nvSpPr>
          <p:cNvPr id="227" name="Recap colour 2 text"/>
          <p:cNvSpPr txBox="1"/>
          <p:nvPr/>
        </p:nvSpPr>
        <p:spPr>
          <a:xfrm>
            <a:off x="7296912" y="2596896"/>
            <a:ext cx="4187952"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Yellow row</a:t>
            </a:r>
          </a:p>
          <a:p>
            <a:pPr algn="l" indent="0" marL="0">
              <a:buNone/>
            </a:pPr>
            <a:r>
              <a:rPr lang="en-US" sz="1400" dirty="0">
                <a:solidFill>
                  <a:schemeClr val="tx1"/>
                </a:solidFill>
              </a:rPr>
              <a:t>Over 70%, alone or added up with open trades.</a:t>
            </a:r>
          </a:p>
        </p:txBody>
      </p:sp>
      <p:sp>
        <p:nvSpPr>
          <p:cNvPr id="228" name="Recap colour 3"/>
          <p:cNvSpPr/>
          <p:nvPr/>
        </p:nvSpPr>
        <p:spPr>
          <a:xfrm>
            <a:off x="6236208" y="3493008"/>
            <a:ext cx="5413248" cy="786384"/>
          </a:xfrm>
          <a:prstGeom prst="roundRect">
            <a:avLst>
              <a:gd name="adj" fmla="val 10070"/>
            </a:avLst>
          </a:prstGeom>
          <a:solidFill>
            <a:schemeClr val="bg2"/>
          </a:solidFill>
          <a:ln>
            <a:noFill/>
          </a:ln>
        </p:spPr>
      </p:sp>
      <p:sp>
        <p:nvSpPr>
          <p:cNvPr id="229" name="Recap colour 3 swatch 1"/>
          <p:cNvSpPr/>
          <p:nvPr/>
        </p:nvSpPr>
        <p:spPr>
          <a:xfrm>
            <a:off x="6400800" y="3694176"/>
            <a:ext cx="731520" cy="384048"/>
          </a:xfrm>
          <a:prstGeom prst="rect">
            <a:avLst/>
          </a:prstGeom>
          <a:solidFill>
            <a:srgbClr val="FFC966"/>
          </a:solidFill>
          <a:ln w="12700">
            <a:solidFill>
              <a:srgbClr val="C5CED8"/>
            </a:solidFill>
          </a:ln>
        </p:spPr>
      </p:sp>
      <p:sp>
        <p:nvSpPr>
          <p:cNvPr id="230" name="Recap colour 3 text"/>
          <p:cNvSpPr txBox="1"/>
          <p:nvPr/>
        </p:nvSpPr>
        <p:spPr>
          <a:xfrm>
            <a:off x="7296912" y="3493008"/>
            <a:ext cx="4187952"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Orange row</a:t>
            </a:r>
          </a:p>
          <a:p>
            <a:pPr algn="l" indent="0" marL="0">
              <a:buNone/>
            </a:pPr>
            <a:r>
              <a:rPr lang="en-US" sz="1400" dirty="0">
                <a:solidFill>
                  <a:schemeClr val="tx1"/>
                </a:solidFill>
              </a:rPr>
              <a:t>You ticked it to download. Click again to untick.</a:t>
            </a:r>
          </a:p>
        </p:txBody>
      </p:sp>
      <p:sp>
        <p:nvSpPr>
          <p:cNvPr id="231" name="Recap colour 4"/>
          <p:cNvSpPr/>
          <p:nvPr/>
        </p:nvSpPr>
        <p:spPr>
          <a:xfrm>
            <a:off x="6236208" y="4389120"/>
            <a:ext cx="5413248" cy="786384"/>
          </a:xfrm>
          <a:prstGeom prst="roundRect">
            <a:avLst>
              <a:gd name="adj" fmla="val 10070"/>
            </a:avLst>
          </a:prstGeom>
          <a:solidFill>
            <a:schemeClr val="bg2"/>
          </a:solidFill>
          <a:ln>
            <a:noFill/>
          </a:ln>
        </p:spPr>
      </p:sp>
      <p:sp>
        <p:nvSpPr>
          <p:cNvPr id="232" name="Recap colour 4 swatch 1"/>
          <p:cNvSpPr/>
          <p:nvPr/>
        </p:nvSpPr>
        <p:spPr>
          <a:xfrm>
            <a:off x="6400800" y="4590288"/>
            <a:ext cx="365760" cy="384048"/>
          </a:xfrm>
          <a:prstGeom prst="rect">
            <a:avLst/>
          </a:prstGeom>
          <a:solidFill>
            <a:srgbClr val="E3EEFB"/>
          </a:solidFill>
          <a:ln w="12700">
            <a:solidFill>
              <a:srgbClr val="C5CED8"/>
            </a:solidFill>
          </a:ln>
        </p:spPr>
      </p:sp>
      <p:sp>
        <p:nvSpPr>
          <p:cNvPr id="233" name="Recap colour 4 swatch 2"/>
          <p:cNvSpPr/>
          <p:nvPr/>
        </p:nvSpPr>
        <p:spPr>
          <a:xfrm>
            <a:off x="6766560" y="4590288"/>
            <a:ext cx="365760" cy="384048"/>
          </a:xfrm>
          <a:prstGeom prst="rect">
            <a:avLst/>
          </a:prstGeom>
          <a:solidFill>
            <a:srgbClr val="FFF7D1"/>
          </a:solidFill>
          <a:ln w="12700">
            <a:solidFill>
              <a:srgbClr val="C5CED8"/>
            </a:solidFill>
          </a:ln>
        </p:spPr>
      </p:sp>
      <p:sp>
        <p:nvSpPr>
          <p:cNvPr id="234" name="Recap colour 4 text"/>
          <p:cNvSpPr txBox="1"/>
          <p:nvPr/>
        </p:nvSpPr>
        <p:spPr>
          <a:xfrm>
            <a:off x="7296912" y="4389120"/>
            <a:ext cx="4187952"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Blue or yellow box</a:t>
            </a:r>
          </a:p>
          <a:p>
            <a:pPr algn="l" indent="0" marL="0">
              <a:buNone/>
            </a:pPr>
            <a:r>
              <a:rPr lang="en-US" sz="1400" dirty="0">
                <a:solidFill>
                  <a:schemeClr val="tx1"/>
                </a:solidFill>
              </a:rPr>
              <a:t>Only a message: nothing loaded yet, or no trades.</a:t>
            </a:r>
          </a:p>
        </p:txBody>
      </p:sp>
      <p:sp>
        <p:nvSpPr>
          <p:cNvPr id="235" name="Recap colour 5"/>
          <p:cNvSpPr/>
          <p:nvPr/>
        </p:nvSpPr>
        <p:spPr>
          <a:xfrm>
            <a:off x="6236208" y="5285232"/>
            <a:ext cx="5413248" cy="786384"/>
          </a:xfrm>
          <a:prstGeom prst="roundRect">
            <a:avLst>
              <a:gd name="adj" fmla="val 10070"/>
            </a:avLst>
          </a:prstGeom>
          <a:solidFill>
            <a:schemeClr val="bg2"/>
          </a:solidFill>
          <a:ln>
            <a:noFill/>
          </a:ln>
        </p:spPr>
      </p:sp>
      <p:sp>
        <p:nvSpPr>
          <p:cNvPr id="236" name="Recap colour 5 swatch 1"/>
          <p:cNvSpPr/>
          <p:nvPr/>
        </p:nvSpPr>
        <p:spPr>
          <a:xfrm>
            <a:off x="6400800" y="5486400"/>
            <a:ext cx="731520" cy="384048"/>
          </a:xfrm>
          <a:prstGeom prst="rect">
            <a:avLst/>
          </a:prstGeom>
          <a:solidFill>
            <a:srgbClr val="FDE4E4"/>
          </a:solidFill>
          <a:ln w="12700">
            <a:solidFill>
              <a:srgbClr val="C5CED8"/>
            </a:solidFill>
          </a:ln>
        </p:spPr>
      </p:sp>
      <p:sp>
        <p:nvSpPr>
          <p:cNvPr id="237" name="Recap colour 5 text"/>
          <p:cNvSpPr txBox="1"/>
          <p:nvPr/>
        </p:nvSpPr>
        <p:spPr>
          <a:xfrm>
            <a:off x="7296912" y="5285232"/>
            <a:ext cx="4187952" cy="786384"/>
          </a:xfrm>
          <a:prstGeom prst="rect">
            <a:avLst/>
          </a:prstGeom>
          <a:noFill/>
          <a:ln/>
        </p:spPr>
        <p:txBody>
          <a:bodyPr wrap="square" lIns="0" tIns="0" rIns="0" bIns="0" rtlCol="0" anchor="ctr"/>
          <a:lstStyle/>
          <a:p>
            <a:pPr algn="l" indent="0" marL="0">
              <a:spcAft>
                <a:spcPts val="200"/>
              </a:spcAft>
              <a:buNone/>
            </a:pPr>
            <a:r>
              <a:rPr lang="en-US" sz="1500" b="1" dirty="0">
                <a:solidFill>
                  <a:schemeClr val="tx1"/>
                </a:solidFill>
              </a:rPr>
              <a:t>Red box</a:t>
            </a:r>
          </a:p>
          <a:p>
            <a:pPr algn="l" indent="0" marL="0">
              <a:buNone/>
            </a:pPr>
            <a:r>
              <a:rPr lang="en-US" sz="1400" dirty="0">
                <a:solidFill>
                  <a:schemeClr val="tx1"/>
                </a:solidFill>
              </a:rPr>
              <a:t>The app stopped. Check the ID, or ask the Data team.</a:t>
            </a: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A6B7D"/>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High Margin Guide">
  <a:themeElements>
    <a:clrScheme name="High Margin Guide">
      <a:dk1>
        <a:srgbClr val="1B2430"/>
      </a:dk1>
      <a:lt1>
        <a:srgbClr val="FFFFFF"/>
      </a:lt1>
      <a:dk2>
        <a:srgbClr val="14304D"/>
      </a:dk2>
      <a:lt2>
        <a:srgbClr val="EEF2F6"/>
      </a:lt2>
      <a:accent1>
        <a:srgbClr val="F2B200"/>
      </a:accent1>
      <a:accent2>
        <a:srgbClr val="FFE680"/>
      </a:accent2>
      <a:accent3>
        <a:srgbClr val="B83227"/>
      </a:accent3>
      <a:accent4>
        <a:srgbClr val="2563C9"/>
      </a:accent4>
      <a:accent5>
        <a:srgbClr val="8A5A00"/>
      </a:accent5>
      <a:accent6>
        <a:srgbClr val="5A6B7D"/>
      </a:accent6>
      <a:hlink>
        <a:srgbClr val="2563C9"/>
      </a:hlink>
      <a:folHlink>
        <a:srgbClr val="6B4FBB"/>
      </a:folHlink>
    </a:clrScheme>
    <a:fontScheme name="High Margin Gui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Margin — Beginner's guide</dc:title>
  <dc:subject>How to read every screen of the High Margin app, with a test account for every case</dc:subject>
  <dc:creator>Data team</dc:creator>
  <cp:lastModifiedBy>Data team</cp:lastModifiedBy>
  <cp:revision>1</cp:revision>
  <dcterms:created xsi:type="dcterms:W3CDTF">2026-10-15T11:08:39Z</dcterms:created>
  <dcterms:modified xsi:type="dcterms:W3CDTF">2026-10-15T11:08:39Z</dcterms:modified>
</cp:coreProperties>
</file>